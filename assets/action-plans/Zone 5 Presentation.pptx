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Century Gothic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/0MueMNrOaeZalfT3O+wetgT7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enturyGothic-bold.fntdata"/><Relationship Id="rId14" Type="http://schemas.openxmlformats.org/officeDocument/2006/relationships/font" Target="fonts/CenturyGothic-regular.fntdata"/><Relationship Id="rId17" Type="http://schemas.openxmlformats.org/officeDocument/2006/relationships/font" Target="fonts/CenturyGothic-boldItalic.fntdata"/><Relationship Id="rId16" Type="http://schemas.openxmlformats.org/officeDocument/2006/relationships/font" Target="fonts/CenturyGothic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f6684fa1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ef6684fa1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Growth with a Soul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Growth of the Soul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to fully integrate the Soul</a:t>
            </a:r>
            <a:endParaRPr/>
          </a:p>
        </p:txBody>
      </p:sp>
      <p:sp>
        <p:nvSpPr>
          <p:cNvPr id="169" name="Google Shape;169;g3ef6684fa1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f82afb55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f82afb55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f82afb55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/>
              <a:t>What is your  VALUE PROPOSITION based on UNIQUE STRENGTHS and DIFFERENTIATION? - Gerald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Make the case that Middle Tennessee can compete in a way others cannot easily copy.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300"/>
              <a:t>Avoid reducing the strategy to Broadway tourism or country music alone; the differentiator is the broader ecosystem.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A full creative value chain already exists: creators, venues, publishers, production suppliers, professional services, sports, tourism, and media talent.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/>
              <a:t>AI, streaming, rights tracking, fan analytics, and virtual production create urgency to own more IP and company value locally.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By almost any measure, Nashville is one of the most concentrated music-industry hubs in the world.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Here are some useful ways to think about it: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Music publishing:</a:t>
            </a:r>
            <a:r>
              <a:rPr lang="en-US" sz="1100"/>
              <a:t> More than </a:t>
            </a:r>
            <a:r>
              <a:rPr b="1" lang="en-US" sz="1100"/>
              <a:t>25% of all U.S. music publishers</a:t>
            </a:r>
            <a:r>
              <a:rPr lang="en-US" sz="1100"/>
              <a:t> are based in Tennessee, almost all of them in the Nashville area. 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Country music:</a:t>
            </a:r>
            <a:r>
              <a:rPr lang="en-US" sz="1100"/>
              <a:t> Nashville is the unquestioned center of the industry. An estimated </a:t>
            </a:r>
            <a:r>
              <a:rPr b="1" lang="en-US" sz="1100"/>
              <a:t>80–90% of the U.S. country music business</a:t>
            </a:r>
            <a:r>
              <a:rPr lang="en-US" sz="1100"/>
              <a:t>—artists, labels, publishers, songwriters, producers, and related services—is located there.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Overall U.S. music business:</a:t>
            </a:r>
            <a:r>
              <a:rPr lang="en-US" sz="1100"/>
              <a:t> Nashville is generally considered the </a:t>
            </a:r>
            <a:r>
              <a:rPr b="1" lang="en-US" sz="1100"/>
              <a:t>third-largest music industry hub</a:t>
            </a:r>
            <a:r>
              <a:rPr lang="en-US" sz="1100"/>
              <a:t> after Los Angeles and New York City. It is especially dominant in publishing, songwriting, artist management, Christian music, and music licensing. 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Employment concentration:</a:t>
            </a:r>
            <a:r>
              <a:rPr lang="en-US" sz="1100"/>
              <a:t> While Nashville does </a:t>
            </a:r>
            <a:r>
              <a:rPr b="1" lang="en-US" sz="1100"/>
              <a:t>not</a:t>
            </a:r>
            <a:r>
              <a:rPr lang="en-US" sz="1100"/>
              <a:t> have the largest absolute number of music jobs (Los Angeles and New York do), it has </a:t>
            </a:r>
            <a:r>
              <a:rPr b="1" lang="en-US" sz="1100"/>
              <a:t>the highest concentration of music industry employment in the nation</a:t>
            </a:r>
            <a:r>
              <a:rPr lang="en-US" sz="1100"/>
              <a:t>. Some studies estimate its music industry concentration is </a:t>
            </a:r>
            <a:r>
              <a:rPr b="1" lang="en-US" sz="1100"/>
              <a:t>10 times greater than New York’s and as much as 30 times the U.S. average.</a:t>
            </a:r>
            <a:r>
              <a:rPr lang="en-US" sz="700"/>
              <a:t> </a:t>
            </a:r>
            <a:r>
              <a:rPr lang="en-US" sz="1100"/>
              <a:t>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The local economic impact is also remarkable: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/>
              <a:t>Approximately </a:t>
            </a:r>
            <a:r>
              <a:rPr b="1" lang="en-US" sz="1100"/>
              <a:t>41,000 direct music and entertainment jobs</a:t>
            </a:r>
            <a:r>
              <a:rPr lang="en-US" sz="1100"/>
              <a:t> in the Nashville metropolitan area.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/>
              <a:t>Roughly </a:t>
            </a:r>
            <a:r>
              <a:rPr b="1" lang="en-US" sz="1100"/>
              <a:t>80,000 total jobs</a:t>
            </a:r>
            <a:r>
              <a:rPr lang="en-US" sz="1100"/>
              <a:t> when indirect and induced effects are included.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/>
              <a:t>Around </a:t>
            </a:r>
            <a:r>
              <a:rPr b="1" lang="en-US" sz="1100"/>
              <a:t>$8.6–10 billion</a:t>
            </a:r>
            <a:r>
              <a:rPr lang="en-US" sz="1100"/>
              <a:t> in annual economic impact for the region. 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50"/>
              <a:t>In practical terms</a:t>
            </a:r>
            <a:endParaRPr b="1" sz="85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If you’re talking about: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Country music:</a:t>
            </a:r>
            <a:r>
              <a:rPr lang="en-US" sz="1100"/>
              <a:t> Nashville accounts for </a:t>
            </a:r>
            <a:r>
              <a:rPr b="1" lang="en-US" sz="1100"/>
              <a:t>well over three-quarters</a:t>
            </a:r>
            <a:r>
              <a:rPr lang="en-US" sz="1100"/>
              <a:t> of the industry’s business infrastructure.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The entire U.S. music industry:</a:t>
            </a:r>
            <a:r>
              <a:rPr lang="en-US" sz="1100"/>
              <a:t> Nashville probably represents only a </a:t>
            </a:r>
            <a:r>
              <a:rPr b="1" lang="en-US" sz="1100"/>
              <a:t>single-digit percentage</a:t>
            </a:r>
            <a:r>
              <a:rPr lang="en-US" sz="1100"/>
              <a:t> of total U.S. music employment and revenue because pop, hip-hop, film scoring, streaming, live entertainment, and Latin music are spread across Los Angeles, New York, Atlanta, Miami, and other cities. However, it is </a:t>
            </a:r>
            <a:r>
              <a:rPr b="1" lang="en-US" sz="1100"/>
              <a:t>far more influential than its size would suggest</a:t>
            </a:r>
            <a:r>
              <a:rPr lang="en-US" sz="1100"/>
              <a:t>, particularly because of its dominance in songwriting, publishing, recording, and artist development.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Given your earlier questions about Nashville’s economic development and collaboration, one of the city’s biggest competitive advantages is that the music industry acts as a </a:t>
            </a:r>
            <a:r>
              <a:rPr b="1" lang="en-US" sz="1100"/>
              <a:t>cluster</a:t>
            </a:r>
            <a:r>
              <a:rPr lang="en-US" sz="1100"/>
              <a:t>: labels, publishers, recording studios, producers, musicians, entertainment attorneys, marketing firms, instrument manufacturers, and technology companies are located within a few miles of one another. That dense network creates an outsized influence relative to Nashville’s population.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 </a:t>
            </a:r>
            <a:r>
              <a:rPr b="1" lang="en-US" sz="1600">
                <a:latin typeface="Century Gothic"/>
                <a:ea typeface="Century Gothic"/>
                <a:cs typeface="Century Gothic"/>
                <a:sym typeface="Century Gothic"/>
              </a:rPr>
              <a:t>Home of 80%+ of the U.S. country music business</a:t>
            </a:r>
            <a:r>
              <a:rPr lang="en-US" sz="1600">
                <a:latin typeface="Century Gothic"/>
                <a:ea typeface="Century Gothic"/>
                <a:cs typeface="Century Gothic"/>
                <a:sym typeface="Century Gothic"/>
              </a:rPr>
              <a:t>—artists, labels, publishers, songwriters, producers, and related services—is located there.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Employment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Perf Arts 30K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Hosp &amp; Tourism 30K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Music &amp; Recording 10K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Video 5K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total - 75K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Job Creation </a:t>
            </a:r>
            <a:br>
              <a:rPr lang="en-US" sz="1300"/>
            </a:br>
            <a:r>
              <a:rPr lang="en-US" sz="1300"/>
              <a:t>Music Recording 5K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Perf Arts 10K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Hosp &amp; Tourism 10K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Video 5K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/>
              <a:t>Total 30K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f83a605b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ef83a605b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600"/>
              <a:t>What CLUSTER or CLUSTERS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600"/>
              <a:t> have you decided to leverage or strengthen  (What’s the opportunity?) - Sally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/>
              <a:t>Name the opportunity and describe why this cluster is the best starting point for regional action.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Cluster Assets: </a:t>
            </a:r>
            <a:r>
              <a:rPr lang="en-US" sz="1200"/>
              <a:t>Music business, live entertainment, sports entertainment, film/video/digital content, podcasting, streaming, creator economy, tourism, conventions, experience design, technology tools, and specialized suppliers.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Cluster Gaps: Coordination across sectors; AI/IP literacy; rights protection; workforce pathways; capital for IP-based and locally headquartered firms; inclusion of Jefferson Street, HBCU-connected talent, and rural creative communities.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ef83a605b4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800"/>
              <a:t>What STRATEGIC PRIORITY  have you chosen and why:  Support with 3-5 evidence-based bullet points and examples (Why this is a problem) - Bob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we are trying to solve: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Housing affordability - need 90,000 additional units in Davidson County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wages are below national average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Entertainment cluster workers at risk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Music Census finding…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More Davidson County music/creative worker residents struggle than *Community foundation website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*Avg Local Entertainment and Media income fore Nashville Region is below US Avg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avg 80K yr, need 100K to live comfortably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*2013-20: Nash Music industry econ impact grew 43%, #1 among top us music metro areas for both net job growth and growth rate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*Nash already has unusually dense emp. 7.8 music cluster jobs per 1000 jobs vs 2.8 NY 2.6 Austin 2.0 LA, makes startup support more productive - all allied employers like talent lawyers, studios, venues, etc in very close proximity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*Nash has a well established formal talent pipeline in the industry located at multiple institutions like Belmont, MTSU, Vandy, TSU, Nash St, Lipscomb, Fisk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*</a:t>
            </a:r>
            <a:endParaRPr/>
          </a:p>
        </p:txBody>
      </p:sp>
      <p:sp>
        <p:nvSpPr>
          <p:cNvPr id="337" name="Google Shape;3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Virginia/Al</a:t>
            </a:r>
            <a:endParaRPr/>
          </a:p>
        </p:txBody>
      </p:sp>
      <p:sp>
        <p:nvSpPr>
          <p:cNvPr id="383" name="Google Shape;3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End with the concrete action needed from the room. - Wright</a:t>
            </a:r>
            <a:endParaRPr sz="12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Future Economy: </a:t>
            </a:r>
            <a:r>
              <a:rPr lang="en-US" sz="1200">
                <a:solidFill>
                  <a:schemeClr val="dk1"/>
                </a:solidFill>
              </a:rPr>
              <a:t>-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200">
                <a:solidFill>
                  <a:schemeClr val="dk1"/>
                </a:solidFill>
              </a:rPr>
              <a:t>cluster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where music, media, sports, live entertainment, technology, </a:t>
            </a:r>
            <a:r>
              <a:rPr lang="en-US" sz="1200">
                <a:solidFill>
                  <a:schemeClr val="dk1"/>
                </a:solidFill>
              </a:rPr>
              <a:t>has been sustained and grown and become more productive,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more content, companies, talent, and cultural influence. -More local creators and companies own the IP and capture more </a:t>
            </a:r>
            <a:r>
              <a:rPr lang="en-US" sz="1200">
                <a:solidFill>
                  <a:schemeClr val="dk1"/>
                </a:solidFill>
              </a:rPr>
              <a:t>revenue, profit, wages have risen and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Future Talent -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Visible pathways for students, career changers, sidelined workers, technicians, editors, stage crews, production managers, designers, coders, logistics workers, and business talent from the appropriately focused local education programs.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/>
              <a:t>Future Place -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fuller regional entertainment story beyond Broadway and country music of today: Jefferson Street history, HBCU-connected and other minority talent, rural music communities, faith-based media, maker communities, tourism, hospitality, and cultural districts. </a:t>
            </a:r>
            <a:r>
              <a:rPr lang="en-US" sz="1200">
                <a:solidFill>
                  <a:schemeClr val="dk1"/>
                </a:solidFill>
              </a:rPr>
              <a:t>Culture has been sustained.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“The Soul!!!”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Ask: Create new council? Engage with: Chamber engagement, c leadership TN, Leadership Music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700"/>
              <a:t>Next meeting / owner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/>
              <a:t>Designate an interim convener before leaving TLAP.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/>
              <a:t>Schedule the first Cluster Council meeting within 30 days.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/>
              <a:t>Use that meeting to confirm scope, governance, first pilots, and funding approach.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f83a605b4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ef83a605b4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LAP_MASTER">
  <p:cSld name="TLAP_MASTER">
    <p:bg>
      <p:bgPr>
        <a:solidFill>
          <a:srgbClr val="F7F9FB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23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23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8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8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6" name="Google Shape;126;p28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9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30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3" name="Google Shape;143;p30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1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2" name="Google Shape;162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4DCE3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6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6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6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6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6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6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6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6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6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6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6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6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6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24" name="Google Shape;24;p16"/>
            <p:cNvSpPr/>
            <p:nvPr/>
          </p:nvSpPr>
          <p:spPr>
            <a:xfrm>
              <a:off x="6627813" y="195610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6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6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6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6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6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168DB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ef6684fa12_2_0" title="Screenshot 2026-06-25 at 4.04.21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8817" y="2517741"/>
            <a:ext cx="3040455" cy="204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f6684fa12_2_0" title="Screenshot 2026-06-25 at 4.04.32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8821" y="152399"/>
            <a:ext cx="3040455" cy="2110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f6684fa12_2_0" title="Screenshot 2026-06-25 at 4.06.46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101" y="152400"/>
            <a:ext cx="8534400" cy="67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ef6684fa12_2_0" title="Screenshot 2026-06-25 at 4.08.42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98825" y="4815439"/>
            <a:ext cx="3040448" cy="189016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ef6684fa12_2_0"/>
          <p:cNvSpPr/>
          <p:nvPr/>
        </p:nvSpPr>
        <p:spPr>
          <a:xfrm>
            <a:off x="2115820" y="5588000"/>
            <a:ext cx="5542280" cy="7140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Nashville Zone 5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3ef6684fa12_2_0"/>
          <p:cNvSpPr/>
          <p:nvPr/>
        </p:nvSpPr>
        <p:spPr>
          <a:xfrm>
            <a:off x="501651" y="1207501"/>
            <a:ext cx="8115300" cy="18944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>
                <a:alpha val="9490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Nashville Entertainment Cluster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Turning Music City into a full-scale cluster for content, live experience, production, technology, talent, and intellectual property.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f82afb554_0_4"/>
          <p:cNvSpPr txBox="1"/>
          <p:nvPr/>
        </p:nvSpPr>
        <p:spPr>
          <a:xfrm>
            <a:off x="822896" y="2413382"/>
            <a:ext cx="10546200" cy="1631700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B0B0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Nashville is uniquely positioned to lead the nation's creative economy through a vertically integrated music and entertainment ecosystem with the technology and entrepreneurial spirit that turns creativity into companies, careers, and economic growth.</a:t>
            </a:r>
            <a:endParaRPr b="1" sz="2900">
              <a:solidFill>
                <a:schemeClr val="dk1"/>
              </a:solidFill>
            </a:endParaRPr>
          </a:p>
        </p:txBody>
      </p:sp>
      <p:sp>
        <p:nvSpPr>
          <p:cNvPr id="183" name="Google Shape;183;g3ef82afb554_0_4"/>
          <p:cNvSpPr txBox="1"/>
          <p:nvPr/>
        </p:nvSpPr>
        <p:spPr>
          <a:xfrm>
            <a:off x="4114825" y="548650"/>
            <a:ext cx="367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V</a:t>
            </a:r>
            <a:r>
              <a:rPr b="1" lang="en-US" sz="3000">
                <a:solidFill>
                  <a:schemeClr val="dk1"/>
                </a:solidFill>
              </a:rPr>
              <a:t>alue Proposition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300" y="-369825"/>
            <a:ext cx="5146215" cy="722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"/>
          <p:cNvSpPr/>
          <p:nvPr/>
        </p:nvSpPr>
        <p:spPr>
          <a:xfrm>
            <a:off x="658368" y="34747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REGION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2354509" y="455061"/>
            <a:ext cx="4840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Differentiation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822960" y="32461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023350" y="1362450"/>
            <a:ext cx="2926200" cy="1220700"/>
          </a:xfrm>
          <a:prstGeom prst="rect">
            <a:avLst/>
          </a:prstGeom>
          <a:solidFill>
            <a:schemeClr val="lt1"/>
          </a:solidFill>
          <a:ln cap="flat" cmpd="sng" w="10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25% </a:t>
            </a:r>
            <a:b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all U.S. music publishers are based in Tennessee 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960120" y="381304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4009100" y="3023825"/>
            <a:ext cx="2926200" cy="1041900"/>
          </a:xfrm>
          <a:prstGeom prst="rect">
            <a:avLst/>
          </a:prstGeom>
          <a:solidFill>
            <a:schemeClr val="lt1"/>
          </a:solidFill>
          <a:ln cap="flat" cmpd="sng" w="10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h</a:t>
            </a: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ighest concentration 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</a:t>
            </a: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music industry employment</a:t>
            </a:r>
            <a:r>
              <a:rPr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 the nation.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657425" y="3023825"/>
            <a:ext cx="2926200" cy="108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~ 17 million tourists</a:t>
            </a:r>
            <a:b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including </a:t>
            </a:r>
            <a:r>
              <a:rPr b="1" lang="en-US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500,000 international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7955280" y="32461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7763613" y="4646638"/>
            <a:ext cx="4212600" cy="1163400"/>
          </a:xfrm>
          <a:prstGeom prst="rect">
            <a:avLst/>
          </a:prstGeom>
          <a:solidFill>
            <a:srgbClr val="F2F2F2"/>
          </a:solidFill>
          <a:ln cap="flat" cmpd="sng" w="10150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ighest concentration of music industry employment in the nation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10x New York City</a:t>
            </a:r>
            <a:r>
              <a:rPr lang="en-US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8092440" y="381304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1024128" y="6258564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4"/>
          <p:cNvCxnSpPr/>
          <p:nvPr/>
        </p:nvCxnSpPr>
        <p:spPr>
          <a:xfrm>
            <a:off x="1823327" y="6360160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4"/>
          <p:cNvCxnSpPr/>
          <p:nvPr/>
        </p:nvCxnSpPr>
        <p:spPr>
          <a:xfrm>
            <a:off x="3880727" y="6360160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4"/>
          <p:cNvCxnSpPr/>
          <p:nvPr/>
        </p:nvCxnSpPr>
        <p:spPr>
          <a:xfrm>
            <a:off x="5938127" y="6360160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4"/>
          <p:cNvCxnSpPr/>
          <p:nvPr/>
        </p:nvCxnSpPr>
        <p:spPr>
          <a:xfrm>
            <a:off x="7995527" y="6360160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4"/>
          <p:cNvSpPr/>
          <p:nvPr/>
        </p:nvSpPr>
        <p:spPr>
          <a:xfrm>
            <a:off x="890639" y="6140704"/>
            <a:ext cx="493776" cy="493776"/>
          </a:xfrm>
          <a:prstGeom prst="ellipse">
            <a:avLst/>
          </a:prstGeom>
          <a:solidFill>
            <a:srgbClr val="1F4E79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890639" y="62778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1457567" y="62504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2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2948039" y="6140704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8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2948039" y="62778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514967" y="62504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5005439" y="6140704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7BB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5005439" y="62778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5572367" y="62504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7062839" y="6140704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7062839" y="62778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7629767" y="62504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9120239" y="6140704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9120239" y="62778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9810611" y="62504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657413" y="1362447"/>
            <a:ext cx="2926200" cy="1220700"/>
          </a:xfrm>
          <a:prstGeom prst="rect">
            <a:avLst/>
          </a:prstGeom>
          <a:solidFill>
            <a:schemeClr val="lt1"/>
          </a:solidFill>
          <a:ln cap="flat" cmpd="sng" w="10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80% </a:t>
            </a:r>
            <a:b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U.S. country music business headquarters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7995525" y="3584375"/>
            <a:ext cx="3748800" cy="621900"/>
          </a:xfrm>
          <a:prstGeom prst="rect">
            <a:avLst/>
          </a:prstGeom>
          <a:solidFill>
            <a:srgbClr val="F2F2F2"/>
          </a:solidFill>
          <a:ln cap="flat" cmpd="sng" w="10150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250 music and entertainment venues (6x Japan and NYC per capita)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1457575" y="4479800"/>
            <a:ext cx="4514100" cy="129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~80,000 jobs</a:t>
            </a:r>
            <a:b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$1</a:t>
            </a:r>
            <a:r>
              <a:rPr b="1"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 Billion Economic Impact</a:t>
            </a:r>
            <a:endParaRPr b="1"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f83a605b4_0_15"/>
          <p:cNvSpPr txBox="1"/>
          <p:nvPr/>
        </p:nvSpPr>
        <p:spPr>
          <a:xfrm>
            <a:off x="3867666" y="84406"/>
            <a:ext cx="44568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1">
                <a:solidFill>
                  <a:srgbClr val="441C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Nashville Entertainment Cluster Ecosystem</a:t>
            </a:r>
            <a:endParaRPr/>
          </a:p>
        </p:txBody>
      </p:sp>
      <p:sp>
        <p:nvSpPr>
          <p:cNvPr id="229" name="Google Shape;229;g3ef83a605b4_0_15"/>
          <p:cNvSpPr/>
          <p:nvPr/>
        </p:nvSpPr>
        <p:spPr>
          <a:xfrm>
            <a:off x="4876800" y="2341098"/>
            <a:ext cx="2438400" cy="2438400"/>
          </a:xfrm>
          <a:prstGeom prst="ellipse">
            <a:avLst/>
          </a:prstGeom>
          <a:noFill/>
          <a:ln cap="flat" cmpd="sng" w="9525">
            <a:solidFill>
              <a:srgbClr val="E6E0EB"/>
            </a:solidFill>
            <a:prstDash val="dash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0" name="Google Shape;230;g3ef83a605b4_0_15"/>
          <p:cNvSpPr/>
          <p:nvPr/>
        </p:nvSpPr>
        <p:spPr>
          <a:xfrm>
            <a:off x="4103077" y="1567375"/>
            <a:ext cx="3985800" cy="3985800"/>
          </a:xfrm>
          <a:prstGeom prst="ellipse">
            <a:avLst/>
          </a:prstGeom>
          <a:noFill/>
          <a:ln cap="flat" cmpd="sng" w="9525">
            <a:solidFill>
              <a:srgbClr val="E6E0EB"/>
            </a:solidFill>
            <a:prstDash val="dash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g3ef83a605b4_0_15"/>
          <p:cNvSpPr/>
          <p:nvPr/>
        </p:nvSpPr>
        <p:spPr>
          <a:xfrm>
            <a:off x="3352800" y="817098"/>
            <a:ext cx="5486400" cy="5486400"/>
          </a:xfrm>
          <a:prstGeom prst="ellipse">
            <a:avLst/>
          </a:prstGeom>
          <a:noFill/>
          <a:ln cap="flat" cmpd="sng" w="9525">
            <a:solidFill>
              <a:srgbClr val="E6E0EB"/>
            </a:solidFill>
            <a:prstDash val="dash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32" name="Google Shape;232;g3ef83a605b4_0_15"/>
          <p:cNvCxnSpPr/>
          <p:nvPr/>
        </p:nvCxnSpPr>
        <p:spPr>
          <a:xfrm rot="10800000">
            <a:off x="6096000" y="2702229"/>
            <a:ext cx="0" cy="365700"/>
          </a:xfrm>
          <a:prstGeom prst="straightConnector1">
            <a:avLst/>
          </a:prstGeom>
          <a:noFill/>
          <a:ln cap="flat" cmpd="sng" w="139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g3ef83a605b4_0_15"/>
          <p:cNvCxnSpPr/>
          <p:nvPr/>
        </p:nvCxnSpPr>
        <p:spPr>
          <a:xfrm flipH="1" rot="10800000">
            <a:off x="6385408" y="2866163"/>
            <a:ext cx="215100" cy="295800"/>
          </a:xfrm>
          <a:prstGeom prst="straightConnector1">
            <a:avLst/>
          </a:prstGeom>
          <a:noFill/>
          <a:ln cap="flat" cmpd="sng" w="13950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g3ef83a605b4_0_15"/>
          <p:cNvCxnSpPr/>
          <p:nvPr/>
        </p:nvCxnSpPr>
        <p:spPr>
          <a:xfrm flipH="1" rot="10800000">
            <a:off x="6564271" y="3295048"/>
            <a:ext cx="348000" cy="113100"/>
          </a:xfrm>
          <a:prstGeom prst="straightConnector1">
            <a:avLst/>
          </a:prstGeom>
          <a:noFill/>
          <a:ln cap="flat" cmpd="sng" w="1395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g3ef83a605b4_0_15"/>
          <p:cNvCxnSpPr/>
          <p:nvPr/>
        </p:nvCxnSpPr>
        <p:spPr>
          <a:xfrm>
            <a:off x="6564271" y="3712449"/>
            <a:ext cx="348000" cy="113100"/>
          </a:xfrm>
          <a:prstGeom prst="straightConnector1">
            <a:avLst/>
          </a:prstGeom>
          <a:noFill/>
          <a:ln cap="flat" cmpd="sng" w="1395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g3ef83a605b4_0_15"/>
          <p:cNvCxnSpPr/>
          <p:nvPr/>
        </p:nvCxnSpPr>
        <p:spPr>
          <a:xfrm>
            <a:off x="6385408" y="3958634"/>
            <a:ext cx="215100" cy="295800"/>
          </a:xfrm>
          <a:prstGeom prst="straightConnector1">
            <a:avLst/>
          </a:prstGeom>
          <a:noFill/>
          <a:ln cap="flat" cmpd="sng" w="1395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g3ef83a605b4_0_15"/>
          <p:cNvCxnSpPr/>
          <p:nvPr/>
        </p:nvCxnSpPr>
        <p:spPr>
          <a:xfrm>
            <a:off x="6096000" y="4052668"/>
            <a:ext cx="0" cy="365700"/>
          </a:xfrm>
          <a:prstGeom prst="straightConnector1">
            <a:avLst/>
          </a:prstGeom>
          <a:noFill/>
          <a:ln cap="flat" cmpd="sng" w="1395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g3ef83a605b4_0_15"/>
          <p:cNvCxnSpPr/>
          <p:nvPr/>
        </p:nvCxnSpPr>
        <p:spPr>
          <a:xfrm flipH="1">
            <a:off x="5591492" y="3958634"/>
            <a:ext cx="215100" cy="295800"/>
          </a:xfrm>
          <a:prstGeom prst="straightConnector1">
            <a:avLst/>
          </a:prstGeom>
          <a:noFill/>
          <a:ln cap="flat" cmpd="sng" w="1395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g3ef83a605b4_0_15"/>
          <p:cNvCxnSpPr/>
          <p:nvPr/>
        </p:nvCxnSpPr>
        <p:spPr>
          <a:xfrm flipH="1">
            <a:off x="5279728" y="3712449"/>
            <a:ext cx="348000" cy="113100"/>
          </a:xfrm>
          <a:prstGeom prst="straightConnector1">
            <a:avLst/>
          </a:prstGeom>
          <a:noFill/>
          <a:ln cap="flat" cmpd="sng" w="13950">
            <a:solidFill>
              <a:srgbClr val="A4414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g3ef83a605b4_0_15"/>
          <p:cNvCxnSpPr/>
          <p:nvPr/>
        </p:nvCxnSpPr>
        <p:spPr>
          <a:xfrm rot="10800000">
            <a:off x="5279728" y="3295048"/>
            <a:ext cx="348000" cy="113100"/>
          </a:xfrm>
          <a:prstGeom prst="straightConnector1">
            <a:avLst/>
          </a:prstGeom>
          <a:noFill/>
          <a:ln cap="flat" cmpd="sng" w="13950">
            <a:solidFill>
              <a:srgbClr val="306C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g3ef83a605b4_0_15"/>
          <p:cNvCxnSpPr/>
          <p:nvPr/>
        </p:nvCxnSpPr>
        <p:spPr>
          <a:xfrm rot="10800000">
            <a:off x="5591492" y="2866163"/>
            <a:ext cx="215100" cy="295800"/>
          </a:xfrm>
          <a:prstGeom prst="straightConnector1">
            <a:avLst/>
          </a:prstGeom>
          <a:noFill/>
          <a:ln cap="flat" cmpd="sng" w="13950">
            <a:solidFill>
              <a:srgbClr val="765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g3ef83a605b4_0_15"/>
          <p:cNvSpPr/>
          <p:nvPr/>
        </p:nvSpPr>
        <p:spPr>
          <a:xfrm>
            <a:off x="5732585" y="2001129"/>
            <a:ext cx="726900" cy="726900"/>
          </a:xfrm>
          <a:prstGeom prst="ellipse">
            <a:avLst/>
          </a:prstGeom>
          <a:solidFill>
            <a:srgbClr val="7030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Music</a:t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" name="Google Shape;243;g3ef83a605b4_0_15"/>
          <p:cNvSpPr/>
          <p:nvPr/>
        </p:nvSpPr>
        <p:spPr>
          <a:xfrm>
            <a:off x="6435431" y="2229497"/>
            <a:ext cx="726900" cy="726900"/>
          </a:xfrm>
          <a:prstGeom prst="ellipse">
            <a:avLst/>
          </a:prstGeom>
          <a:solidFill>
            <a:srgbClr val="007A87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Creators</a:t>
            </a:r>
            <a:endParaRPr/>
          </a:p>
        </p:txBody>
      </p:sp>
      <p:sp>
        <p:nvSpPr>
          <p:cNvPr id="244" name="Google Shape;244;g3ef83a605b4_0_15"/>
          <p:cNvSpPr/>
          <p:nvPr/>
        </p:nvSpPr>
        <p:spPr>
          <a:xfrm>
            <a:off x="6869814" y="2827374"/>
            <a:ext cx="726900" cy="726900"/>
          </a:xfrm>
          <a:prstGeom prst="ellipse">
            <a:avLst/>
          </a:prstGeom>
          <a:solidFill>
            <a:srgbClr val="2F855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Industry</a:t>
            </a:r>
            <a:endParaRPr/>
          </a:p>
        </p:txBody>
      </p:sp>
      <p:sp>
        <p:nvSpPr>
          <p:cNvPr id="245" name="Google Shape;245;g3ef83a605b4_0_15"/>
          <p:cNvSpPr/>
          <p:nvPr/>
        </p:nvSpPr>
        <p:spPr>
          <a:xfrm>
            <a:off x="6829955" y="3526533"/>
            <a:ext cx="806400" cy="806400"/>
          </a:xfrm>
          <a:prstGeom prst="ellipse">
            <a:avLst/>
          </a:prstGeom>
          <a:solidFill>
            <a:srgbClr val="C4712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Technology</a:t>
            </a:r>
            <a:b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Services</a:t>
            </a:r>
            <a:endParaRPr sz="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g3ef83a605b4_0_15"/>
          <p:cNvSpPr/>
          <p:nvPr/>
        </p:nvSpPr>
        <p:spPr>
          <a:xfrm>
            <a:off x="6435431" y="4164268"/>
            <a:ext cx="726900" cy="726900"/>
          </a:xfrm>
          <a:prstGeom prst="ellipse">
            <a:avLst/>
          </a:prstGeom>
          <a:solidFill>
            <a:srgbClr val="3B5B9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Education</a:t>
            </a:r>
            <a:endParaRPr/>
          </a:p>
        </p:txBody>
      </p:sp>
      <p:sp>
        <p:nvSpPr>
          <p:cNvPr id="247" name="Google Shape;247;g3ef83a605b4_0_15"/>
          <p:cNvSpPr/>
          <p:nvPr/>
        </p:nvSpPr>
        <p:spPr>
          <a:xfrm>
            <a:off x="5732585" y="4392637"/>
            <a:ext cx="726900" cy="726900"/>
          </a:xfrm>
          <a:prstGeom prst="ellipse">
            <a:avLst/>
          </a:prstGeom>
          <a:solidFill>
            <a:srgbClr val="8C487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Culture</a:t>
            </a:r>
            <a:endParaRPr/>
          </a:p>
        </p:txBody>
      </p:sp>
      <p:sp>
        <p:nvSpPr>
          <p:cNvPr id="248" name="Google Shape;248;g3ef83a605b4_0_15"/>
          <p:cNvSpPr/>
          <p:nvPr/>
        </p:nvSpPr>
        <p:spPr>
          <a:xfrm>
            <a:off x="4989879" y="4124410"/>
            <a:ext cx="806400" cy="806400"/>
          </a:xfrm>
          <a:prstGeom prst="ellipse">
            <a:avLst/>
          </a:prstGeom>
          <a:solidFill>
            <a:srgbClr val="63722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Nonprofit</a:t>
            </a:r>
            <a:b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Industry Associations</a:t>
            </a:r>
            <a:endParaRPr/>
          </a:p>
        </p:txBody>
      </p:sp>
      <p:sp>
        <p:nvSpPr>
          <p:cNvPr id="249" name="Google Shape;249;g3ef83a605b4_0_15"/>
          <p:cNvSpPr/>
          <p:nvPr/>
        </p:nvSpPr>
        <p:spPr>
          <a:xfrm>
            <a:off x="4595355" y="3566391"/>
            <a:ext cx="726900" cy="726900"/>
          </a:xfrm>
          <a:prstGeom prst="ellipse">
            <a:avLst/>
          </a:prstGeom>
          <a:solidFill>
            <a:srgbClr val="A4414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Venues</a:t>
            </a:r>
            <a:br>
              <a:rPr b="1" lang="en-US"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Events</a:t>
            </a:r>
            <a:endParaRPr/>
          </a:p>
        </p:txBody>
      </p:sp>
      <p:sp>
        <p:nvSpPr>
          <p:cNvPr id="250" name="Google Shape;250;g3ef83a605b4_0_15"/>
          <p:cNvSpPr/>
          <p:nvPr/>
        </p:nvSpPr>
        <p:spPr>
          <a:xfrm>
            <a:off x="4555496" y="2787516"/>
            <a:ext cx="806400" cy="806400"/>
          </a:xfrm>
          <a:prstGeom prst="ellipse">
            <a:avLst/>
          </a:prstGeom>
          <a:solidFill>
            <a:srgbClr val="306CA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Radio</a:t>
            </a:r>
            <a:b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Distribution</a:t>
            </a:r>
            <a:endParaRPr/>
          </a:p>
        </p:txBody>
      </p:sp>
      <p:sp>
        <p:nvSpPr>
          <p:cNvPr id="251" name="Google Shape;251;g3ef83a605b4_0_15"/>
          <p:cNvSpPr/>
          <p:nvPr/>
        </p:nvSpPr>
        <p:spPr>
          <a:xfrm>
            <a:off x="4989879" y="2189639"/>
            <a:ext cx="806400" cy="806400"/>
          </a:xfrm>
          <a:prstGeom prst="ellipse">
            <a:avLst/>
          </a:prstGeom>
          <a:solidFill>
            <a:srgbClr val="76523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Supporting Ecosystem</a:t>
            </a:r>
            <a:endParaRPr/>
          </a:p>
        </p:txBody>
      </p:sp>
      <p:sp>
        <p:nvSpPr>
          <p:cNvPr id="252" name="Google Shape;252;g3ef83a605b4_0_15"/>
          <p:cNvSpPr/>
          <p:nvPr/>
        </p:nvSpPr>
        <p:spPr>
          <a:xfrm>
            <a:off x="6680987" y="1417797"/>
            <a:ext cx="403200" cy="4032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Country</a:t>
            </a:r>
            <a:endParaRPr/>
          </a:p>
        </p:txBody>
      </p:sp>
      <p:sp>
        <p:nvSpPr>
          <p:cNvPr id="253" name="Google Shape;253;g3ef83a605b4_0_15"/>
          <p:cNvSpPr/>
          <p:nvPr/>
        </p:nvSpPr>
        <p:spPr>
          <a:xfrm>
            <a:off x="6661693" y="866256"/>
            <a:ext cx="403200" cy="4032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Americana</a:t>
            </a:r>
            <a:endParaRPr/>
          </a:p>
        </p:txBody>
      </p:sp>
      <p:sp>
        <p:nvSpPr>
          <p:cNvPr id="254" name="Google Shape;254;g3ef83a605b4_0_15"/>
          <p:cNvSpPr/>
          <p:nvPr/>
        </p:nvSpPr>
        <p:spPr>
          <a:xfrm>
            <a:off x="7469177" y="521458"/>
            <a:ext cx="562800" cy="5628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Christian</a:t>
            </a:r>
            <a:b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Gospel</a:t>
            </a:r>
            <a:b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Church</a:t>
            </a:r>
            <a:endParaRPr/>
          </a:p>
        </p:txBody>
      </p:sp>
      <p:sp>
        <p:nvSpPr>
          <p:cNvPr id="255" name="Google Shape;255;g3ef83a605b4_0_15"/>
          <p:cNvSpPr/>
          <p:nvPr/>
        </p:nvSpPr>
        <p:spPr>
          <a:xfrm>
            <a:off x="6304566" y="1635669"/>
            <a:ext cx="403200" cy="4032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Bluegrass</a:t>
            </a:r>
            <a:endParaRPr/>
          </a:p>
        </p:txBody>
      </p:sp>
      <p:sp>
        <p:nvSpPr>
          <p:cNvPr id="256" name="Google Shape;256;g3ef83a605b4_0_15"/>
          <p:cNvSpPr/>
          <p:nvPr/>
        </p:nvSpPr>
        <p:spPr>
          <a:xfrm>
            <a:off x="6035104" y="759947"/>
            <a:ext cx="403200" cy="4032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Rock</a:t>
            </a:r>
            <a:endParaRPr/>
          </a:p>
        </p:txBody>
      </p:sp>
      <p:sp>
        <p:nvSpPr>
          <p:cNvPr id="257" name="Google Shape;257;g3ef83a605b4_0_15"/>
          <p:cNvSpPr/>
          <p:nvPr/>
        </p:nvSpPr>
        <p:spPr>
          <a:xfrm>
            <a:off x="4778390" y="562999"/>
            <a:ext cx="403200" cy="4032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</a:t>
            </a:r>
            <a:endParaRPr/>
          </a:p>
        </p:txBody>
      </p:sp>
      <p:sp>
        <p:nvSpPr>
          <p:cNvPr id="258" name="Google Shape;258;g3ef83a605b4_0_15"/>
          <p:cNvSpPr/>
          <p:nvPr/>
        </p:nvSpPr>
        <p:spPr>
          <a:xfrm>
            <a:off x="5751227" y="1289006"/>
            <a:ext cx="468900" cy="4689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Rap / Hip-Hop</a:t>
            </a:r>
            <a:endParaRPr/>
          </a:p>
        </p:txBody>
      </p:sp>
      <p:sp>
        <p:nvSpPr>
          <p:cNvPr id="259" name="Google Shape;259;g3ef83a605b4_0_15"/>
          <p:cNvSpPr/>
          <p:nvPr/>
        </p:nvSpPr>
        <p:spPr>
          <a:xfrm>
            <a:off x="5574285" y="486209"/>
            <a:ext cx="403200" cy="4032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Latin</a:t>
            </a:r>
            <a:endParaRPr/>
          </a:p>
        </p:txBody>
      </p:sp>
      <p:sp>
        <p:nvSpPr>
          <p:cNvPr id="260" name="Google Shape;260;g3ef83a605b4_0_15"/>
          <p:cNvSpPr/>
          <p:nvPr/>
        </p:nvSpPr>
        <p:spPr>
          <a:xfrm>
            <a:off x="4069948" y="667620"/>
            <a:ext cx="468900" cy="4689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Indigenous</a:t>
            </a:r>
            <a:endParaRPr/>
          </a:p>
        </p:txBody>
      </p:sp>
      <p:sp>
        <p:nvSpPr>
          <p:cNvPr id="261" name="Google Shape;261;g3ef83a605b4_0_15"/>
          <p:cNvSpPr/>
          <p:nvPr/>
        </p:nvSpPr>
        <p:spPr>
          <a:xfrm>
            <a:off x="5263906" y="1532019"/>
            <a:ext cx="403200" cy="4032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</a:t>
            </a:r>
            <a:endParaRPr/>
          </a:p>
        </p:txBody>
      </p:sp>
      <p:sp>
        <p:nvSpPr>
          <p:cNvPr id="262" name="Google Shape;262;g3ef83a605b4_0_15"/>
          <p:cNvSpPr/>
          <p:nvPr/>
        </p:nvSpPr>
        <p:spPr>
          <a:xfrm>
            <a:off x="5198869" y="850791"/>
            <a:ext cx="403200" cy="403200"/>
          </a:xfrm>
          <a:prstGeom prst="ellipse">
            <a:avLst/>
          </a:prstGeom>
          <a:solidFill>
            <a:srgbClr val="CAB5D9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Symphony</a:t>
            </a:r>
            <a:endParaRPr/>
          </a:p>
        </p:txBody>
      </p:sp>
      <p:sp>
        <p:nvSpPr>
          <p:cNvPr id="263" name="Google Shape;263;g3ef83a605b4_0_15"/>
          <p:cNvSpPr/>
          <p:nvPr/>
        </p:nvSpPr>
        <p:spPr>
          <a:xfrm>
            <a:off x="7397497" y="1983572"/>
            <a:ext cx="468900" cy="468900"/>
          </a:xfrm>
          <a:prstGeom prst="ellipse">
            <a:avLst/>
          </a:prstGeom>
          <a:solidFill>
            <a:srgbClr val="A6CDD1"/>
          </a:solidFill>
          <a:ln cap="flat" cmpd="sng" w="12700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Songwriters</a:t>
            </a:r>
            <a:endParaRPr/>
          </a:p>
        </p:txBody>
      </p:sp>
      <p:sp>
        <p:nvSpPr>
          <p:cNvPr id="264" name="Google Shape;264;g3ef83a605b4_0_15"/>
          <p:cNvSpPr/>
          <p:nvPr/>
        </p:nvSpPr>
        <p:spPr>
          <a:xfrm>
            <a:off x="8977520" y="1036938"/>
            <a:ext cx="403200" cy="403200"/>
          </a:xfrm>
          <a:prstGeom prst="ellipse">
            <a:avLst/>
          </a:prstGeom>
          <a:solidFill>
            <a:srgbClr val="A6CDD1"/>
          </a:solidFill>
          <a:ln cap="flat" cmpd="sng" w="12700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Singers</a:t>
            </a:r>
            <a:endParaRPr/>
          </a:p>
        </p:txBody>
      </p:sp>
      <p:sp>
        <p:nvSpPr>
          <p:cNvPr id="265" name="Google Shape;265;g3ef83a605b4_0_15"/>
          <p:cNvSpPr/>
          <p:nvPr/>
        </p:nvSpPr>
        <p:spPr>
          <a:xfrm>
            <a:off x="8335511" y="1407060"/>
            <a:ext cx="403200" cy="403200"/>
          </a:xfrm>
          <a:prstGeom prst="ellipse">
            <a:avLst/>
          </a:prstGeom>
          <a:solidFill>
            <a:srgbClr val="A6CDD1"/>
          </a:solidFill>
          <a:ln cap="flat" cmpd="sng" w="12700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Musicians</a:t>
            </a:r>
            <a:endParaRPr/>
          </a:p>
        </p:txBody>
      </p:sp>
      <p:sp>
        <p:nvSpPr>
          <p:cNvPr id="266" name="Google Shape;266;g3ef83a605b4_0_15"/>
          <p:cNvSpPr/>
          <p:nvPr/>
        </p:nvSpPr>
        <p:spPr>
          <a:xfrm>
            <a:off x="8235322" y="654038"/>
            <a:ext cx="403200" cy="403200"/>
          </a:xfrm>
          <a:prstGeom prst="ellipse">
            <a:avLst/>
          </a:prstGeom>
          <a:solidFill>
            <a:srgbClr val="A6CDD1"/>
          </a:solidFill>
          <a:ln cap="flat" cmpd="sng" w="12700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Actors</a:t>
            </a:r>
            <a:endParaRPr/>
          </a:p>
        </p:txBody>
      </p:sp>
      <p:sp>
        <p:nvSpPr>
          <p:cNvPr id="267" name="Google Shape;267;g3ef83a605b4_0_15"/>
          <p:cNvSpPr/>
          <p:nvPr/>
        </p:nvSpPr>
        <p:spPr>
          <a:xfrm>
            <a:off x="9377393" y="582637"/>
            <a:ext cx="403200" cy="403200"/>
          </a:xfrm>
          <a:prstGeom prst="ellipse">
            <a:avLst/>
          </a:prstGeom>
          <a:solidFill>
            <a:srgbClr val="A6CDD1"/>
          </a:solidFill>
          <a:ln cap="flat" cmpd="sng" w="12700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Authors</a:t>
            </a:r>
            <a:endParaRPr/>
          </a:p>
        </p:txBody>
      </p:sp>
      <p:sp>
        <p:nvSpPr>
          <p:cNvPr id="268" name="Google Shape;268;g3ef83a605b4_0_15"/>
          <p:cNvSpPr/>
          <p:nvPr/>
        </p:nvSpPr>
        <p:spPr>
          <a:xfrm>
            <a:off x="7481337" y="1265128"/>
            <a:ext cx="468900" cy="468900"/>
          </a:xfrm>
          <a:prstGeom prst="ellipse">
            <a:avLst/>
          </a:prstGeom>
          <a:solidFill>
            <a:srgbClr val="A6CDD1"/>
          </a:solidFill>
          <a:ln cap="flat" cmpd="sng" w="12700">
            <a:solidFill>
              <a:srgbClr val="007A8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 Artists</a:t>
            </a:r>
            <a:endParaRPr/>
          </a:p>
        </p:txBody>
      </p:sp>
      <p:sp>
        <p:nvSpPr>
          <p:cNvPr id="269" name="Google Shape;269;g3ef83a605b4_0_15"/>
          <p:cNvSpPr/>
          <p:nvPr/>
        </p:nvSpPr>
        <p:spPr>
          <a:xfrm>
            <a:off x="7932237" y="3269686"/>
            <a:ext cx="403200" cy="4032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Labels</a:t>
            </a:r>
            <a:endParaRPr/>
          </a:p>
        </p:txBody>
      </p:sp>
      <p:sp>
        <p:nvSpPr>
          <p:cNvPr id="270" name="Google Shape;270;g3ef83a605b4_0_15"/>
          <p:cNvSpPr/>
          <p:nvPr/>
        </p:nvSpPr>
        <p:spPr>
          <a:xfrm>
            <a:off x="10911707" y="2918981"/>
            <a:ext cx="468900" cy="4689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Distributors</a:t>
            </a:r>
            <a:endParaRPr/>
          </a:p>
        </p:txBody>
      </p:sp>
      <p:sp>
        <p:nvSpPr>
          <p:cNvPr id="271" name="Google Shape;271;g3ef83a605b4_0_15"/>
          <p:cNvSpPr/>
          <p:nvPr/>
        </p:nvSpPr>
        <p:spPr>
          <a:xfrm>
            <a:off x="9377393" y="2768332"/>
            <a:ext cx="688200" cy="6537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Publishers</a:t>
            </a:r>
            <a:b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Song Publishers</a:t>
            </a:r>
            <a:endParaRPr/>
          </a:p>
        </p:txBody>
      </p:sp>
      <p:sp>
        <p:nvSpPr>
          <p:cNvPr id="272" name="Google Shape;272;g3ef83a605b4_0_15"/>
          <p:cNvSpPr/>
          <p:nvPr/>
        </p:nvSpPr>
        <p:spPr>
          <a:xfrm>
            <a:off x="8518599" y="2842846"/>
            <a:ext cx="403200" cy="4032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Producers</a:t>
            </a:r>
            <a:endParaRPr/>
          </a:p>
        </p:txBody>
      </p:sp>
      <p:sp>
        <p:nvSpPr>
          <p:cNvPr id="273" name="Google Shape;273;g3ef83a605b4_0_15"/>
          <p:cNvSpPr/>
          <p:nvPr/>
        </p:nvSpPr>
        <p:spPr>
          <a:xfrm>
            <a:off x="9160504" y="2275653"/>
            <a:ext cx="468900" cy="4689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Agents</a:t>
            </a:r>
            <a:endParaRPr/>
          </a:p>
        </p:txBody>
      </p:sp>
      <p:sp>
        <p:nvSpPr>
          <p:cNvPr id="274" name="Google Shape;274;g3ef83a605b4_0_15"/>
          <p:cNvSpPr/>
          <p:nvPr/>
        </p:nvSpPr>
        <p:spPr>
          <a:xfrm>
            <a:off x="9999785" y="1706272"/>
            <a:ext cx="468900" cy="4689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Managers</a:t>
            </a:r>
            <a:endParaRPr/>
          </a:p>
        </p:txBody>
      </p:sp>
      <p:sp>
        <p:nvSpPr>
          <p:cNvPr id="275" name="Google Shape;275;g3ef83a605b4_0_15"/>
          <p:cNvSpPr/>
          <p:nvPr/>
        </p:nvSpPr>
        <p:spPr>
          <a:xfrm>
            <a:off x="7769696" y="2556184"/>
            <a:ext cx="403200" cy="4032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Bankers</a:t>
            </a:r>
            <a:endParaRPr/>
          </a:p>
        </p:txBody>
      </p:sp>
      <p:sp>
        <p:nvSpPr>
          <p:cNvPr id="276" name="Google Shape;276;g3ef83a605b4_0_15"/>
          <p:cNvSpPr/>
          <p:nvPr/>
        </p:nvSpPr>
        <p:spPr>
          <a:xfrm>
            <a:off x="8188369" y="2160082"/>
            <a:ext cx="468900" cy="4689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Concert Promoters</a:t>
            </a:r>
            <a:endParaRPr/>
          </a:p>
        </p:txBody>
      </p:sp>
      <p:sp>
        <p:nvSpPr>
          <p:cNvPr id="277" name="Google Shape;277;g3ef83a605b4_0_15"/>
          <p:cNvSpPr/>
          <p:nvPr/>
        </p:nvSpPr>
        <p:spPr>
          <a:xfrm>
            <a:off x="9052570" y="1776880"/>
            <a:ext cx="403200" cy="4032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Lawyers</a:t>
            </a:r>
            <a:endParaRPr/>
          </a:p>
        </p:txBody>
      </p:sp>
      <p:sp>
        <p:nvSpPr>
          <p:cNvPr id="278" name="Google Shape;278;g3ef83a605b4_0_15"/>
          <p:cNvSpPr/>
          <p:nvPr/>
        </p:nvSpPr>
        <p:spPr>
          <a:xfrm>
            <a:off x="10318860" y="2369176"/>
            <a:ext cx="468900" cy="468900"/>
          </a:xfrm>
          <a:prstGeom prst="ellipse">
            <a:avLst/>
          </a:prstGeom>
          <a:solidFill>
            <a:srgbClr val="B5D1C3"/>
          </a:solidFill>
          <a:ln cap="flat" cmpd="sng" w="12700">
            <a:solidFill>
              <a:srgbClr val="2F855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Artist Managers</a:t>
            </a:r>
            <a:endParaRPr/>
          </a:p>
        </p:txBody>
      </p:sp>
      <p:sp>
        <p:nvSpPr>
          <p:cNvPr id="279" name="Google Shape;279;g3ef83a605b4_0_15"/>
          <p:cNvSpPr/>
          <p:nvPr/>
        </p:nvSpPr>
        <p:spPr>
          <a:xfrm>
            <a:off x="7818398" y="4075811"/>
            <a:ext cx="562800" cy="5628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Music Technology Companies</a:t>
            </a:r>
            <a:endParaRPr/>
          </a:p>
        </p:txBody>
      </p:sp>
      <p:sp>
        <p:nvSpPr>
          <p:cNvPr id="280" name="Google Shape;280;g3ef83a605b4_0_15"/>
          <p:cNvSpPr/>
          <p:nvPr/>
        </p:nvSpPr>
        <p:spPr>
          <a:xfrm>
            <a:off x="10319491" y="4495682"/>
            <a:ext cx="562800" cy="5628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Lighting Companies</a:t>
            </a:r>
            <a:endParaRPr/>
          </a:p>
        </p:txBody>
      </p:sp>
      <p:sp>
        <p:nvSpPr>
          <p:cNvPr id="281" name="Google Shape;281;g3ef83a605b4_0_15"/>
          <p:cNvSpPr/>
          <p:nvPr/>
        </p:nvSpPr>
        <p:spPr>
          <a:xfrm>
            <a:off x="8990611" y="4912861"/>
            <a:ext cx="468900" cy="4689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Audio Companies</a:t>
            </a:r>
            <a:endParaRPr/>
          </a:p>
        </p:txBody>
      </p:sp>
      <p:sp>
        <p:nvSpPr>
          <p:cNvPr id="282" name="Google Shape;282;g3ef83a605b4_0_15"/>
          <p:cNvSpPr/>
          <p:nvPr/>
        </p:nvSpPr>
        <p:spPr>
          <a:xfrm>
            <a:off x="8408988" y="3752912"/>
            <a:ext cx="468900" cy="4689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Video Companies</a:t>
            </a:r>
            <a:endParaRPr/>
          </a:p>
        </p:txBody>
      </p:sp>
      <p:sp>
        <p:nvSpPr>
          <p:cNvPr id="283" name="Google Shape;283;g3ef83a605b4_0_15"/>
          <p:cNvSpPr/>
          <p:nvPr/>
        </p:nvSpPr>
        <p:spPr>
          <a:xfrm>
            <a:off x="8860857" y="4262167"/>
            <a:ext cx="468900" cy="4689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Staging Companies</a:t>
            </a:r>
            <a:endParaRPr/>
          </a:p>
        </p:txBody>
      </p:sp>
      <p:sp>
        <p:nvSpPr>
          <p:cNvPr id="284" name="Google Shape;284;g3ef83a605b4_0_15"/>
          <p:cNvSpPr/>
          <p:nvPr/>
        </p:nvSpPr>
        <p:spPr>
          <a:xfrm>
            <a:off x="9497365" y="4475910"/>
            <a:ext cx="562800" cy="5628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Trucking Companies</a:t>
            </a:r>
            <a:endParaRPr/>
          </a:p>
        </p:txBody>
      </p:sp>
      <p:sp>
        <p:nvSpPr>
          <p:cNvPr id="285" name="Google Shape;285;g3ef83a605b4_0_15"/>
          <p:cNvSpPr/>
          <p:nvPr/>
        </p:nvSpPr>
        <p:spPr>
          <a:xfrm>
            <a:off x="11096130" y="4248288"/>
            <a:ext cx="468900" cy="4689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 Companies</a:t>
            </a:r>
            <a:endParaRPr/>
          </a:p>
        </p:txBody>
      </p:sp>
      <p:sp>
        <p:nvSpPr>
          <p:cNvPr id="286" name="Google Shape;286;g3ef83a605b4_0_15"/>
          <p:cNvSpPr/>
          <p:nvPr/>
        </p:nvSpPr>
        <p:spPr>
          <a:xfrm>
            <a:off x="10038137" y="3489960"/>
            <a:ext cx="562800" cy="5628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Merchandise Companies</a:t>
            </a:r>
            <a:endParaRPr/>
          </a:p>
        </p:txBody>
      </p:sp>
      <p:sp>
        <p:nvSpPr>
          <p:cNvPr id="287" name="Google Shape;287;g3ef83a605b4_0_15"/>
          <p:cNvSpPr/>
          <p:nvPr/>
        </p:nvSpPr>
        <p:spPr>
          <a:xfrm>
            <a:off x="10891517" y="3695345"/>
            <a:ext cx="468900" cy="4689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Stagehands</a:t>
            </a:r>
            <a:endParaRPr/>
          </a:p>
        </p:txBody>
      </p:sp>
      <p:sp>
        <p:nvSpPr>
          <p:cNvPr id="288" name="Google Shape;288;g3ef83a605b4_0_15"/>
          <p:cNvSpPr/>
          <p:nvPr/>
        </p:nvSpPr>
        <p:spPr>
          <a:xfrm>
            <a:off x="9120896" y="3538652"/>
            <a:ext cx="468900" cy="4689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 Venue Crew</a:t>
            </a:r>
            <a:endParaRPr/>
          </a:p>
        </p:txBody>
      </p:sp>
      <p:sp>
        <p:nvSpPr>
          <p:cNvPr id="289" name="Google Shape;289;g3ef83a605b4_0_15"/>
          <p:cNvSpPr/>
          <p:nvPr/>
        </p:nvSpPr>
        <p:spPr>
          <a:xfrm>
            <a:off x="10898067" y="5108672"/>
            <a:ext cx="468900" cy="468900"/>
          </a:xfrm>
          <a:prstGeom prst="ellipse">
            <a:avLst/>
          </a:prstGeom>
          <a:solidFill>
            <a:srgbClr val="E5CAB1"/>
          </a:solidFill>
          <a:ln cap="flat" cmpd="sng" w="12700">
            <a:solidFill>
              <a:srgbClr val="C471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Touring Crew</a:t>
            </a:r>
            <a:endParaRPr/>
          </a:p>
        </p:txBody>
      </p:sp>
      <p:sp>
        <p:nvSpPr>
          <p:cNvPr id="290" name="Google Shape;290;g3ef83a605b4_0_15"/>
          <p:cNvSpPr/>
          <p:nvPr/>
        </p:nvSpPr>
        <p:spPr>
          <a:xfrm>
            <a:off x="9576147" y="5329114"/>
            <a:ext cx="562800" cy="562800"/>
          </a:xfrm>
          <a:prstGeom prst="ellipse">
            <a:avLst/>
          </a:prstGeom>
          <a:solidFill>
            <a:srgbClr val="B9C3D7"/>
          </a:solidFill>
          <a:ln cap="flat" cmpd="sng" w="1270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Belmont University</a:t>
            </a:r>
            <a:endParaRPr/>
          </a:p>
        </p:txBody>
      </p:sp>
      <p:sp>
        <p:nvSpPr>
          <p:cNvPr id="291" name="Google Shape;291;g3ef83a605b4_0_15"/>
          <p:cNvSpPr/>
          <p:nvPr/>
        </p:nvSpPr>
        <p:spPr>
          <a:xfrm>
            <a:off x="9721512" y="6042780"/>
            <a:ext cx="403200" cy="403200"/>
          </a:xfrm>
          <a:prstGeom prst="ellipse">
            <a:avLst/>
          </a:prstGeom>
          <a:solidFill>
            <a:srgbClr val="B9C3D7"/>
          </a:solidFill>
          <a:ln cap="flat" cmpd="sng" w="1270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MTSU</a:t>
            </a:r>
            <a:endParaRPr/>
          </a:p>
        </p:txBody>
      </p:sp>
      <p:sp>
        <p:nvSpPr>
          <p:cNvPr id="292" name="Google Shape;292;g3ef83a605b4_0_15"/>
          <p:cNvSpPr/>
          <p:nvPr/>
        </p:nvSpPr>
        <p:spPr>
          <a:xfrm>
            <a:off x="7302943" y="4666912"/>
            <a:ext cx="562800" cy="562800"/>
          </a:xfrm>
          <a:prstGeom prst="ellipse">
            <a:avLst/>
          </a:prstGeom>
          <a:solidFill>
            <a:srgbClr val="B9C3D7"/>
          </a:solidFill>
          <a:ln cap="flat" cmpd="sng" w="1270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Vanderbilt University</a:t>
            </a:r>
            <a:endParaRPr/>
          </a:p>
        </p:txBody>
      </p:sp>
      <p:sp>
        <p:nvSpPr>
          <p:cNvPr id="293" name="Google Shape;293;g3ef83a605b4_0_15"/>
          <p:cNvSpPr/>
          <p:nvPr/>
        </p:nvSpPr>
        <p:spPr>
          <a:xfrm>
            <a:off x="8442179" y="4817664"/>
            <a:ext cx="403200" cy="403200"/>
          </a:xfrm>
          <a:prstGeom prst="ellipse">
            <a:avLst/>
          </a:prstGeom>
          <a:solidFill>
            <a:srgbClr val="B9C3D7"/>
          </a:solidFill>
          <a:ln cap="flat" cmpd="sng" w="1270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TSU</a:t>
            </a:r>
            <a:endParaRPr/>
          </a:p>
        </p:txBody>
      </p:sp>
      <p:sp>
        <p:nvSpPr>
          <p:cNvPr id="294" name="Google Shape;294;g3ef83a605b4_0_15"/>
          <p:cNvSpPr/>
          <p:nvPr/>
        </p:nvSpPr>
        <p:spPr>
          <a:xfrm>
            <a:off x="10468708" y="5936596"/>
            <a:ext cx="468900" cy="468900"/>
          </a:xfrm>
          <a:prstGeom prst="ellipse">
            <a:avLst/>
          </a:prstGeom>
          <a:solidFill>
            <a:srgbClr val="B9C3D7"/>
          </a:solidFill>
          <a:ln cap="flat" cmpd="sng" w="1270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Fisk University</a:t>
            </a:r>
            <a:endParaRPr/>
          </a:p>
        </p:txBody>
      </p:sp>
      <p:sp>
        <p:nvSpPr>
          <p:cNvPr id="295" name="Google Shape;295;g3ef83a605b4_0_15"/>
          <p:cNvSpPr/>
          <p:nvPr/>
        </p:nvSpPr>
        <p:spPr>
          <a:xfrm>
            <a:off x="8084556" y="5758532"/>
            <a:ext cx="403200" cy="403200"/>
          </a:xfrm>
          <a:prstGeom prst="ellipse">
            <a:avLst/>
          </a:prstGeom>
          <a:solidFill>
            <a:srgbClr val="B9C3D7"/>
          </a:solidFill>
          <a:ln cap="flat" cmpd="sng" w="1270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Hume-Fogg</a:t>
            </a:r>
            <a:endParaRPr/>
          </a:p>
        </p:txBody>
      </p:sp>
      <p:sp>
        <p:nvSpPr>
          <p:cNvPr id="296" name="Google Shape;296;g3ef83a605b4_0_15"/>
          <p:cNvSpPr/>
          <p:nvPr/>
        </p:nvSpPr>
        <p:spPr>
          <a:xfrm>
            <a:off x="7846280" y="5109250"/>
            <a:ext cx="562800" cy="562800"/>
          </a:xfrm>
          <a:prstGeom prst="ellipse">
            <a:avLst/>
          </a:prstGeom>
          <a:solidFill>
            <a:srgbClr val="B9C3D7"/>
          </a:solidFill>
          <a:ln cap="flat" cmpd="sng" w="1270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Lipscomb University</a:t>
            </a:r>
            <a:endParaRPr/>
          </a:p>
        </p:txBody>
      </p:sp>
      <p:sp>
        <p:nvSpPr>
          <p:cNvPr id="297" name="Google Shape;297;g3ef83a605b4_0_15"/>
          <p:cNvSpPr/>
          <p:nvPr/>
        </p:nvSpPr>
        <p:spPr>
          <a:xfrm>
            <a:off x="8653912" y="5628249"/>
            <a:ext cx="647100" cy="647100"/>
          </a:xfrm>
          <a:prstGeom prst="ellipse">
            <a:avLst/>
          </a:prstGeom>
          <a:solidFill>
            <a:srgbClr val="B9C3D7"/>
          </a:solidFill>
          <a:ln cap="flat" cmpd="sng" w="12700">
            <a:solidFill>
              <a:srgbClr val="3B5B9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 Educational Institutions</a:t>
            </a:r>
            <a:endParaRPr/>
          </a:p>
        </p:txBody>
      </p:sp>
      <p:sp>
        <p:nvSpPr>
          <p:cNvPr id="298" name="Google Shape;298;g3ef83a605b4_0_15"/>
          <p:cNvSpPr/>
          <p:nvPr/>
        </p:nvSpPr>
        <p:spPr>
          <a:xfrm>
            <a:off x="5535638" y="5116927"/>
            <a:ext cx="468900" cy="4689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Frist Art Museum</a:t>
            </a:r>
            <a:endParaRPr/>
          </a:p>
        </p:txBody>
      </p:sp>
      <p:sp>
        <p:nvSpPr>
          <p:cNvPr id="299" name="Google Shape;299;g3ef83a605b4_0_15"/>
          <p:cNvSpPr/>
          <p:nvPr/>
        </p:nvSpPr>
        <p:spPr>
          <a:xfrm>
            <a:off x="4916782" y="5387248"/>
            <a:ext cx="403200" cy="4032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TPAC</a:t>
            </a:r>
            <a:endParaRPr/>
          </a:p>
        </p:txBody>
      </p:sp>
      <p:sp>
        <p:nvSpPr>
          <p:cNvPr id="300" name="Google Shape;300;g3ef83a605b4_0_15"/>
          <p:cNvSpPr/>
          <p:nvPr/>
        </p:nvSpPr>
        <p:spPr>
          <a:xfrm>
            <a:off x="4920683" y="6291276"/>
            <a:ext cx="562800" cy="5628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Nashville Symphony</a:t>
            </a:r>
            <a:endParaRPr/>
          </a:p>
        </p:txBody>
      </p:sp>
      <p:sp>
        <p:nvSpPr>
          <p:cNvPr id="301" name="Google Shape;301;g3ef83a605b4_0_15"/>
          <p:cNvSpPr/>
          <p:nvPr/>
        </p:nvSpPr>
        <p:spPr>
          <a:xfrm>
            <a:off x="5463836" y="5741731"/>
            <a:ext cx="647100" cy="6471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Country Music Hall of Fame &amp; Museum</a:t>
            </a:r>
            <a:endParaRPr/>
          </a:p>
        </p:txBody>
      </p:sp>
      <p:sp>
        <p:nvSpPr>
          <p:cNvPr id="302" name="Google Shape;302;g3ef83a605b4_0_15"/>
          <p:cNvSpPr/>
          <p:nvPr/>
        </p:nvSpPr>
        <p:spPr>
          <a:xfrm>
            <a:off x="6217931" y="5636612"/>
            <a:ext cx="647100" cy="6471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National Museum of African American Music</a:t>
            </a:r>
            <a:endParaRPr/>
          </a:p>
        </p:txBody>
      </p:sp>
      <p:sp>
        <p:nvSpPr>
          <p:cNvPr id="303" name="Google Shape;303;g3ef83a605b4_0_15"/>
          <p:cNvSpPr/>
          <p:nvPr/>
        </p:nvSpPr>
        <p:spPr>
          <a:xfrm>
            <a:off x="6348586" y="6385061"/>
            <a:ext cx="468900" cy="4689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Nashville Opera</a:t>
            </a:r>
            <a:endParaRPr/>
          </a:p>
        </p:txBody>
      </p:sp>
      <p:sp>
        <p:nvSpPr>
          <p:cNvPr id="304" name="Google Shape;304;g3ef83a605b4_0_15"/>
          <p:cNvSpPr/>
          <p:nvPr/>
        </p:nvSpPr>
        <p:spPr>
          <a:xfrm>
            <a:off x="6924045" y="5458032"/>
            <a:ext cx="647100" cy="6471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Nashville Shakespeare Festival</a:t>
            </a:r>
            <a:endParaRPr/>
          </a:p>
        </p:txBody>
      </p:sp>
      <p:sp>
        <p:nvSpPr>
          <p:cNvPr id="305" name="Google Shape;305;g3ef83a605b4_0_15"/>
          <p:cNvSpPr/>
          <p:nvPr/>
        </p:nvSpPr>
        <p:spPr>
          <a:xfrm>
            <a:off x="6560870" y="5076236"/>
            <a:ext cx="468900" cy="4689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Art Galleries</a:t>
            </a:r>
            <a:endParaRPr/>
          </a:p>
        </p:txBody>
      </p:sp>
      <p:sp>
        <p:nvSpPr>
          <p:cNvPr id="306" name="Google Shape;306;g3ef83a605b4_0_15"/>
          <p:cNvSpPr/>
          <p:nvPr/>
        </p:nvSpPr>
        <p:spPr>
          <a:xfrm>
            <a:off x="7465359" y="6237426"/>
            <a:ext cx="468900" cy="468900"/>
          </a:xfrm>
          <a:prstGeom prst="ellipse">
            <a:avLst/>
          </a:prstGeom>
          <a:solidFill>
            <a:srgbClr val="D3BDCD"/>
          </a:solidFill>
          <a:ln cap="flat" cmpd="sng" w="12700">
            <a:solidFill>
              <a:srgbClr val="8C487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Grand Ole Opry</a:t>
            </a:r>
            <a:endParaRPr/>
          </a:p>
        </p:txBody>
      </p:sp>
      <p:sp>
        <p:nvSpPr>
          <p:cNvPr id="307" name="Google Shape;307;g3ef83a605b4_0_15"/>
          <p:cNvSpPr/>
          <p:nvPr/>
        </p:nvSpPr>
        <p:spPr>
          <a:xfrm>
            <a:off x="3193050" y="5352851"/>
            <a:ext cx="403200" cy="4032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CMA</a:t>
            </a:r>
            <a:endParaRPr/>
          </a:p>
        </p:txBody>
      </p:sp>
      <p:sp>
        <p:nvSpPr>
          <p:cNvPr id="308" name="Google Shape;308;g3ef83a605b4_0_15"/>
          <p:cNvSpPr/>
          <p:nvPr/>
        </p:nvSpPr>
        <p:spPr>
          <a:xfrm>
            <a:off x="2334697" y="5188967"/>
            <a:ext cx="403200" cy="4032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ACM</a:t>
            </a:r>
            <a:endParaRPr/>
          </a:p>
        </p:txBody>
      </p:sp>
      <p:sp>
        <p:nvSpPr>
          <p:cNvPr id="309" name="Google Shape;309;g3ef83a605b4_0_15"/>
          <p:cNvSpPr/>
          <p:nvPr/>
        </p:nvSpPr>
        <p:spPr>
          <a:xfrm>
            <a:off x="2007164" y="5750169"/>
            <a:ext cx="403200" cy="4032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IEBA</a:t>
            </a:r>
            <a:endParaRPr/>
          </a:p>
        </p:txBody>
      </p:sp>
      <p:sp>
        <p:nvSpPr>
          <p:cNvPr id="310" name="Google Shape;310;g3ef83a605b4_0_15"/>
          <p:cNvSpPr/>
          <p:nvPr/>
        </p:nvSpPr>
        <p:spPr>
          <a:xfrm>
            <a:off x="4524177" y="4869766"/>
            <a:ext cx="403200" cy="4032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AMA</a:t>
            </a:r>
            <a:endParaRPr/>
          </a:p>
        </p:txBody>
      </p:sp>
      <p:sp>
        <p:nvSpPr>
          <p:cNvPr id="311" name="Google Shape;311;g3ef83a605b4_0_15"/>
          <p:cNvSpPr/>
          <p:nvPr/>
        </p:nvSpPr>
        <p:spPr>
          <a:xfrm>
            <a:off x="2627414" y="6323941"/>
            <a:ext cx="403200" cy="4032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NSAI</a:t>
            </a:r>
            <a:endParaRPr/>
          </a:p>
        </p:txBody>
      </p:sp>
      <p:sp>
        <p:nvSpPr>
          <p:cNvPr id="312" name="Google Shape;312;g3ef83a605b4_0_15"/>
          <p:cNvSpPr/>
          <p:nvPr/>
        </p:nvSpPr>
        <p:spPr>
          <a:xfrm>
            <a:off x="4144137" y="5767640"/>
            <a:ext cx="403200" cy="4032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RIAA</a:t>
            </a:r>
            <a:endParaRPr/>
          </a:p>
        </p:txBody>
      </p:sp>
      <p:sp>
        <p:nvSpPr>
          <p:cNvPr id="313" name="Google Shape;313;g3ef83a605b4_0_15"/>
          <p:cNvSpPr/>
          <p:nvPr/>
        </p:nvSpPr>
        <p:spPr>
          <a:xfrm>
            <a:off x="3933568" y="6363499"/>
            <a:ext cx="403200" cy="4032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GMA</a:t>
            </a:r>
            <a:endParaRPr/>
          </a:p>
        </p:txBody>
      </p:sp>
      <p:sp>
        <p:nvSpPr>
          <p:cNvPr id="314" name="Google Shape;314;g3ef83a605b4_0_15"/>
          <p:cNvSpPr/>
          <p:nvPr/>
        </p:nvSpPr>
        <p:spPr>
          <a:xfrm>
            <a:off x="3441023" y="5951806"/>
            <a:ext cx="468900" cy="4689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Labor Unions</a:t>
            </a:r>
            <a:endParaRPr/>
          </a:p>
        </p:txBody>
      </p:sp>
      <p:sp>
        <p:nvSpPr>
          <p:cNvPr id="315" name="Google Shape;315;g3ef83a605b4_0_15"/>
          <p:cNvSpPr/>
          <p:nvPr/>
        </p:nvSpPr>
        <p:spPr>
          <a:xfrm>
            <a:off x="3839678" y="5172120"/>
            <a:ext cx="468900" cy="4689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Leadership Music</a:t>
            </a:r>
            <a:endParaRPr/>
          </a:p>
        </p:txBody>
      </p:sp>
      <p:sp>
        <p:nvSpPr>
          <p:cNvPr id="316" name="Google Shape;316;g3ef83a605b4_0_15"/>
          <p:cNvSpPr/>
          <p:nvPr/>
        </p:nvSpPr>
        <p:spPr>
          <a:xfrm>
            <a:off x="1001225" y="5891822"/>
            <a:ext cx="562800" cy="5628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Jefferson Street Sound Museum</a:t>
            </a:r>
            <a:endParaRPr/>
          </a:p>
        </p:txBody>
      </p:sp>
      <p:sp>
        <p:nvSpPr>
          <p:cNvPr id="317" name="Google Shape;317;g3ef83a605b4_0_15"/>
          <p:cNvSpPr/>
          <p:nvPr/>
        </p:nvSpPr>
        <p:spPr>
          <a:xfrm>
            <a:off x="3686492" y="4693643"/>
            <a:ext cx="403200" cy="403200"/>
          </a:xfrm>
          <a:prstGeom prst="ellipse">
            <a:avLst/>
          </a:prstGeom>
          <a:solidFill>
            <a:srgbClr val="C6CBB2"/>
          </a:solidFill>
          <a:ln cap="flat" cmpd="sng" w="12700">
            <a:solidFill>
              <a:srgbClr val="63722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MLC</a:t>
            </a:r>
            <a:endParaRPr/>
          </a:p>
        </p:txBody>
      </p:sp>
      <p:sp>
        <p:nvSpPr>
          <p:cNvPr id="318" name="Google Shape;318;g3ef83a605b4_0_15"/>
          <p:cNvSpPr/>
          <p:nvPr/>
        </p:nvSpPr>
        <p:spPr>
          <a:xfrm>
            <a:off x="2646503" y="4547547"/>
            <a:ext cx="403200" cy="403200"/>
          </a:xfrm>
          <a:prstGeom prst="ellipse">
            <a:avLst/>
          </a:prstGeom>
          <a:solidFill>
            <a:srgbClr val="DBBBBB"/>
          </a:solidFill>
          <a:ln cap="flat" cmpd="sng" w="12700">
            <a:solidFill>
              <a:srgbClr val="A4414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Stadiums</a:t>
            </a:r>
            <a:endParaRPr/>
          </a:p>
        </p:txBody>
      </p:sp>
      <p:sp>
        <p:nvSpPr>
          <p:cNvPr id="319" name="Google Shape;319;g3ef83a605b4_0_15"/>
          <p:cNvSpPr/>
          <p:nvPr/>
        </p:nvSpPr>
        <p:spPr>
          <a:xfrm>
            <a:off x="1117691" y="3269686"/>
            <a:ext cx="403200" cy="403200"/>
          </a:xfrm>
          <a:prstGeom prst="ellipse">
            <a:avLst/>
          </a:prstGeom>
          <a:solidFill>
            <a:srgbClr val="DBBBBB"/>
          </a:solidFill>
          <a:ln cap="flat" cmpd="sng" w="12700">
            <a:solidFill>
              <a:srgbClr val="A4414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Arenas</a:t>
            </a:r>
            <a:endParaRPr/>
          </a:p>
        </p:txBody>
      </p:sp>
      <p:sp>
        <p:nvSpPr>
          <p:cNvPr id="320" name="Google Shape;320;g3ef83a605b4_0_15"/>
          <p:cNvSpPr/>
          <p:nvPr/>
        </p:nvSpPr>
        <p:spPr>
          <a:xfrm>
            <a:off x="2458481" y="4009010"/>
            <a:ext cx="403200" cy="403200"/>
          </a:xfrm>
          <a:prstGeom prst="ellipse">
            <a:avLst/>
          </a:prstGeom>
          <a:solidFill>
            <a:srgbClr val="DBBBBB"/>
          </a:solidFill>
          <a:ln cap="flat" cmpd="sng" w="12700">
            <a:solidFill>
              <a:srgbClr val="A4414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Theatres</a:t>
            </a:r>
            <a:endParaRPr/>
          </a:p>
        </p:txBody>
      </p:sp>
      <p:sp>
        <p:nvSpPr>
          <p:cNvPr id="321" name="Google Shape;321;g3ef83a605b4_0_15"/>
          <p:cNvSpPr/>
          <p:nvPr/>
        </p:nvSpPr>
        <p:spPr>
          <a:xfrm>
            <a:off x="1428542" y="4726569"/>
            <a:ext cx="468900" cy="468900"/>
          </a:xfrm>
          <a:prstGeom prst="ellipse">
            <a:avLst/>
          </a:prstGeom>
          <a:solidFill>
            <a:srgbClr val="DBBBBB"/>
          </a:solidFill>
          <a:ln cap="flat" cmpd="sng" w="12700">
            <a:solidFill>
              <a:srgbClr val="A4414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Clubs / Bars</a:t>
            </a:r>
            <a:endParaRPr/>
          </a:p>
        </p:txBody>
      </p:sp>
      <p:sp>
        <p:nvSpPr>
          <p:cNvPr id="322" name="Google Shape;322;g3ef83a605b4_0_15"/>
          <p:cNvSpPr/>
          <p:nvPr/>
        </p:nvSpPr>
        <p:spPr>
          <a:xfrm>
            <a:off x="2828931" y="3549527"/>
            <a:ext cx="468900" cy="468900"/>
          </a:xfrm>
          <a:prstGeom prst="ellipse">
            <a:avLst/>
          </a:prstGeom>
          <a:solidFill>
            <a:srgbClr val="DBBBBB"/>
          </a:solidFill>
          <a:ln cap="flat" cmpd="sng" w="12700">
            <a:solidFill>
              <a:srgbClr val="A4414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Outdoor Parks</a:t>
            </a:r>
            <a:endParaRPr/>
          </a:p>
        </p:txBody>
      </p:sp>
      <p:sp>
        <p:nvSpPr>
          <p:cNvPr id="323" name="Google Shape;323;g3ef83a605b4_0_15"/>
          <p:cNvSpPr/>
          <p:nvPr/>
        </p:nvSpPr>
        <p:spPr>
          <a:xfrm>
            <a:off x="3792851" y="3913540"/>
            <a:ext cx="403200" cy="403200"/>
          </a:xfrm>
          <a:prstGeom prst="ellipse">
            <a:avLst/>
          </a:prstGeom>
          <a:solidFill>
            <a:srgbClr val="DBBBBB"/>
          </a:solidFill>
          <a:ln cap="flat" cmpd="sng" w="12700">
            <a:solidFill>
              <a:srgbClr val="A4414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Festivals</a:t>
            </a:r>
            <a:endParaRPr/>
          </a:p>
        </p:txBody>
      </p:sp>
      <p:sp>
        <p:nvSpPr>
          <p:cNvPr id="324" name="Google Shape;324;g3ef83a605b4_0_15"/>
          <p:cNvSpPr/>
          <p:nvPr/>
        </p:nvSpPr>
        <p:spPr>
          <a:xfrm>
            <a:off x="3685021" y="2402001"/>
            <a:ext cx="403200" cy="403200"/>
          </a:xfrm>
          <a:prstGeom prst="ellipse">
            <a:avLst/>
          </a:prstGeom>
          <a:solidFill>
            <a:srgbClr val="B5C9DD"/>
          </a:solidFill>
          <a:ln cap="flat" cmpd="sng" w="12700">
            <a:solidFill>
              <a:srgbClr val="306CA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Radio</a:t>
            </a:r>
            <a:endParaRPr/>
          </a:p>
        </p:txBody>
      </p:sp>
      <p:sp>
        <p:nvSpPr>
          <p:cNvPr id="325" name="Google Shape;325;g3ef83a605b4_0_15"/>
          <p:cNvSpPr/>
          <p:nvPr/>
        </p:nvSpPr>
        <p:spPr>
          <a:xfrm>
            <a:off x="2741159" y="2521286"/>
            <a:ext cx="647100" cy="647100"/>
          </a:xfrm>
          <a:prstGeom prst="ellipse">
            <a:avLst/>
          </a:prstGeom>
          <a:solidFill>
            <a:srgbClr val="B5C9DD"/>
          </a:solidFill>
          <a:ln cap="flat" cmpd="sng" w="12700">
            <a:solidFill>
              <a:srgbClr val="306CA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Digital Streaming Platforms (DSPs)</a:t>
            </a:r>
            <a:endParaRPr/>
          </a:p>
        </p:txBody>
      </p:sp>
      <p:sp>
        <p:nvSpPr>
          <p:cNvPr id="326" name="Google Shape;326;g3ef83a605b4_0_15"/>
          <p:cNvSpPr/>
          <p:nvPr/>
        </p:nvSpPr>
        <p:spPr>
          <a:xfrm>
            <a:off x="3608359" y="3053666"/>
            <a:ext cx="403200" cy="403200"/>
          </a:xfrm>
          <a:prstGeom prst="ellipse">
            <a:avLst/>
          </a:prstGeom>
          <a:solidFill>
            <a:srgbClr val="B5C9DD"/>
          </a:solidFill>
          <a:ln cap="flat" cmpd="sng" w="12700">
            <a:solidFill>
              <a:srgbClr val="306CA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SiriusXM</a:t>
            </a:r>
            <a:endParaRPr/>
          </a:p>
        </p:txBody>
      </p:sp>
      <p:sp>
        <p:nvSpPr>
          <p:cNvPr id="327" name="Google Shape;327;g3ef83a605b4_0_15"/>
          <p:cNvSpPr/>
          <p:nvPr/>
        </p:nvSpPr>
        <p:spPr>
          <a:xfrm>
            <a:off x="2358602" y="823783"/>
            <a:ext cx="468900" cy="468900"/>
          </a:xfrm>
          <a:prstGeom prst="ellipse">
            <a:avLst/>
          </a:prstGeom>
          <a:solidFill>
            <a:srgbClr val="CCC0B9"/>
          </a:solidFill>
          <a:ln cap="flat" cmpd="sng" w="12700">
            <a:solidFill>
              <a:srgbClr val="76523C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Policy Makers</a:t>
            </a:r>
            <a:endParaRPr/>
          </a:p>
        </p:txBody>
      </p:sp>
      <p:sp>
        <p:nvSpPr>
          <p:cNvPr id="328" name="Google Shape;328;g3ef83a605b4_0_15"/>
          <p:cNvSpPr/>
          <p:nvPr/>
        </p:nvSpPr>
        <p:spPr>
          <a:xfrm>
            <a:off x="4595560" y="1103392"/>
            <a:ext cx="403200" cy="403200"/>
          </a:xfrm>
          <a:prstGeom prst="ellipse">
            <a:avLst/>
          </a:prstGeom>
          <a:solidFill>
            <a:srgbClr val="CCC0B9"/>
          </a:solidFill>
          <a:ln cap="flat" cmpd="sng" w="12700">
            <a:solidFill>
              <a:srgbClr val="76523C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Tourism</a:t>
            </a:r>
            <a:endParaRPr/>
          </a:p>
        </p:txBody>
      </p:sp>
      <p:sp>
        <p:nvSpPr>
          <p:cNvPr id="329" name="Google Shape;329;g3ef83a605b4_0_15"/>
          <p:cNvSpPr/>
          <p:nvPr/>
        </p:nvSpPr>
        <p:spPr>
          <a:xfrm>
            <a:off x="3817393" y="1265128"/>
            <a:ext cx="403200" cy="403200"/>
          </a:xfrm>
          <a:prstGeom prst="ellipse">
            <a:avLst/>
          </a:prstGeom>
          <a:solidFill>
            <a:srgbClr val="CCC0B9"/>
          </a:solidFill>
          <a:ln cap="flat" cmpd="sng" w="12700">
            <a:solidFill>
              <a:srgbClr val="76523C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TV / Film</a:t>
            </a:r>
            <a:endParaRPr/>
          </a:p>
        </p:txBody>
      </p:sp>
      <p:sp>
        <p:nvSpPr>
          <p:cNvPr id="330" name="Google Shape;330;g3ef83a605b4_0_15"/>
          <p:cNvSpPr/>
          <p:nvPr/>
        </p:nvSpPr>
        <p:spPr>
          <a:xfrm>
            <a:off x="3258673" y="1523572"/>
            <a:ext cx="562800" cy="562800"/>
          </a:xfrm>
          <a:prstGeom prst="ellipse">
            <a:avLst/>
          </a:prstGeom>
          <a:solidFill>
            <a:srgbClr val="CCC0B9"/>
          </a:solidFill>
          <a:ln cap="flat" cmpd="sng" w="12700">
            <a:solidFill>
              <a:srgbClr val="76523C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Health Care for Creatives</a:t>
            </a:r>
            <a:endParaRPr/>
          </a:p>
        </p:txBody>
      </p:sp>
      <p:sp>
        <p:nvSpPr>
          <p:cNvPr id="331" name="Google Shape;331;g3ef83a605b4_0_15"/>
          <p:cNvSpPr/>
          <p:nvPr/>
        </p:nvSpPr>
        <p:spPr>
          <a:xfrm>
            <a:off x="4295793" y="1917352"/>
            <a:ext cx="562800" cy="562800"/>
          </a:xfrm>
          <a:prstGeom prst="ellipse">
            <a:avLst/>
          </a:prstGeom>
          <a:solidFill>
            <a:srgbClr val="CCC0B9"/>
          </a:solidFill>
          <a:ln cap="flat" cmpd="sng" w="12700">
            <a:solidFill>
              <a:srgbClr val="76523C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20202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Vinyl Record Manufacturing</a:t>
            </a:r>
            <a:endParaRPr/>
          </a:p>
        </p:txBody>
      </p:sp>
      <p:sp>
        <p:nvSpPr>
          <p:cNvPr id="332" name="Google Shape;332;g3ef83a605b4_0_15"/>
          <p:cNvSpPr/>
          <p:nvPr/>
        </p:nvSpPr>
        <p:spPr>
          <a:xfrm>
            <a:off x="5448597" y="2920322"/>
            <a:ext cx="1312500" cy="1364400"/>
          </a:xfrm>
          <a:prstGeom prst="ellipse">
            <a:avLst/>
          </a:prstGeom>
          <a:solidFill>
            <a:srgbClr val="441C63"/>
          </a:solidFill>
          <a:ln cap="flat" cmpd="sng" w="12700">
            <a:solidFill>
              <a:srgbClr val="441C6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25099"/>
              </a:srgbClr>
            </a:outerShdw>
          </a:effectLst>
        </p:spPr>
        <p:txBody>
          <a:bodyPr anchorCtr="0" anchor="ctr" bIns="9375" lIns="14050" spcFirstLastPara="1" rIns="14050" wrap="square" tIns="9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Creative Entertainment</a:t>
            </a:r>
            <a:br>
              <a:rPr b="1"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-US" sz="1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Cluster</a:t>
            </a:r>
            <a:endParaRPr sz="10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g3ef83a605b4_0_15"/>
          <p:cNvSpPr txBox="1"/>
          <p:nvPr/>
        </p:nvSpPr>
        <p:spPr>
          <a:xfrm>
            <a:off x="316560" y="1440212"/>
            <a:ext cx="2228700" cy="129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Gaps</a:t>
            </a:r>
            <a:r>
              <a:rPr b="0" i="0" lang="en-US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Afford.housing/cost of living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Wages below avg.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transportation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Workforce deficiencies 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across sectors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uitars" id="339" name="Google Shape;339;p6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6647688" y="-37254"/>
            <a:ext cx="5461000" cy="686849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6"/>
          <p:cNvSpPr/>
          <p:nvPr/>
        </p:nvSpPr>
        <p:spPr>
          <a:xfrm>
            <a:off x="4361688" y="3295381"/>
            <a:ext cx="3154680" cy="950977"/>
          </a:xfrm>
          <a:prstGeom prst="rect">
            <a:avLst/>
          </a:prstGeom>
          <a:solidFill>
            <a:srgbClr val="FFFFFF">
              <a:alpha val="1176"/>
            </a:srgbClr>
          </a:solidFill>
          <a:ln cap="flat" cmpd="sng" w="10150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58368" y="34747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STRATEGIC PRIORITY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658368" y="658368"/>
            <a:ext cx="10789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Chosen Priority and Why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658368" y="131673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868680" y="297180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Evidence 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868680" y="3355848"/>
            <a:ext cx="3154680" cy="85039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0150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914400" y="3364992"/>
            <a:ext cx="3108960" cy="7955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ecosystem exists, but music, sports, tourism, film, production, technology, education, and capital are </a:t>
            </a:r>
            <a:r>
              <a:rPr b="1" lang="en-US" sz="1300">
                <a:solidFill>
                  <a:schemeClr val="dk1"/>
                </a:solidFill>
              </a:rPr>
              <a:t>not yet consistently linked as one cluster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4434840" y="297180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Evidence 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8001000" y="297180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Evidence 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8001000" y="3355848"/>
            <a:ext cx="3154680" cy="85039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0150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8019288" y="3337559"/>
            <a:ext cx="3115718" cy="8869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lang="en-US" sz="12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203">
                <a:solidFill>
                  <a:schemeClr val="dk1"/>
                </a:solidFill>
              </a:rPr>
              <a:t>neutral broker strengthens existing organizations</a:t>
            </a:r>
            <a:r>
              <a:rPr b="0" lang="en-US" sz="12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rather than replacing the Chamber, CVB, universities, venues, Music Row groups, or entrepreneur networks.</a:t>
            </a:r>
            <a:endParaRPr sz="13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6"/>
          <p:cNvCxnSpPr/>
          <p:nvPr/>
        </p:nvCxnSpPr>
        <p:spPr>
          <a:xfrm>
            <a:off x="1847088" y="5779433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3" name="Google Shape;353;p6"/>
          <p:cNvCxnSpPr/>
          <p:nvPr/>
        </p:nvCxnSpPr>
        <p:spPr>
          <a:xfrm>
            <a:off x="3904488" y="5779433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" name="Google Shape;354;p6"/>
          <p:cNvCxnSpPr/>
          <p:nvPr/>
        </p:nvCxnSpPr>
        <p:spPr>
          <a:xfrm>
            <a:off x="5961888" y="5779433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6"/>
          <p:cNvCxnSpPr/>
          <p:nvPr/>
        </p:nvCxnSpPr>
        <p:spPr>
          <a:xfrm>
            <a:off x="8019288" y="5779433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" name="Google Shape;356;p6"/>
          <p:cNvSpPr/>
          <p:nvPr/>
        </p:nvSpPr>
        <p:spPr>
          <a:xfrm>
            <a:off x="914400" y="5559977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914400" y="5697137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1481328" y="5669705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2971800" y="5559977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8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2971800" y="5697137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3538728" y="5669705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5029200" y="5559977"/>
            <a:ext cx="493776" cy="493776"/>
          </a:xfrm>
          <a:prstGeom prst="ellipse">
            <a:avLst/>
          </a:prstGeom>
          <a:solidFill>
            <a:srgbClr val="7BB343"/>
          </a:solidFill>
          <a:ln cap="flat" cmpd="sng" w="15225">
            <a:solidFill>
              <a:srgbClr val="7BB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5029200" y="5697137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5596128" y="5669705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2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7086600" y="5559977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7086600" y="5697137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"/>
          <p:cNvSpPr/>
          <p:nvPr/>
        </p:nvSpPr>
        <p:spPr>
          <a:xfrm>
            <a:off x="7653528" y="5669705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9144000" y="5559977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9144000" y="5697137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9710928" y="5394960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"/>
          <p:cNvSpPr txBox="1"/>
          <p:nvPr>
            <p:ph idx="12" type="sldNum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50">
              <a:solidFill>
                <a:srgbClr val="6574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"/>
          <p:cNvSpPr txBox="1"/>
          <p:nvPr/>
        </p:nvSpPr>
        <p:spPr>
          <a:xfrm>
            <a:off x="754121" y="1475782"/>
            <a:ext cx="10546200" cy="1200600"/>
          </a:xfrm>
          <a:prstGeom prst="rect">
            <a:avLst/>
          </a:prstGeom>
          <a:solidFill>
            <a:srgbClr val="F7F9FB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Middle Tennessee can</a:t>
            </a:r>
            <a:r>
              <a:rPr b="1" lang="en-US" sz="1800">
                <a:solidFill>
                  <a:schemeClr val="dk1"/>
                </a:solidFill>
              </a:rPr>
              <a:t> lead the Creative Entertainment economy </a:t>
            </a: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turning Music City into a </a:t>
            </a:r>
            <a:r>
              <a:rPr b="1" lang="en-US" sz="1800">
                <a:solidFill>
                  <a:schemeClr val="dk1"/>
                </a:solidFill>
              </a:rPr>
              <a:t>full-scale cluster</a:t>
            </a: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lang="en-US" sz="1800">
                <a:solidFill>
                  <a:schemeClr val="dk1"/>
                </a:solidFill>
              </a:rPr>
              <a:t>content, live experience, production, technology, talent, and intellectual property</a:t>
            </a: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strategic shift is from “Come visit Music City” to “Build your company, career, content, technology, production operation, and IP here.”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868680" y="4315967"/>
            <a:ext cx="10266326" cy="125315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171450" lvl="0" marL="311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Avg Local Entertainment and Media</a:t>
            </a:r>
            <a:r>
              <a:rPr b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income for Nashville Region is below US Avg</a:t>
            </a:r>
            <a:endParaRPr b="1"/>
          </a:p>
          <a:p>
            <a:pPr indent="-171450" lvl="0" marL="311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2013-20: </a:t>
            </a:r>
            <a:r>
              <a:rPr b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Economic impact grew 43%,</a:t>
            </a: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#1 among top us music metro areas for both net job growth and growth rate</a:t>
            </a:r>
            <a:endParaRPr/>
          </a:p>
          <a:p>
            <a:pPr indent="-171450" lvl="0" marL="311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 already has unusually dense emp. </a:t>
            </a:r>
            <a:r>
              <a:rPr b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7.8 music cluster jobs per 1000 jobs</a:t>
            </a: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(vs 2.8 NY, 2.6 Austin, and  2.0 LA), makes</a:t>
            </a:r>
            <a:r>
              <a:rPr b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startup support more productive</a:t>
            </a: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all allied employers like talent lawyers, studios, venues, etc in very close proximity</a:t>
            </a:r>
            <a:endParaRPr/>
          </a:p>
          <a:p>
            <a:pPr indent="-171450" lvl="0" marL="311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</a:t>
            </a:r>
            <a:r>
              <a:rPr b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ell-established formal talent pipeline</a:t>
            </a: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 the industry at Belmont, MTSU, Vanderbuilt, TSU, Nashville State, Lipscomb, Fisk</a:t>
            </a:r>
            <a:endParaRPr/>
          </a:p>
          <a:p>
            <a:pPr indent="-82550" lvl="0" marL="311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4434840" y="3337559"/>
            <a:ext cx="3081528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300">
                <a:solidFill>
                  <a:schemeClr val="dk1"/>
                </a:solidFill>
              </a:rPr>
              <a:t>biggest white spaces are cross-cutting issues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AI/IP, rights, royalties, creative workforce, supplier mapping, inclusive pathways, and aligned capital.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 txBox="1"/>
          <p:nvPr/>
        </p:nvSpPr>
        <p:spPr>
          <a:xfrm>
            <a:off x="4737684" y="258440"/>
            <a:ext cx="325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"/>
          <p:cNvSpPr/>
          <p:nvPr/>
        </p:nvSpPr>
        <p:spPr>
          <a:xfrm>
            <a:off x="658368" y="34747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EXECUTION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658368" y="658368"/>
            <a:ext cx="10789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 Day and 12-Month Plan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603504" y="3461004"/>
            <a:ext cx="2743200" cy="38404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658368" y="3570732"/>
            <a:ext cx="2633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3346704" y="3461004"/>
            <a:ext cx="1920240" cy="38404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3401568" y="3570732"/>
            <a:ext cx="18105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owner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5266944" y="3461004"/>
            <a:ext cx="2377440" cy="38404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5321808" y="3570732"/>
            <a:ext cx="2267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partners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7644384" y="3461004"/>
            <a:ext cx="1371600" cy="38404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7699248" y="3570732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9015984" y="3461004"/>
            <a:ext cx="2194560" cy="38404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9070848" y="3570732"/>
            <a:ext cx="20848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 indicator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603504" y="3845052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676656" y="4064507"/>
            <a:ext cx="259689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and convene the value chain; identify 50–75 anchors; convene Cluster Council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3346704" y="3845052"/>
            <a:ext cx="19202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3419856" y="4064507"/>
            <a:ext cx="177393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Interim broker / council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5266944" y="3845052"/>
            <a:ext cx="23774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5340096" y="4064507"/>
            <a:ext cx="223113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Creators, venues, sports, tourism, production firms, universities, investors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7644384" y="3845052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7717536" y="4064507"/>
            <a:ext cx="1225296" cy="1308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90 days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9015984" y="3845052"/>
            <a:ext cx="21945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9089136" y="4064507"/>
            <a:ext cx="204825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Anchor map + council + 5 collaboration opportunities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603504" y="4397795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676656" y="4617250"/>
            <a:ext cx="259689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the platform: working groups, dashboard, shared story, ecosystem map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3346704" y="4397795"/>
            <a:ext cx="19202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3419856" y="4617250"/>
            <a:ext cx="177393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Broker + workgroup chairs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5266944" y="4397795"/>
            <a:ext cx="23774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5340096" y="4617250"/>
            <a:ext cx="223113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AI/IP, workforce, capital, live experience, inclusion partners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7644384" y="4397795"/>
            <a:ext cx="1371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7717525" y="4617250"/>
            <a:ext cx="122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Months 4–</a:t>
            </a:r>
            <a:r>
              <a:rPr lang="en-US" sz="1100">
                <a:solidFill>
                  <a:schemeClr val="dk1"/>
                </a:solidFill>
              </a:rPr>
              <a:t>8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9015984" y="4397795"/>
            <a:ext cx="21945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9089136" y="4617250"/>
            <a:ext cx="204825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 groups active + funding prospects identified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603504" y="4891571"/>
            <a:ext cx="27432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676656" y="5111026"/>
            <a:ext cx="259689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Launch pilots: AI/IP bootcamp, production workforce academy, supplier marketplace, live-experience tech lab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3346704" y="4891571"/>
            <a:ext cx="19203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3419856" y="5111026"/>
            <a:ext cx="177393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Broker + council</a:t>
            </a:r>
            <a:r>
              <a:rPr lang="en-US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5266944" y="4891571"/>
            <a:ext cx="23775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5340096" y="5111026"/>
            <a:ext cx="223113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MTSU/Belmont/Vanderbilt/Fisk/TSU, employers, venues, funders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7644384" y="4891571"/>
            <a:ext cx="13716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7717525" y="5111023"/>
            <a:ext cx="122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Months</a:t>
            </a:r>
            <a:r>
              <a:rPr lang="en-US" sz="1100">
                <a:solidFill>
                  <a:schemeClr val="dk1"/>
                </a:solidFill>
              </a:rPr>
              <a:t> 8-12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9015984" y="4891571"/>
            <a:ext cx="21945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9089136" y="5111026"/>
            <a:ext cx="2048256" cy="130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Pilots launched with participant and employer commitments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603504" y="5458968"/>
            <a:ext cx="27432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676656" y="5678423"/>
            <a:ext cx="2596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and scale; publish first Creative Media Cluster Report; secure multi-year funding</a:t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3346704" y="5458968"/>
            <a:ext cx="19203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3419856" y="5678423"/>
            <a:ext cx="1773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Broker + council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5266944" y="5458968"/>
            <a:ext cx="23775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5340096" y="5678423"/>
            <a:ext cx="2231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State/local leaders, philanthropy, investors, industry associations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7644384" y="5458968"/>
            <a:ext cx="13716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7717525" y="5678428"/>
            <a:ext cx="122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Months </a:t>
            </a:r>
            <a:r>
              <a:rPr lang="en-US" sz="1100">
                <a:solidFill>
                  <a:schemeClr val="dk1"/>
                </a:solidFill>
              </a:rPr>
              <a:t>12+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9015984" y="5458968"/>
            <a:ext cx="21945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6C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9089136" y="5678423"/>
            <a:ext cx="2048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b="0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 released + multi-year funding path + rural/statewide links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7"/>
          <p:cNvCxnSpPr/>
          <p:nvPr/>
        </p:nvCxnSpPr>
        <p:spPr>
          <a:xfrm>
            <a:off x="1847088" y="6309360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7"/>
          <p:cNvCxnSpPr/>
          <p:nvPr/>
        </p:nvCxnSpPr>
        <p:spPr>
          <a:xfrm>
            <a:off x="3904488" y="6309360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7"/>
          <p:cNvCxnSpPr/>
          <p:nvPr/>
        </p:nvCxnSpPr>
        <p:spPr>
          <a:xfrm>
            <a:off x="5961888" y="6309360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7"/>
          <p:cNvCxnSpPr/>
          <p:nvPr/>
        </p:nvCxnSpPr>
        <p:spPr>
          <a:xfrm>
            <a:off x="8019288" y="6309360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1" name="Google Shape;441;p7"/>
          <p:cNvSpPr/>
          <p:nvPr/>
        </p:nvSpPr>
        <p:spPr>
          <a:xfrm>
            <a:off x="914400" y="6089904"/>
            <a:ext cx="493800" cy="4938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914400" y="62270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1481328" y="61996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2971800" y="6089904"/>
            <a:ext cx="493800" cy="4938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8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2971800" y="62270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3538728" y="61996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"/>
          <p:cNvSpPr/>
          <p:nvPr/>
        </p:nvSpPr>
        <p:spPr>
          <a:xfrm>
            <a:off x="5029200" y="6089904"/>
            <a:ext cx="493800" cy="4938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7BB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7"/>
          <p:cNvSpPr/>
          <p:nvPr/>
        </p:nvSpPr>
        <p:spPr>
          <a:xfrm>
            <a:off x="5029200" y="62270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5596128" y="61996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7086600" y="6089904"/>
            <a:ext cx="493800" cy="493800"/>
          </a:xfrm>
          <a:prstGeom prst="ellipse">
            <a:avLst/>
          </a:prstGeom>
          <a:solidFill>
            <a:srgbClr val="F28C28"/>
          </a:solidFill>
          <a:ln cap="flat" cmpd="sng" w="152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7086600" y="62270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7653528" y="61996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2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E2A32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9144000" y="6089904"/>
            <a:ext cx="493800" cy="4938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7"/>
          <p:cNvSpPr/>
          <p:nvPr/>
        </p:nvSpPr>
        <p:spPr>
          <a:xfrm>
            <a:off x="9144000" y="6227064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7"/>
          <p:cNvSpPr/>
          <p:nvPr/>
        </p:nvSpPr>
        <p:spPr>
          <a:xfrm>
            <a:off x="9710928" y="619963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"/>
          <p:cNvSpPr txBox="1"/>
          <p:nvPr>
            <p:ph idx="12" type="sldNum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50">
              <a:solidFill>
                <a:srgbClr val="6574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7"/>
          <p:cNvCxnSpPr/>
          <p:nvPr/>
        </p:nvCxnSpPr>
        <p:spPr>
          <a:xfrm>
            <a:off x="1781879" y="1622092"/>
            <a:ext cx="949109" cy="0"/>
          </a:xfrm>
          <a:prstGeom prst="straightConnector1">
            <a:avLst/>
          </a:prstGeom>
          <a:noFill/>
          <a:ln cap="flat" cmpd="sng" w="19050">
            <a:solidFill>
              <a:srgbClr val="A8B7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7"/>
          <p:cNvSpPr/>
          <p:nvPr/>
        </p:nvSpPr>
        <p:spPr>
          <a:xfrm>
            <a:off x="603504" y="1347772"/>
            <a:ext cx="527283" cy="560396"/>
          </a:xfrm>
          <a:prstGeom prst="ellipse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7"/>
          <p:cNvSpPr/>
          <p:nvPr/>
        </p:nvSpPr>
        <p:spPr>
          <a:xfrm>
            <a:off x="603504" y="1539796"/>
            <a:ext cx="527283" cy="149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7"/>
          <p:cNvSpPr/>
          <p:nvPr/>
        </p:nvSpPr>
        <p:spPr>
          <a:xfrm>
            <a:off x="661625" y="1972176"/>
            <a:ext cx="3265598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Map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676656" y="2250100"/>
            <a:ext cx="2702052" cy="120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t</a:t>
            </a:r>
            <a:r>
              <a:rPr lang="en-US" sz="1300">
                <a:solidFill>
                  <a:schemeClr val="dk1"/>
                </a:solidFill>
              </a:rPr>
              <a:t>he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chain and identify 50–75 anchor organizations, firms, venues, institutions, and community partners. 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7"/>
          <p:cNvCxnSpPr/>
          <p:nvPr/>
        </p:nvCxnSpPr>
        <p:spPr>
          <a:xfrm>
            <a:off x="4587020" y="1622092"/>
            <a:ext cx="949109" cy="0"/>
          </a:xfrm>
          <a:prstGeom prst="straightConnector1">
            <a:avLst/>
          </a:prstGeom>
          <a:noFill/>
          <a:ln cap="flat" cmpd="sng" w="19050">
            <a:solidFill>
              <a:srgbClr val="A8B7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3" name="Google Shape;463;p7"/>
          <p:cNvSpPr/>
          <p:nvPr/>
        </p:nvSpPr>
        <p:spPr>
          <a:xfrm>
            <a:off x="3408645" y="1347772"/>
            <a:ext cx="527283" cy="560396"/>
          </a:xfrm>
          <a:prstGeom prst="ellipse">
            <a:avLst/>
          </a:prstGeom>
          <a:solidFill>
            <a:srgbClr val="18A4B4"/>
          </a:solidFill>
          <a:ln cap="flat" cmpd="sng" w="12700">
            <a:solidFill>
              <a:srgbClr val="18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3408645" y="1539796"/>
            <a:ext cx="527283" cy="149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3584448" y="1974900"/>
            <a:ext cx="32655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Convene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7"/>
          <p:cNvSpPr/>
          <p:nvPr/>
        </p:nvSpPr>
        <p:spPr>
          <a:xfrm>
            <a:off x="3496390" y="2194884"/>
            <a:ext cx="2377440" cy="1183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Convene a Council and define the white space, operating principles, and governance. 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7"/>
          <p:cNvCxnSpPr/>
          <p:nvPr/>
        </p:nvCxnSpPr>
        <p:spPr>
          <a:xfrm>
            <a:off x="7152476" y="1597065"/>
            <a:ext cx="949109" cy="0"/>
          </a:xfrm>
          <a:prstGeom prst="straightConnector1">
            <a:avLst/>
          </a:prstGeom>
          <a:noFill/>
          <a:ln cap="flat" cmpd="sng" w="19050">
            <a:solidFill>
              <a:srgbClr val="A8B7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8" name="Google Shape;468;p7"/>
          <p:cNvSpPr/>
          <p:nvPr/>
        </p:nvSpPr>
        <p:spPr>
          <a:xfrm>
            <a:off x="5974101" y="1322745"/>
            <a:ext cx="527283" cy="560396"/>
          </a:xfrm>
          <a:prstGeom prst="ellipse">
            <a:avLst/>
          </a:prstGeom>
          <a:solidFill>
            <a:srgbClr val="7BB343"/>
          </a:solidFill>
          <a:ln cap="flat" cmpd="sng" w="12700">
            <a:solidFill>
              <a:srgbClr val="7BB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5974101" y="1514769"/>
            <a:ext cx="527283" cy="149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6066449" y="1970761"/>
            <a:ext cx="32655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Commit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"/>
          <p:cNvSpPr/>
          <p:nvPr/>
        </p:nvSpPr>
        <p:spPr>
          <a:xfrm>
            <a:off x="6010990" y="2194884"/>
            <a:ext cx="2775204" cy="1215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Launch five working groups: AI/IP, production workforce, creative capital, live experience, and inclusive pathways. Identify initial funding</a:t>
            </a:r>
            <a:r>
              <a:rPr lang="en-US" sz="1300">
                <a:solidFill>
                  <a:schemeClr val="dk1"/>
                </a:solidFill>
              </a:rPr>
              <a:t>. 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7"/>
          <p:cNvCxnSpPr/>
          <p:nvPr/>
        </p:nvCxnSpPr>
        <p:spPr>
          <a:xfrm>
            <a:off x="9700250" y="1554949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7"/>
          <p:cNvSpPr/>
          <p:nvPr/>
        </p:nvSpPr>
        <p:spPr>
          <a:xfrm>
            <a:off x="8807206" y="1280629"/>
            <a:ext cx="527283" cy="560396"/>
          </a:xfrm>
          <a:prstGeom prst="ellipse">
            <a:avLst/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"/>
          <p:cNvSpPr/>
          <p:nvPr/>
        </p:nvSpPr>
        <p:spPr>
          <a:xfrm>
            <a:off x="8807206" y="1472653"/>
            <a:ext cx="527283" cy="149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7"/>
          <p:cNvSpPr/>
          <p:nvPr/>
        </p:nvSpPr>
        <p:spPr>
          <a:xfrm>
            <a:off x="8916778" y="1965960"/>
            <a:ext cx="32655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Launch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7"/>
          <p:cNvSpPr/>
          <p:nvPr/>
        </p:nvSpPr>
        <p:spPr>
          <a:xfrm>
            <a:off x="8933688" y="2111418"/>
            <a:ext cx="26471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first pilots, assign owners, and create a simple cluster dashboard. 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7" name="Google Shape;47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50" y="3331925"/>
            <a:ext cx="11266476" cy="26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"/>
          <p:cNvSpPr/>
          <p:nvPr/>
        </p:nvSpPr>
        <p:spPr>
          <a:xfrm>
            <a:off x="658368" y="34747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658368" y="658368"/>
            <a:ext cx="10789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Looking Ahead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658368" y="1316736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822960" y="182880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7909560" y="173736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8046720" y="2304288"/>
            <a:ext cx="2971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914400" y="489204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10"/>
          <p:cNvCxnSpPr/>
          <p:nvPr/>
        </p:nvCxnSpPr>
        <p:spPr>
          <a:xfrm>
            <a:off x="1847088" y="5504688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1" name="Google Shape;491;p10"/>
          <p:cNvCxnSpPr/>
          <p:nvPr/>
        </p:nvCxnSpPr>
        <p:spPr>
          <a:xfrm>
            <a:off x="3904488" y="5504688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10"/>
          <p:cNvCxnSpPr/>
          <p:nvPr/>
        </p:nvCxnSpPr>
        <p:spPr>
          <a:xfrm>
            <a:off x="5961888" y="5504688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3" name="Google Shape;493;p10"/>
          <p:cNvCxnSpPr/>
          <p:nvPr/>
        </p:nvCxnSpPr>
        <p:spPr>
          <a:xfrm>
            <a:off x="8019288" y="5504688"/>
            <a:ext cx="914400" cy="0"/>
          </a:xfrm>
          <a:prstGeom prst="straightConnector1">
            <a:avLst/>
          </a:prstGeom>
          <a:noFill/>
          <a:ln cap="flat" cmpd="sng" w="17775">
            <a:solidFill>
              <a:srgbClr val="B6C5D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4" name="Google Shape;494;p10"/>
          <p:cNvSpPr/>
          <p:nvPr/>
        </p:nvSpPr>
        <p:spPr>
          <a:xfrm>
            <a:off x="914400" y="5285232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914400" y="5422392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481328" y="5394960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2971800" y="5285232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8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2971800" y="5422392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3538728" y="5394960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5029200" y="5285232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7BB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5029200" y="5422392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5596128" y="5394960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57481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7086600" y="5285232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7086600" y="5422392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7653528" y="5394960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9144000" y="5285232"/>
            <a:ext cx="493776" cy="49377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9144000" y="5422392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9710928" y="5394960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0"/>
          <p:cNvSpPr txBox="1"/>
          <p:nvPr>
            <p:ph idx="12" type="sldNum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50">
              <a:solidFill>
                <a:srgbClr val="6574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0"/>
          <p:cNvSpPr txBox="1"/>
          <p:nvPr/>
        </p:nvSpPr>
        <p:spPr>
          <a:xfrm>
            <a:off x="822960" y="507492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woman listening to headphones looking out the window" id="511" name="Google Shape;511;p10"/>
          <p:cNvPicPr preferRelativeResize="0"/>
          <p:nvPr/>
        </p:nvPicPr>
        <p:blipFill rotWithShape="1">
          <a:blip r:embed="rId3">
            <a:alphaModFix amt="58000"/>
          </a:blip>
          <a:srcRect b="0" l="0" r="0" t="0"/>
          <a:stretch/>
        </p:blipFill>
        <p:spPr>
          <a:xfrm>
            <a:off x="6995138" y="186761"/>
            <a:ext cx="5143501" cy="667124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0"/>
          <p:cNvSpPr/>
          <p:nvPr/>
        </p:nvSpPr>
        <p:spPr>
          <a:xfrm>
            <a:off x="6343540" y="1375230"/>
            <a:ext cx="5349300" cy="365396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205C7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09725" lIns="164575" spcFirstLastPara="1" rIns="164575" wrap="square" tIns="109725">
            <a:noAutofit/>
          </a:bodyPr>
          <a:lstStyle/>
          <a:p>
            <a:pPr indent="0" lvl="0" marL="14605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to Action</a:t>
            </a:r>
            <a:endParaRPr/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●"/>
            </a:pP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Endorsement 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Creative Entertainment </a:t>
            </a:r>
            <a:r>
              <a:rPr lang="en-US" sz="1600">
                <a:latin typeface="Century Gothic"/>
                <a:ea typeface="Century Gothic"/>
                <a:cs typeface="Century Gothic"/>
                <a:sym typeface="Century Gothic"/>
              </a:rPr>
              <a:t>Council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●"/>
            </a:pPr>
            <a:r>
              <a:rPr b="1" lang="en-US" sz="1600">
                <a:latin typeface="Century Gothic"/>
                <a:ea typeface="Century Gothic"/>
                <a:cs typeface="Century Gothic"/>
                <a:sym typeface="Century Gothic"/>
              </a:rPr>
              <a:t>Invitees j</a:t>
            </a: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oin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 interim Council within 30 days.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●"/>
            </a:pPr>
            <a:r>
              <a:rPr b="1" lang="en-US" sz="1600">
                <a:latin typeface="Century Gothic"/>
                <a:ea typeface="Century Gothic"/>
                <a:cs typeface="Century Gothic"/>
                <a:sym typeface="Century Gothic"/>
              </a:rPr>
              <a:t>Obtain c</a:t>
            </a: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ommitments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from named partners to </a:t>
            </a: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five working groups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AI/IP, production workforce, creative capital, live experience, and inclusive pathways.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●"/>
            </a:pPr>
            <a:r>
              <a:rPr b="1" lang="en-US" sz="1600">
                <a:latin typeface="Century Gothic"/>
                <a:ea typeface="Century Gothic"/>
                <a:cs typeface="Century Gothic"/>
                <a:sym typeface="Century Gothic"/>
              </a:rPr>
              <a:t>Industry leaders c</a:t>
            </a:r>
            <a:r>
              <a:rPr b="1"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ontribute</a:t>
            </a:r>
            <a:r>
              <a:rPr lang="en-US" sz="1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data, pilot sites, employer needs, funding leads, and public/private champions.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674200" y="1353311"/>
            <a:ext cx="5349300" cy="324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205C7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09725" lIns="164575" spcFirstLastPara="1" rIns="16457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Future-state vision</a:t>
            </a:r>
            <a:endParaRPr sz="19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Nashville is where the </a:t>
            </a:r>
            <a:r>
              <a:rPr b="1"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World 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comes to </a:t>
            </a:r>
            <a:r>
              <a:rPr b="1"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create, produce, protect, finance, stage, and export</a:t>
            </a: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next generation of Creative Entertainment and live experiences.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f83a605b4_3_0"/>
          <p:cNvSpPr txBox="1"/>
          <p:nvPr/>
        </p:nvSpPr>
        <p:spPr>
          <a:xfrm>
            <a:off x="4737684" y="258440"/>
            <a:ext cx="325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2026-06-25T14:53:41Z</dcterms:created>
  <dc:creator>OpenAI</dc:creator>
</cp:coreProperties>
</file>