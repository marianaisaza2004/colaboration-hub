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86" r:id="rId2"/>
    <p:sldId id="257" r:id="rId3"/>
    <p:sldId id="265" r:id="rId4"/>
    <p:sldId id="269" r:id="rId5"/>
    <p:sldId id="290" r:id="rId6"/>
    <p:sldId id="261" r:id="rId7"/>
    <p:sldId id="275" r:id="rId8"/>
    <p:sldId id="273" r:id="rId9"/>
    <p:sldId id="280" r:id="rId10"/>
    <p:sldId id="281" r:id="rId11"/>
    <p:sldId id="282" r:id="rId12"/>
    <p:sldId id="283" r:id="rId13"/>
    <p:sldId id="284" r:id="rId14"/>
    <p:sldId id="285" r:id="rId15"/>
    <p:sldId id="263" r:id="rId16"/>
    <p:sldId id="266"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1"/>
    <p:restoredTop sz="94626"/>
  </p:normalViewPr>
  <p:slideViewPr>
    <p:cSldViewPr snapToGrid="0">
      <p:cViewPr varScale="1">
        <p:scale>
          <a:sx n="121" d="100"/>
          <a:sy n="121" d="100"/>
        </p:scale>
        <p:origin x="1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77AD78-E0FD-C74E-A47F-94E873954AD9}"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US"/>
        </a:p>
      </dgm:t>
    </dgm:pt>
    <dgm:pt modelId="{FD48C55F-6276-2A4D-8FCC-828A2F793C40}">
      <dgm:prSet/>
      <dgm:spPr/>
      <dgm:t>
        <a:bodyPr/>
        <a:lstStyle/>
        <a:p>
          <a:r>
            <a:rPr lang="en-US" dirty="0"/>
            <a:t>Four Scenarios</a:t>
          </a:r>
        </a:p>
      </dgm:t>
    </dgm:pt>
    <dgm:pt modelId="{C2782C0A-FA48-974E-ACE4-43C50D6186B5}" type="parTrans" cxnId="{4A7A5B22-11D4-4044-A6E5-468100144A19}">
      <dgm:prSet/>
      <dgm:spPr/>
      <dgm:t>
        <a:bodyPr/>
        <a:lstStyle/>
        <a:p>
          <a:endParaRPr lang="en-US"/>
        </a:p>
      </dgm:t>
    </dgm:pt>
    <dgm:pt modelId="{BD86798C-2675-9449-BEA9-56281536EDD3}" type="sibTrans" cxnId="{4A7A5B22-11D4-4044-A6E5-468100144A19}">
      <dgm:prSet/>
      <dgm:spPr/>
      <dgm:t>
        <a:bodyPr/>
        <a:lstStyle/>
        <a:p>
          <a:endParaRPr lang="en-US"/>
        </a:p>
      </dgm:t>
    </dgm:pt>
    <dgm:pt modelId="{CBCBE003-4842-F14C-B921-0B8E298B3C02}" type="pres">
      <dgm:prSet presAssocID="{0B77AD78-E0FD-C74E-A47F-94E873954AD9}" presName="CompostProcess" presStyleCnt="0">
        <dgm:presLayoutVars>
          <dgm:dir/>
          <dgm:resizeHandles val="exact"/>
        </dgm:presLayoutVars>
      </dgm:prSet>
      <dgm:spPr/>
    </dgm:pt>
    <dgm:pt modelId="{48AEB2E0-B253-3147-94B9-55CCD3FA1AE3}" type="pres">
      <dgm:prSet presAssocID="{0B77AD78-E0FD-C74E-A47F-94E873954AD9}" presName="arrow" presStyleLbl="bgShp" presStyleIdx="0" presStyleCnt="1"/>
      <dgm:spPr/>
    </dgm:pt>
    <dgm:pt modelId="{AE88151C-A712-6F4A-8D59-F1F96F092076}" type="pres">
      <dgm:prSet presAssocID="{0B77AD78-E0FD-C74E-A47F-94E873954AD9}" presName="linearProcess" presStyleCnt="0"/>
      <dgm:spPr/>
    </dgm:pt>
    <dgm:pt modelId="{FC3B85D5-77AD-064D-8124-67182CBB0742}" type="pres">
      <dgm:prSet presAssocID="{FD48C55F-6276-2A4D-8FCC-828A2F793C40}" presName="textNode" presStyleLbl="node1" presStyleIdx="0" presStyleCnt="1">
        <dgm:presLayoutVars>
          <dgm:bulletEnabled val="1"/>
        </dgm:presLayoutVars>
      </dgm:prSet>
      <dgm:spPr/>
    </dgm:pt>
  </dgm:ptLst>
  <dgm:cxnLst>
    <dgm:cxn modelId="{4A7A5B22-11D4-4044-A6E5-468100144A19}" srcId="{0B77AD78-E0FD-C74E-A47F-94E873954AD9}" destId="{FD48C55F-6276-2A4D-8FCC-828A2F793C40}" srcOrd="0" destOrd="0" parTransId="{C2782C0A-FA48-974E-ACE4-43C50D6186B5}" sibTransId="{BD86798C-2675-9449-BEA9-56281536EDD3}"/>
    <dgm:cxn modelId="{F94F48A8-5B22-8D42-AA00-ABF8A8F4F3D1}" type="presOf" srcId="{FD48C55F-6276-2A4D-8FCC-828A2F793C40}" destId="{FC3B85D5-77AD-064D-8124-67182CBB0742}" srcOrd="0" destOrd="0" presId="urn:microsoft.com/office/officeart/2005/8/layout/hProcess9"/>
    <dgm:cxn modelId="{37F466F5-3E1B-C844-882F-2CD5A2269CA4}" type="presOf" srcId="{0B77AD78-E0FD-C74E-A47F-94E873954AD9}" destId="{CBCBE003-4842-F14C-B921-0B8E298B3C02}" srcOrd="0" destOrd="0" presId="urn:microsoft.com/office/officeart/2005/8/layout/hProcess9"/>
    <dgm:cxn modelId="{D7F4BD5D-7A09-D44D-80CD-02875E985D98}" type="presParOf" srcId="{CBCBE003-4842-F14C-B921-0B8E298B3C02}" destId="{48AEB2E0-B253-3147-94B9-55CCD3FA1AE3}" srcOrd="0" destOrd="0" presId="urn:microsoft.com/office/officeart/2005/8/layout/hProcess9"/>
    <dgm:cxn modelId="{C108DBB8-E3F6-B140-99C1-F4291BAAC1DD}" type="presParOf" srcId="{CBCBE003-4842-F14C-B921-0B8E298B3C02}" destId="{AE88151C-A712-6F4A-8D59-F1F96F092076}" srcOrd="1" destOrd="0" presId="urn:microsoft.com/office/officeart/2005/8/layout/hProcess9"/>
    <dgm:cxn modelId="{C04673B9-DC32-C74E-9B09-5FCB740EE781}" type="presParOf" srcId="{AE88151C-A712-6F4A-8D59-F1F96F092076}" destId="{FC3B85D5-77AD-064D-8124-67182CBB0742}"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214FE2-33AD-4D46-802A-C57237251E25}" type="doc">
      <dgm:prSet loTypeId="urn:microsoft.com/office/officeart/2005/8/layout/hProcess9" loCatId="process" qsTypeId="urn:microsoft.com/office/officeart/2005/8/quickstyle/simple1" qsCatId="simple" csTypeId="urn:microsoft.com/office/officeart/2005/8/colors/accent1_2" csCatId="accent1" phldr="1"/>
      <dgm:spPr/>
    </dgm:pt>
    <dgm:pt modelId="{98BE926E-52EE-1F46-9A84-A7F84F3D9A2E}">
      <dgm:prSet phldrT="[Text]"/>
      <dgm:spPr/>
      <dgm:t>
        <a:bodyPr/>
        <a:lstStyle/>
        <a:p>
          <a:r>
            <a:rPr lang="en-US" dirty="0"/>
            <a:t>Business as Usual</a:t>
          </a:r>
        </a:p>
      </dgm:t>
    </dgm:pt>
    <dgm:pt modelId="{7A99D3D2-9240-9E46-92F5-B20C06CF485D}" type="parTrans" cxnId="{34844E87-4051-2D40-A1A8-FB941B99CB15}">
      <dgm:prSet/>
      <dgm:spPr/>
      <dgm:t>
        <a:bodyPr/>
        <a:lstStyle/>
        <a:p>
          <a:endParaRPr lang="en-US"/>
        </a:p>
      </dgm:t>
    </dgm:pt>
    <dgm:pt modelId="{769ADF4D-E144-6743-B10B-A513C42D437D}" type="sibTrans" cxnId="{34844E87-4051-2D40-A1A8-FB941B99CB15}">
      <dgm:prSet/>
      <dgm:spPr/>
      <dgm:t>
        <a:bodyPr/>
        <a:lstStyle/>
        <a:p>
          <a:endParaRPr lang="en-US"/>
        </a:p>
      </dgm:t>
    </dgm:pt>
    <dgm:pt modelId="{9DF10E42-B52E-3A4C-805E-D75A3E63C36B}">
      <dgm:prSet phldrT="[Text]"/>
      <dgm:spPr/>
      <dgm:t>
        <a:bodyPr/>
        <a:lstStyle/>
        <a:p>
          <a:r>
            <a:rPr lang="en-US" dirty="0"/>
            <a:t>Isolated Cluster Successes</a:t>
          </a:r>
        </a:p>
      </dgm:t>
    </dgm:pt>
    <dgm:pt modelId="{2D21602A-4B89-5D4E-837A-974B0F064C5D}" type="parTrans" cxnId="{03399C17-826B-A94F-90AB-8DAD4AC8684E}">
      <dgm:prSet/>
      <dgm:spPr/>
      <dgm:t>
        <a:bodyPr/>
        <a:lstStyle/>
        <a:p>
          <a:endParaRPr lang="en-US"/>
        </a:p>
      </dgm:t>
    </dgm:pt>
    <dgm:pt modelId="{ED1BC592-CA8F-434C-87B2-5CD15CCE86B8}" type="sibTrans" cxnId="{03399C17-826B-A94F-90AB-8DAD4AC8684E}">
      <dgm:prSet/>
      <dgm:spPr/>
      <dgm:t>
        <a:bodyPr/>
        <a:lstStyle/>
        <a:p>
          <a:endParaRPr lang="en-US"/>
        </a:p>
      </dgm:t>
    </dgm:pt>
    <dgm:pt modelId="{94B97FA6-6673-5B4D-B84A-3FF21DA8415F}">
      <dgm:prSet phldrT="[Text]"/>
      <dgm:spPr/>
      <dgm:t>
        <a:bodyPr/>
        <a:lstStyle/>
        <a:p>
          <a:r>
            <a:rPr lang="en-US" dirty="0"/>
            <a:t>Network of Globally Competitive Innovation Hubs </a:t>
          </a:r>
        </a:p>
      </dgm:t>
    </dgm:pt>
    <dgm:pt modelId="{600E7244-DB7C-5D47-8981-9B7F082C30AC}" type="parTrans" cxnId="{1579347C-83ED-3042-B5AD-081F9480D39B}">
      <dgm:prSet/>
      <dgm:spPr/>
      <dgm:t>
        <a:bodyPr/>
        <a:lstStyle/>
        <a:p>
          <a:endParaRPr lang="en-US"/>
        </a:p>
      </dgm:t>
    </dgm:pt>
    <dgm:pt modelId="{D1ADB2E5-5E7C-7F44-BA70-D13E11990F48}" type="sibTrans" cxnId="{1579347C-83ED-3042-B5AD-081F9480D39B}">
      <dgm:prSet/>
      <dgm:spPr/>
      <dgm:t>
        <a:bodyPr/>
        <a:lstStyle/>
        <a:p>
          <a:endParaRPr lang="en-US"/>
        </a:p>
      </dgm:t>
    </dgm:pt>
    <dgm:pt modelId="{CF006D8C-61CA-0247-BE96-AF711D844039}">
      <dgm:prSet phldrT="[Text]"/>
      <dgm:spPr/>
      <dgm:t>
        <a:bodyPr/>
        <a:lstStyle/>
        <a:p>
          <a:r>
            <a:rPr lang="en-US" dirty="0"/>
            <a:t>Successful Opportunism </a:t>
          </a:r>
        </a:p>
      </dgm:t>
    </dgm:pt>
    <dgm:pt modelId="{FB8B76C0-43D7-D147-A857-1E32751091E0}" type="parTrans" cxnId="{F7E1EDC3-C004-1845-B048-AEC43227E164}">
      <dgm:prSet/>
      <dgm:spPr/>
      <dgm:t>
        <a:bodyPr/>
        <a:lstStyle/>
        <a:p>
          <a:endParaRPr lang="en-US"/>
        </a:p>
      </dgm:t>
    </dgm:pt>
    <dgm:pt modelId="{4897C6F8-63BF-8A40-A165-9408511FA560}" type="sibTrans" cxnId="{F7E1EDC3-C004-1845-B048-AEC43227E164}">
      <dgm:prSet/>
      <dgm:spPr/>
      <dgm:t>
        <a:bodyPr/>
        <a:lstStyle/>
        <a:p>
          <a:endParaRPr lang="en-US"/>
        </a:p>
      </dgm:t>
    </dgm:pt>
    <dgm:pt modelId="{7E1CCA42-029A-BC45-BBB2-8C2F8A3CA32A}" type="pres">
      <dgm:prSet presAssocID="{66214FE2-33AD-4D46-802A-C57237251E25}" presName="CompostProcess" presStyleCnt="0">
        <dgm:presLayoutVars>
          <dgm:dir/>
          <dgm:resizeHandles val="exact"/>
        </dgm:presLayoutVars>
      </dgm:prSet>
      <dgm:spPr/>
    </dgm:pt>
    <dgm:pt modelId="{03366D26-A3AC-A448-8578-07A022AD04B9}" type="pres">
      <dgm:prSet presAssocID="{66214FE2-33AD-4D46-802A-C57237251E25}" presName="arrow" presStyleLbl="bgShp" presStyleIdx="0" presStyleCnt="1"/>
      <dgm:spPr/>
    </dgm:pt>
    <dgm:pt modelId="{0355A76A-D75C-1B4D-9484-98D158D2A8C4}" type="pres">
      <dgm:prSet presAssocID="{66214FE2-33AD-4D46-802A-C57237251E25}" presName="linearProcess" presStyleCnt="0"/>
      <dgm:spPr/>
    </dgm:pt>
    <dgm:pt modelId="{8F09671C-AE8B-9949-BE38-94753709CFFD}" type="pres">
      <dgm:prSet presAssocID="{98BE926E-52EE-1F46-9A84-A7F84F3D9A2E}" presName="textNode" presStyleLbl="node1" presStyleIdx="0" presStyleCnt="4">
        <dgm:presLayoutVars>
          <dgm:bulletEnabled val="1"/>
        </dgm:presLayoutVars>
      </dgm:prSet>
      <dgm:spPr/>
    </dgm:pt>
    <dgm:pt modelId="{77F2B560-052C-184D-8DAE-40A309E58139}" type="pres">
      <dgm:prSet presAssocID="{769ADF4D-E144-6743-B10B-A513C42D437D}" presName="sibTrans" presStyleCnt="0"/>
      <dgm:spPr/>
    </dgm:pt>
    <dgm:pt modelId="{9C6975CC-3342-EF4F-AD90-C44512DCD63E}" type="pres">
      <dgm:prSet presAssocID="{9DF10E42-B52E-3A4C-805E-D75A3E63C36B}" presName="textNode" presStyleLbl="node1" presStyleIdx="1" presStyleCnt="4">
        <dgm:presLayoutVars>
          <dgm:bulletEnabled val="1"/>
        </dgm:presLayoutVars>
      </dgm:prSet>
      <dgm:spPr/>
    </dgm:pt>
    <dgm:pt modelId="{C8FC5FA6-C1B8-BF4D-9890-C2A80357FB4E}" type="pres">
      <dgm:prSet presAssocID="{ED1BC592-CA8F-434C-87B2-5CD15CCE86B8}" presName="sibTrans" presStyleCnt="0"/>
      <dgm:spPr/>
    </dgm:pt>
    <dgm:pt modelId="{B0574867-8FC7-064D-906B-66CA013C12E7}" type="pres">
      <dgm:prSet presAssocID="{94B97FA6-6673-5B4D-B84A-3FF21DA8415F}" presName="textNode" presStyleLbl="node1" presStyleIdx="2" presStyleCnt="4">
        <dgm:presLayoutVars>
          <dgm:bulletEnabled val="1"/>
        </dgm:presLayoutVars>
      </dgm:prSet>
      <dgm:spPr/>
    </dgm:pt>
    <dgm:pt modelId="{79C7F49A-1003-BF46-A197-30B829B254F6}" type="pres">
      <dgm:prSet presAssocID="{D1ADB2E5-5E7C-7F44-BA70-D13E11990F48}" presName="sibTrans" presStyleCnt="0"/>
      <dgm:spPr/>
    </dgm:pt>
    <dgm:pt modelId="{7E9ABAFB-D39C-464D-A8FB-1F93629F0400}" type="pres">
      <dgm:prSet presAssocID="{CF006D8C-61CA-0247-BE96-AF711D844039}" presName="textNode" presStyleLbl="node1" presStyleIdx="3" presStyleCnt="4">
        <dgm:presLayoutVars>
          <dgm:bulletEnabled val="1"/>
        </dgm:presLayoutVars>
      </dgm:prSet>
      <dgm:spPr/>
    </dgm:pt>
  </dgm:ptLst>
  <dgm:cxnLst>
    <dgm:cxn modelId="{03399C17-826B-A94F-90AB-8DAD4AC8684E}" srcId="{66214FE2-33AD-4D46-802A-C57237251E25}" destId="{9DF10E42-B52E-3A4C-805E-D75A3E63C36B}" srcOrd="1" destOrd="0" parTransId="{2D21602A-4B89-5D4E-837A-974B0F064C5D}" sibTransId="{ED1BC592-CA8F-434C-87B2-5CD15CCE86B8}"/>
    <dgm:cxn modelId="{1579347C-83ED-3042-B5AD-081F9480D39B}" srcId="{66214FE2-33AD-4D46-802A-C57237251E25}" destId="{94B97FA6-6673-5B4D-B84A-3FF21DA8415F}" srcOrd="2" destOrd="0" parTransId="{600E7244-DB7C-5D47-8981-9B7F082C30AC}" sibTransId="{D1ADB2E5-5E7C-7F44-BA70-D13E11990F48}"/>
    <dgm:cxn modelId="{0702E083-B2CD-4748-8A18-1F2C2E5A3F1E}" type="presOf" srcId="{66214FE2-33AD-4D46-802A-C57237251E25}" destId="{7E1CCA42-029A-BC45-BBB2-8C2F8A3CA32A}" srcOrd="0" destOrd="0" presId="urn:microsoft.com/office/officeart/2005/8/layout/hProcess9"/>
    <dgm:cxn modelId="{34844E87-4051-2D40-A1A8-FB941B99CB15}" srcId="{66214FE2-33AD-4D46-802A-C57237251E25}" destId="{98BE926E-52EE-1F46-9A84-A7F84F3D9A2E}" srcOrd="0" destOrd="0" parTransId="{7A99D3D2-9240-9E46-92F5-B20C06CF485D}" sibTransId="{769ADF4D-E144-6743-B10B-A513C42D437D}"/>
    <dgm:cxn modelId="{500A5497-F1ED-4B40-9E0B-62B36EC0103C}" type="presOf" srcId="{CF006D8C-61CA-0247-BE96-AF711D844039}" destId="{7E9ABAFB-D39C-464D-A8FB-1F93629F0400}" srcOrd="0" destOrd="0" presId="urn:microsoft.com/office/officeart/2005/8/layout/hProcess9"/>
    <dgm:cxn modelId="{E10267B2-C533-824F-8D33-EF0749900BAA}" type="presOf" srcId="{94B97FA6-6673-5B4D-B84A-3FF21DA8415F}" destId="{B0574867-8FC7-064D-906B-66CA013C12E7}" srcOrd="0" destOrd="0" presId="urn:microsoft.com/office/officeart/2005/8/layout/hProcess9"/>
    <dgm:cxn modelId="{39974BC2-9E0E-D044-B61E-23253019F0CC}" type="presOf" srcId="{98BE926E-52EE-1F46-9A84-A7F84F3D9A2E}" destId="{8F09671C-AE8B-9949-BE38-94753709CFFD}" srcOrd="0" destOrd="0" presId="urn:microsoft.com/office/officeart/2005/8/layout/hProcess9"/>
    <dgm:cxn modelId="{F7E1EDC3-C004-1845-B048-AEC43227E164}" srcId="{66214FE2-33AD-4D46-802A-C57237251E25}" destId="{CF006D8C-61CA-0247-BE96-AF711D844039}" srcOrd="3" destOrd="0" parTransId="{FB8B76C0-43D7-D147-A857-1E32751091E0}" sibTransId="{4897C6F8-63BF-8A40-A165-9408511FA560}"/>
    <dgm:cxn modelId="{DA33BCCA-CBF8-164E-BDB6-2B90927DE968}" type="presOf" srcId="{9DF10E42-B52E-3A4C-805E-D75A3E63C36B}" destId="{9C6975CC-3342-EF4F-AD90-C44512DCD63E}" srcOrd="0" destOrd="0" presId="urn:microsoft.com/office/officeart/2005/8/layout/hProcess9"/>
    <dgm:cxn modelId="{D42E0C6C-6775-2942-8EEC-D9BFEE5E9A20}" type="presParOf" srcId="{7E1CCA42-029A-BC45-BBB2-8C2F8A3CA32A}" destId="{03366D26-A3AC-A448-8578-07A022AD04B9}" srcOrd="0" destOrd="0" presId="urn:microsoft.com/office/officeart/2005/8/layout/hProcess9"/>
    <dgm:cxn modelId="{B04F0C30-866A-094E-BA43-EC60E7A3AEF8}" type="presParOf" srcId="{7E1CCA42-029A-BC45-BBB2-8C2F8A3CA32A}" destId="{0355A76A-D75C-1B4D-9484-98D158D2A8C4}" srcOrd="1" destOrd="0" presId="urn:microsoft.com/office/officeart/2005/8/layout/hProcess9"/>
    <dgm:cxn modelId="{EA416719-21D9-AD4B-9877-41029AE486CB}" type="presParOf" srcId="{0355A76A-D75C-1B4D-9484-98D158D2A8C4}" destId="{8F09671C-AE8B-9949-BE38-94753709CFFD}" srcOrd="0" destOrd="0" presId="urn:microsoft.com/office/officeart/2005/8/layout/hProcess9"/>
    <dgm:cxn modelId="{7BBBA5FF-6B57-4445-AB94-1F926AB85221}" type="presParOf" srcId="{0355A76A-D75C-1B4D-9484-98D158D2A8C4}" destId="{77F2B560-052C-184D-8DAE-40A309E58139}" srcOrd="1" destOrd="0" presId="urn:microsoft.com/office/officeart/2005/8/layout/hProcess9"/>
    <dgm:cxn modelId="{88E1AFEE-7745-7641-B155-D1A5BAD3699F}" type="presParOf" srcId="{0355A76A-D75C-1B4D-9484-98D158D2A8C4}" destId="{9C6975CC-3342-EF4F-AD90-C44512DCD63E}" srcOrd="2" destOrd="0" presId="urn:microsoft.com/office/officeart/2005/8/layout/hProcess9"/>
    <dgm:cxn modelId="{C4A046B2-3254-DB4D-BA48-0D1DAB3F4DF7}" type="presParOf" srcId="{0355A76A-D75C-1B4D-9484-98D158D2A8C4}" destId="{C8FC5FA6-C1B8-BF4D-9890-C2A80357FB4E}" srcOrd="3" destOrd="0" presId="urn:microsoft.com/office/officeart/2005/8/layout/hProcess9"/>
    <dgm:cxn modelId="{52CD8162-9AF9-9749-A408-4984E4E2A5CB}" type="presParOf" srcId="{0355A76A-D75C-1B4D-9484-98D158D2A8C4}" destId="{B0574867-8FC7-064D-906B-66CA013C12E7}" srcOrd="4" destOrd="0" presId="urn:microsoft.com/office/officeart/2005/8/layout/hProcess9"/>
    <dgm:cxn modelId="{7E2AB353-4380-6148-8C6A-3EF88D49FD9A}" type="presParOf" srcId="{0355A76A-D75C-1B4D-9484-98D158D2A8C4}" destId="{79C7F49A-1003-BF46-A197-30B829B254F6}" srcOrd="5" destOrd="0" presId="urn:microsoft.com/office/officeart/2005/8/layout/hProcess9"/>
    <dgm:cxn modelId="{B61560FC-0FA3-914B-8CAA-19BDB0DB0CD0}" type="presParOf" srcId="{0355A76A-D75C-1B4D-9484-98D158D2A8C4}" destId="{7E9ABAFB-D39C-464D-A8FB-1F93629F0400}" srcOrd="6" destOrd="0" presId="urn:microsoft.com/office/officeart/2005/8/layout/hProcess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7B6C48-1A35-DE4A-9347-692B1578F811}" type="doc">
      <dgm:prSet loTypeId="urn:microsoft.com/office/officeart/2005/8/layout/cycle6" loCatId="" qsTypeId="urn:microsoft.com/office/officeart/2005/8/quickstyle/simple1" qsCatId="simple" csTypeId="urn:microsoft.com/office/officeart/2005/8/colors/colorful1" csCatId="colorful" phldr="1"/>
      <dgm:spPr/>
      <dgm:t>
        <a:bodyPr/>
        <a:lstStyle/>
        <a:p>
          <a:endParaRPr lang="en-US"/>
        </a:p>
      </dgm:t>
    </dgm:pt>
    <dgm:pt modelId="{AD611AF4-6369-6246-A2C4-961DCA490E10}">
      <dgm:prSet phldrT="[Text]"/>
      <dgm:spPr/>
      <dgm:t>
        <a:bodyPr/>
        <a:lstStyle/>
        <a:p>
          <a:r>
            <a:rPr lang="en-US" dirty="0"/>
            <a:t>Cluster Initiatives</a:t>
          </a:r>
        </a:p>
      </dgm:t>
    </dgm:pt>
    <dgm:pt modelId="{4091B7E3-C3F0-4A4D-A9F7-FA76D97CB212}" type="parTrans" cxnId="{2299030C-07A8-6543-82E9-7F5F25BBD082}">
      <dgm:prSet/>
      <dgm:spPr/>
      <dgm:t>
        <a:bodyPr/>
        <a:lstStyle/>
        <a:p>
          <a:endParaRPr lang="en-US"/>
        </a:p>
      </dgm:t>
    </dgm:pt>
    <dgm:pt modelId="{872B08EF-CBCA-E246-8C39-A0A594F9118C}" type="sibTrans" cxnId="{2299030C-07A8-6543-82E9-7F5F25BBD082}">
      <dgm:prSet/>
      <dgm:spPr/>
      <dgm:t>
        <a:bodyPr/>
        <a:lstStyle/>
        <a:p>
          <a:endParaRPr lang="en-US"/>
        </a:p>
      </dgm:t>
    </dgm:pt>
    <dgm:pt modelId="{B3FC8FA3-C5C7-C84D-BF28-057BD5567D4B}">
      <dgm:prSet phldrT="[Text]"/>
      <dgm:spPr/>
      <dgm:t>
        <a:bodyPr/>
        <a:lstStyle/>
        <a:p>
          <a:r>
            <a:rPr lang="en-US" dirty="0"/>
            <a:t>Education and Workforce Programs</a:t>
          </a:r>
        </a:p>
      </dgm:t>
    </dgm:pt>
    <dgm:pt modelId="{0E008FEB-5F70-9546-A044-B678D0B612AE}" type="parTrans" cxnId="{F9B0DE8D-31AD-FA46-8464-409398ACB465}">
      <dgm:prSet/>
      <dgm:spPr/>
      <dgm:t>
        <a:bodyPr/>
        <a:lstStyle/>
        <a:p>
          <a:endParaRPr lang="en-US"/>
        </a:p>
      </dgm:t>
    </dgm:pt>
    <dgm:pt modelId="{60B83973-A4F5-8846-9299-C3CDCEFA45C5}" type="sibTrans" cxnId="{F9B0DE8D-31AD-FA46-8464-409398ACB465}">
      <dgm:prSet/>
      <dgm:spPr/>
      <dgm:t>
        <a:bodyPr/>
        <a:lstStyle/>
        <a:p>
          <a:endParaRPr lang="en-US"/>
        </a:p>
      </dgm:t>
    </dgm:pt>
    <dgm:pt modelId="{A9553863-0800-504F-AD67-A94CD514EE17}">
      <dgm:prSet phldrT="[Text]"/>
      <dgm:spPr/>
      <dgm:t>
        <a:bodyPr/>
        <a:lstStyle/>
        <a:p>
          <a:r>
            <a:rPr lang="en-US" dirty="0"/>
            <a:t>Regional Collaborations</a:t>
          </a:r>
        </a:p>
      </dgm:t>
    </dgm:pt>
    <dgm:pt modelId="{F2F60F60-CC54-254A-B821-68EB5D22E1A7}" type="parTrans" cxnId="{04F4B648-DDA8-AE4A-BFA8-B620AEE37685}">
      <dgm:prSet/>
      <dgm:spPr/>
      <dgm:t>
        <a:bodyPr/>
        <a:lstStyle/>
        <a:p>
          <a:endParaRPr lang="en-US"/>
        </a:p>
      </dgm:t>
    </dgm:pt>
    <dgm:pt modelId="{7D80637A-C24A-6E48-876A-51D348DD5672}" type="sibTrans" cxnId="{04F4B648-DDA8-AE4A-BFA8-B620AEE37685}">
      <dgm:prSet/>
      <dgm:spPr/>
      <dgm:t>
        <a:bodyPr/>
        <a:lstStyle/>
        <a:p>
          <a:endParaRPr lang="en-US"/>
        </a:p>
      </dgm:t>
    </dgm:pt>
    <dgm:pt modelId="{E395D0F6-2394-BA4D-8727-0C6CFC08711B}">
      <dgm:prSet phldrT="[Text]"/>
      <dgm:spPr/>
      <dgm:t>
        <a:bodyPr/>
        <a:lstStyle/>
        <a:p>
          <a:r>
            <a:rPr lang="en-US" dirty="0"/>
            <a:t>Quality of Life Assets</a:t>
          </a:r>
        </a:p>
      </dgm:t>
    </dgm:pt>
    <dgm:pt modelId="{2C257BA3-F4E7-0C4A-99AD-EFF2093EB1FF}" type="parTrans" cxnId="{E98CBEB2-4B84-2548-AA28-0354D3ACC38F}">
      <dgm:prSet/>
      <dgm:spPr/>
      <dgm:t>
        <a:bodyPr/>
        <a:lstStyle/>
        <a:p>
          <a:endParaRPr lang="en-US"/>
        </a:p>
      </dgm:t>
    </dgm:pt>
    <dgm:pt modelId="{D8F904B9-9A05-7B45-9CD4-A63F2E4E3E24}" type="sibTrans" cxnId="{E98CBEB2-4B84-2548-AA28-0354D3ACC38F}">
      <dgm:prSet/>
      <dgm:spPr/>
      <dgm:t>
        <a:bodyPr/>
        <a:lstStyle/>
        <a:p>
          <a:endParaRPr lang="en-US"/>
        </a:p>
      </dgm:t>
    </dgm:pt>
    <dgm:pt modelId="{ABC43C63-557A-7D4A-A1A5-839832699A58}" type="pres">
      <dgm:prSet presAssocID="{947B6C48-1A35-DE4A-9347-692B1578F811}" presName="cycle" presStyleCnt="0">
        <dgm:presLayoutVars>
          <dgm:dir/>
          <dgm:resizeHandles val="exact"/>
        </dgm:presLayoutVars>
      </dgm:prSet>
      <dgm:spPr/>
    </dgm:pt>
    <dgm:pt modelId="{0CDD1E5E-0E12-C940-943C-A63887E4889A}" type="pres">
      <dgm:prSet presAssocID="{AD611AF4-6369-6246-A2C4-961DCA490E10}" presName="node" presStyleLbl="node1" presStyleIdx="0" presStyleCnt="4">
        <dgm:presLayoutVars>
          <dgm:bulletEnabled val="1"/>
        </dgm:presLayoutVars>
      </dgm:prSet>
      <dgm:spPr/>
    </dgm:pt>
    <dgm:pt modelId="{228E9CEC-B2A9-5E49-B048-681BF17C861F}" type="pres">
      <dgm:prSet presAssocID="{AD611AF4-6369-6246-A2C4-961DCA490E10}" presName="spNode" presStyleCnt="0"/>
      <dgm:spPr/>
    </dgm:pt>
    <dgm:pt modelId="{DC197488-7E46-0F4E-B5F0-E3D34D6C2B11}" type="pres">
      <dgm:prSet presAssocID="{872B08EF-CBCA-E246-8C39-A0A594F9118C}" presName="sibTrans" presStyleLbl="sibTrans1D1" presStyleIdx="0" presStyleCnt="4"/>
      <dgm:spPr/>
    </dgm:pt>
    <dgm:pt modelId="{41AC8C4D-4F8D-7941-8583-3AC447CA5BD5}" type="pres">
      <dgm:prSet presAssocID="{B3FC8FA3-C5C7-C84D-BF28-057BD5567D4B}" presName="node" presStyleLbl="node1" presStyleIdx="1" presStyleCnt="4">
        <dgm:presLayoutVars>
          <dgm:bulletEnabled val="1"/>
        </dgm:presLayoutVars>
      </dgm:prSet>
      <dgm:spPr/>
    </dgm:pt>
    <dgm:pt modelId="{455A1B2D-5521-BA44-B5BB-AD3F6E1B1462}" type="pres">
      <dgm:prSet presAssocID="{B3FC8FA3-C5C7-C84D-BF28-057BD5567D4B}" presName="spNode" presStyleCnt="0"/>
      <dgm:spPr/>
    </dgm:pt>
    <dgm:pt modelId="{A6BA2FF3-5182-DD4A-BB21-572D318F73D2}" type="pres">
      <dgm:prSet presAssocID="{60B83973-A4F5-8846-9299-C3CDCEFA45C5}" presName="sibTrans" presStyleLbl="sibTrans1D1" presStyleIdx="1" presStyleCnt="4"/>
      <dgm:spPr/>
    </dgm:pt>
    <dgm:pt modelId="{68D40FEA-114C-634D-9859-2AC324DF6BBF}" type="pres">
      <dgm:prSet presAssocID="{A9553863-0800-504F-AD67-A94CD514EE17}" presName="node" presStyleLbl="node1" presStyleIdx="2" presStyleCnt="4">
        <dgm:presLayoutVars>
          <dgm:bulletEnabled val="1"/>
        </dgm:presLayoutVars>
      </dgm:prSet>
      <dgm:spPr/>
    </dgm:pt>
    <dgm:pt modelId="{C46E1F0A-1EEE-C140-98CD-AAE4E6BBEFC8}" type="pres">
      <dgm:prSet presAssocID="{A9553863-0800-504F-AD67-A94CD514EE17}" presName="spNode" presStyleCnt="0"/>
      <dgm:spPr/>
    </dgm:pt>
    <dgm:pt modelId="{E9741238-0809-A740-B5F3-363D5D7C539E}" type="pres">
      <dgm:prSet presAssocID="{7D80637A-C24A-6E48-876A-51D348DD5672}" presName="sibTrans" presStyleLbl="sibTrans1D1" presStyleIdx="2" presStyleCnt="4"/>
      <dgm:spPr/>
    </dgm:pt>
    <dgm:pt modelId="{AA89D2F8-440D-BD49-8AAC-FC7AB2409D4E}" type="pres">
      <dgm:prSet presAssocID="{E395D0F6-2394-BA4D-8727-0C6CFC08711B}" presName="node" presStyleLbl="node1" presStyleIdx="3" presStyleCnt="4">
        <dgm:presLayoutVars>
          <dgm:bulletEnabled val="1"/>
        </dgm:presLayoutVars>
      </dgm:prSet>
      <dgm:spPr/>
    </dgm:pt>
    <dgm:pt modelId="{2EDF4331-B048-394E-B49F-D8679843E518}" type="pres">
      <dgm:prSet presAssocID="{E395D0F6-2394-BA4D-8727-0C6CFC08711B}" presName="spNode" presStyleCnt="0"/>
      <dgm:spPr/>
    </dgm:pt>
    <dgm:pt modelId="{8103AF40-43C1-AF44-BA08-BAFF1DF4D31B}" type="pres">
      <dgm:prSet presAssocID="{D8F904B9-9A05-7B45-9CD4-A63F2E4E3E24}" presName="sibTrans" presStyleLbl="sibTrans1D1" presStyleIdx="3" presStyleCnt="4"/>
      <dgm:spPr/>
    </dgm:pt>
  </dgm:ptLst>
  <dgm:cxnLst>
    <dgm:cxn modelId="{2299030C-07A8-6543-82E9-7F5F25BBD082}" srcId="{947B6C48-1A35-DE4A-9347-692B1578F811}" destId="{AD611AF4-6369-6246-A2C4-961DCA490E10}" srcOrd="0" destOrd="0" parTransId="{4091B7E3-C3F0-4A4D-A9F7-FA76D97CB212}" sibTransId="{872B08EF-CBCA-E246-8C39-A0A594F9118C}"/>
    <dgm:cxn modelId="{907BA80F-8620-2442-A0F3-99CCF726483C}" type="presOf" srcId="{872B08EF-CBCA-E246-8C39-A0A594F9118C}" destId="{DC197488-7E46-0F4E-B5F0-E3D34D6C2B11}" srcOrd="0" destOrd="0" presId="urn:microsoft.com/office/officeart/2005/8/layout/cycle6"/>
    <dgm:cxn modelId="{AFFEB641-E9FB-644F-AFB8-35F980757A2D}" type="presOf" srcId="{7D80637A-C24A-6E48-876A-51D348DD5672}" destId="{E9741238-0809-A740-B5F3-363D5D7C539E}" srcOrd="0" destOrd="0" presId="urn:microsoft.com/office/officeart/2005/8/layout/cycle6"/>
    <dgm:cxn modelId="{CC1F4142-DF3D-9244-BD49-7259EE0BF5D8}" type="presOf" srcId="{A9553863-0800-504F-AD67-A94CD514EE17}" destId="{68D40FEA-114C-634D-9859-2AC324DF6BBF}" srcOrd="0" destOrd="0" presId="urn:microsoft.com/office/officeart/2005/8/layout/cycle6"/>
    <dgm:cxn modelId="{2298E342-3F37-DB43-B883-958E3417BF06}" type="presOf" srcId="{D8F904B9-9A05-7B45-9CD4-A63F2E4E3E24}" destId="{8103AF40-43C1-AF44-BA08-BAFF1DF4D31B}" srcOrd="0" destOrd="0" presId="urn:microsoft.com/office/officeart/2005/8/layout/cycle6"/>
    <dgm:cxn modelId="{04F4B648-DDA8-AE4A-BFA8-B620AEE37685}" srcId="{947B6C48-1A35-DE4A-9347-692B1578F811}" destId="{A9553863-0800-504F-AD67-A94CD514EE17}" srcOrd="2" destOrd="0" parTransId="{F2F60F60-CC54-254A-B821-68EB5D22E1A7}" sibTransId="{7D80637A-C24A-6E48-876A-51D348DD5672}"/>
    <dgm:cxn modelId="{F0746C4C-773F-ED47-A63A-EF8309C922A3}" type="presOf" srcId="{AD611AF4-6369-6246-A2C4-961DCA490E10}" destId="{0CDD1E5E-0E12-C940-943C-A63887E4889A}" srcOrd="0" destOrd="0" presId="urn:microsoft.com/office/officeart/2005/8/layout/cycle6"/>
    <dgm:cxn modelId="{7FF11D5E-7D73-C54B-AFB1-F6F48CFC1AC0}" type="presOf" srcId="{B3FC8FA3-C5C7-C84D-BF28-057BD5567D4B}" destId="{41AC8C4D-4F8D-7941-8583-3AC447CA5BD5}" srcOrd="0" destOrd="0" presId="urn:microsoft.com/office/officeart/2005/8/layout/cycle6"/>
    <dgm:cxn modelId="{11B64486-0F85-3242-B754-BB54B71DD841}" type="presOf" srcId="{E395D0F6-2394-BA4D-8727-0C6CFC08711B}" destId="{AA89D2F8-440D-BD49-8AAC-FC7AB2409D4E}" srcOrd="0" destOrd="0" presId="urn:microsoft.com/office/officeart/2005/8/layout/cycle6"/>
    <dgm:cxn modelId="{F9B0DE8D-31AD-FA46-8464-409398ACB465}" srcId="{947B6C48-1A35-DE4A-9347-692B1578F811}" destId="{B3FC8FA3-C5C7-C84D-BF28-057BD5567D4B}" srcOrd="1" destOrd="0" parTransId="{0E008FEB-5F70-9546-A044-B678D0B612AE}" sibTransId="{60B83973-A4F5-8846-9299-C3CDCEFA45C5}"/>
    <dgm:cxn modelId="{E98CBEB2-4B84-2548-AA28-0354D3ACC38F}" srcId="{947B6C48-1A35-DE4A-9347-692B1578F811}" destId="{E395D0F6-2394-BA4D-8727-0C6CFC08711B}" srcOrd="3" destOrd="0" parTransId="{2C257BA3-F4E7-0C4A-99AD-EFF2093EB1FF}" sibTransId="{D8F904B9-9A05-7B45-9CD4-A63F2E4E3E24}"/>
    <dgm:cxn modelId="{4C2B19C9-CEEA-624F-A575-AD42E34BBF9D}" type="presOf" srcId="{60B83973-A4F5-8846-9299-C3CDCEFA45C5}" destId="{A6BA2FF3-5182-DD4A-BB21-572D318F73D2}" srcOrd="0" destOrd="0" presId="urn:microsoft.com/office/officeart/2005/8/layout/cycle6"/>
    <dgm:cxn modelId="{FDB1F1F5-1AE8-3A4A-B4FA-F7ED216D34BB}" type="presOf" srcId="{947B6C48-1A35-DE4A-9347-692B1578F811}" destId="{ABC43C63-557A-7D4A-A1A5-839832699A58}" srcOrd="0" destOrd="0" presId="urn:microsoft.com/office/officeart/2005/8/layout/cycle6"/>
    <dgm:cxn modelId="{5B643D89-95E4-E848-AA2C-5706F308ED0E}" type="presParOf" srcId="{ABC43C63-557A-7D4A-A1A5-839832699A58}" destId="{0CDD1E5E-0E12-C940-943C-A63887E4889A}" srcOrd="0" destOrd="0" presId="urn:microsoft.com/office/officeart/2005/8/layout/cycle6"/>
    <dgm:cxn modelId="{7F283F19-A7A0-BD43-BD43-01D30300433B}" type="presParOf" srcId="{ABC43C63-557A-7D4A-A1A5-839832699A58}" destId="{228E9CEC-B2A9-5E49-B048-681BF17C861F}" srcOrd="1" destOrd="0" presId="urn:microsoft.com/office/officeart/2005/8/layout/cycle6"/>
    <dgm:cxn modelId="{ED98970D-2165-D64D-B11B-34C6DB6D2D07}" type="presParOf" srcId="{ABC43C63-557A-7D4A-A1A5-839832699A58}" destId="{DC197488-7E46-0F4E-B5F0-E3D34D6C2B11}" srcOrd="2" destOrd="0" presId="urn:microsoft.com/office/officeart/2005/8/layout/cycle6"/>
    <dgm:cxn modelId="{636F55B0-9544-F648-95EA-06AC56FB0CDD}" type="presParOf" srcId="{ABC43C63-557A-7D4A-A1A5-839832699A58}" destId="{41AC8C4D-4F8D-7941-8583-3AC447CA5BD5}" srcOrd="3" destOrd="0" presId="urn:microsoft.com/office/officeart/2005/8/layout/cycle6"/>
    <dgm:cxn modelId="{A9FB5CF1-8E73-EF42-B96B-4CDCF2EBCF3A}" type="presParOf" srcId="{ABC43C63-557A-7D4A-A1A5-839832699A58}" destId="{455A1B2D-5521-BA44-B5BB-AD3F6E1B1462}" srcOrd="4" destOrd="0" presId="urn:microsoft.com/office/officeart/2005/8/layout/cycle6"/>
    <dgm:cxn modelId="{9539A5E8-32C7-034F-97F1-858B6693FA12}" type="presParOf" srcId="{ABC43C63-557A-7D4A-A1A5-839832699A58}" destId="{A6BA2FF3-5182-DD4A-BB21-572D318F73D2}" srcOrd="5" destOrd="0" presId="urn:microsoft.com/office/officeart/2005/8/layout/cycle6"/>
    <dgm:cxn modelId="{69462E5F-7590-324F-9DB5-238AE311856E}" type="presParOf" srcId="{ABC43C63-557A-7D4A-A1A5-839832699A58}" destId="{68D40FEA-114C-634D-9859-2AC324DF6BBF}" srcOrd="6" destOrd="0" presId="urn:microsoft.com/office/officeart/2005/8/layout/cycle6"/>
    <dgm:cxn modelId="{D43F529C-AEAF-4A47-9627-B371DEBC8B64}" type="presParOf" srcId="{ABC43C63-557A-7D4A-A1A5-839832699A58}" destId="{C46E1F0A-1EEE-C140-98CD-AAE4E6BBEFC8}" srcOrd="7" destOrd="0" presId="urn:microsoft.com/office/officeart/2005/8/layout/cycle6"/>
    <dgm:cxn modelId="{601B3CEA-5F7E-F74F-A9AF-F21FAA725339}" type="presParOf" srcId="{ABC43C63-557A-7D4A-A1A5-839832699A58}" destId="{E9741238-0809-A740-B5F3-363D5D7C539E}" srcOrd="8" destOrd="0" presId="urn:microsoft.com/office/officeart/2005/8/layout/cycle6"/>
    <dgm:cxn modelId="{CD9469A6-8256-2E4E-AAA0-41A766D8EB14}" type="presParOf" srcId="{ABC43C63-557A-7D4A-A1A5-839832699A58}" destId="{AA89D2F8-440D-BD49-8AAC-FC7AB2409D4E}" srcOrd="9" destOrd="0" presId="urn:microsoft.com/office/officeart/2005/8/layout/cycle6"/>
    <dgm:cxn modelId="{B0B85A9F-31E8-024A-9DF9-609EA0D1065E}" type="presParOf" srcId="{ABC43C63-557A-7D4A-A1A5-839832699A58}" destId="{2EDF4331-B048-394E-B49F-D8679843E518}" srcOrd="10" destOrd="0" presId="urn:microsoft.com/office/officeart/2005/8/layout/cycle6"/>
    <dgm:cxn modelId="{9DE7A88E-84D9-654E-8F63-35E506F95B7F}" type="presParOf" srcId="{ABC43C63-557A-7D4A-A1A5-839832699A58}" destId="{8103AF40-43C1-AF44-BA08-BAFF1DF4D31B}" srcOrd="11"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69BEDAA-1630-4C90-8369-32D0DBB195DC}"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A8615C4C-A1CE-45EA-883A-C2BD74D519EA}">
      <dgm:prSet/>
      <dgm:spPr/>
      <dgm:t>
        <a:bodyPr/>
        <a:lstStyle/>
        <a:p>
          <a:pPr>
            <a:lnSpc>
              <a:spcPct val="100000"/>
            </a:lnSpc>
          </a:pPr>
          <a:r>
            <a:rPr lang="en-US"/>
            <a:t>DEFINE YOUR REGION AND KEY DIFFERENTIATORS</a:t>
          </a:r>
          <a:endParaRPr lang="en-US" dirty="0"/>
        </a:p>
      </dgm:t>
    </dgm:pt>
    <dgm:pt modelId="{32FD897E-E0A9-4ADE-8B96-47E3D1ACD064}" type="parTrans" cxnId="{27E30020-69AA-46BA-BAE3-DD094F3EE5FC}">
      <dgm:prSet/>
      <dgm:spPr/>
      <dgm:t>
        <a:bodyPr/>
        <a:lstStyle/>
        <a:p>
          <a:endParaRPr lang="en-US"/>
        </a:p>
      </dgm:t>
    </dgm:pt>
    <dgm:pt modelId="{7B8E537E-D7E3-4E07-A394-917EF6164686}" type="sibTrans" cxnId="{27E30020-69AA-46BA-BAE3-DD094F3EE5FC}">
      <dgm:prSet/>
      <dgm:spPr/>
      <dgm:t>
        <a:bodyPr/>
        <a:lstStyle/>
        <a:p>
          <a:pPr>
            <a:lnSpc>
              <a:spcPct val="100000"/>
            </a:lnSpc>
          </a:pPr>
          <a:endParaRPr lang="en-US"/>
        </a:p>
      </dgm:t>
    </dgm:pt>
    <dgm:pt modelId="{F64DC1E5-1C4F-49F6-A95D-1FCA79C3328D}">
      <dgm:prSet/>
      <dgm:spPr/>
      <dgm:t>
        <a:bodyPr/>
        <a:lstStyle/>
        <a:p>
          <a:pPr>
            <a:lnSpc>
              <a:spcPct val="100000"/>
            </a:lnSpc>
          </a:pPr>
          <a:r>
            <a:rPr lang="en-US"/>
            <a:t>2-4 Sentences that describe your assets and market niche</a:t>
          </a:r>
        </a:p>
      </dgm:t>
    </dgm:pt>
    <dgm:pt modelId="{B077EEDC-2793-4E33-AF6B-320809902CE5}" type="parTrans" cxnId="{A8B16CCF-671F-4A6D-86A8-1A64A90D9B7F}">
      <dgm:prSet/>
      <dgm:spPr/>
      <dgm:t>
        <a:bodyPr/>
        <a:lstStyle/>
        <a:p>
          <a:endParaRPr lang="en-US"/>
        </a:p>
      </dgm:t>
    </dgm:pt>
    <dgm:pt modelId="{0146D00F-58CE-472E-99E5-C7D7A07F86E0}" type="sibTrans" cxnId="{A8B16CCF-671F-4A6D-86A8-1A64A90D9B7F}">
      <dgm:prSet/>
      <dgm:spPr/>
      <dgm:t>
        <a:bodyPr/>
        <a:lstStyle/>
        <a:p>
          <a:pPr>
            <a:lnSpc>
              <a:spcPct val="100000"/>
            </a:lnSpc>
          </a:pPr>
          <a:endParaRPr lang="en-US"/>
        </a:p>
      </dgm:t>
    </dgm:pt>
    <dgm:pt modelId="{68818587-38F2-45F5-97F5-E3C9F5373B2F}">
      <dgm:prSet/>
      <dgm:spPr/>
      <dgm:t>
        <a:bodyPr/>
        <a:lstStyle/>
        <a:p>
          <a:r>
            <a:rPr lang="en-US"/>
            <a:t>YOUR STRATEGIC PRIORITY AND WHY YOU CHOSE IT -</a:t>
          </a:r>
        </a:p>
      </dgm:t>
    </dgm:pt>
    <dgm:pt modelId="{4F18D565-B646-49AF-BFCE-9298FD4905C6}" type="parTrans" cxnId="{2C76F591-A988-422D-AE6C-04D3C4F0DBAA}">
      <dgm:prSet/>
      <dgm:spPr/>
      <dgm:t>
        <a:bodyPr/>
        <a:lstStyle/>
        <a:p>
          <a:endParaRPr lang="en-US"/>
        </a:p>
      </dgm:t>
    </dgm:pt>
    <dgm:pt modelId="{C4321FF5-E2B9-4770-B2DC-894D666A0DC1}" type="sibTrans" cxnId="{2C76F591-A988-422D-AE6C-04D3C4F0DBAA}">
      <dgm:prSet/>
      <dgm:spPr/>
      <dgm:t>
        <a:bodyPr/>
        <a:lstStyle/>
        <a:p>
          <a:pPr>
            <a:lnSpc>
              <a:spcPct val="100000"/>
            </a:lnSpc>
          </a:pPr>
          <a:endParaRPr lang="en-US"/>
        </a:p>
      </dgm:t>
    </dgm:pt>
    <dgm:pt modelId="{E617754A-4F3B-411E-BE9F-83939A4087AE}">
      <dgm:prSet/>
      <dgm:spPr/>
      <dgm:t>
        <a:bodyPr/>
        <a:lstStyle/>
        <a:p>
          <a:pPr>
            <a:lnSpc>
              <a:spcPct val="100000"/>
            </a:lnSpc>
          </a:pPr>
          <a:r>
            <a:rPr lang="en-US"/>
            <a:t>HOW YOU WILL ACHIEVE IT AND MEASURE SUCCESS</a:t>
          </a:r>
        </a:p>
      </dgm:t>
    </dgm:pt>
    <dgm:pt modelId="{B0CE7A85-2945-47C7-84F6-A12964A1C0EA}" type="parTrans" cxnId="{1767E9E7-F0F9-4FB2-9D3F-93FD3B57D060}">
      <dgm:prSet/>
      <dgm:spPr/>
      <dgm:t>
        <a:bodyPr/>
        <a:lstStyle/>
        <a:p>
          <a:endParaRPr lang="en-US"/>
        </a:p>
      </dgm:t>
    </dgm:pt>
    <dgm:pt modelId="{3E3F95CC-45DC-477C-8648-D7DBE58F5297}" type="sibTrans" cxnId="{1767E9E7-F0F9-4FB2-9D3F-93FD3B57D060}">
      <dgm:prSet/>
      <dgm:spPr/>
      <dgm:t>
        <a:bodyPr/>
        <a:lstStyle/>
        <a:p>
          <a:pPr>
            <a:lnSpc>
              <a:spcPct val="100000"/>
            </a:lnSpc>
          </a:pPr>
          <a:endParaRPr lang="en-US"/>
        </a:p>
      </dgm:t>
    </dgm:pt>
    <dgm:pt modelId="{9FBE66AF-DF35-4756-8BEB-2B4516BF9CFC}">
      <dgm:prSet/>
      <dgm:spPr/>
      <dgm:t>
        <a:bodyPr/>
        <a:lstStyle/>
        <a:p>
          <a:pPr>
            <a:lnSpc>
              <a:spcPct val="100000"/>
            </a:lnSpc>
          </a:pPr>
          <a:r>
            <a:rPr lang="en-US"/>
            <a:t>12-month action plan - 3 to 5 core actions.</a:t>
          </a:r>
        </a:p>
      </dgm:t>
    </dgm:pt>
    <dgm:pt modelId="{27C67749-463C-4845-B5E5-6B938B764E89}" type="parTrans" cxnId="{0E1E4477-E67D-43C4-B526-E2B93ED17BC9}">
      <dgm:prSet/>
      <dgm:spPr/>
      <dgm:t>
        <a:bodyPr/>
        <a:lstStyle/>
        <a:p>
          <a:endParaRPr lang="en-US"/>
        </a:p>
      </dgm:t>
    </dgm:pt>
    <dgm:pt modelId="{86BF76B4-B1A7-45B5-B68E-B4290906589A}" type="sibTrans" cxnId="{0E1E4477-E67D-43C4-B526-E2B93ED17BC9}">
      <dgm:prSet/>
      <dgm:spPr/>
      <dgm:t>
        <a:bodyPr/>
        <a:lstStyle/>
        <a:p>
          <a:pPr>
            <a:lnSpc>
              <a:spcPct val="100000"/>
            </a:lnSpc>
          </a:pPr>
          <a:endParaRPr lang="en-US"/>
        </a:p>
      </dgm:t>
    </dgm:pt>
    <dgm:pt modelId="{1F22184B-B1F1-4697-9CD1-7646799DE6CC}">
      <dgm:prSet/>
      <dgm:spPr/>
      <dgm:t>
        <a:bodyPr/>
        <a:lstStyle/>
        <a:p>
          <a:pPr>
            <a:lnSpc>
              <a:spcPct val="100000"/>
            </a:lnSpc>
          </a:pPr>
          <a:r>
            <a:rPr lang="en-US"/>
            <a:t>90-day activation agenda - immediate next steps and owners.</a:t>
          </a:r>
        </a:p>
      </dgm:t>
    </dgm:pt>
    <dgm:pt modelId="{A53114B3-2AC6-4531-AFD9-86CF598FB96C}" type="parTrans" cxnId="{8C766AA1-175F-467F-AAC2-9A86B3444167}">
      <dgm:prSet/>
      <dgm:spPr/>
      <dgm:t>
        <a:bodyPr/>
        <a:lstStyle/>
        <a:p>
          <a:endParaRPr lang="en-US"/>
        </a:p>
      </dgm:t>
    </dgm:pt>
    <dgm:pt modelId="{E89D5EBF-AE6F-47B4-821B-0CB081E3B6F5}" type="sibTrans" cxnId="{8C766AA1-175F-467F-AAC2-9A86B3444167}">
      <dgm:prSet/>
      <dgm:spPr/>
      <dgm:t>
        <a:bodyPr/>
        <a:lstStyle/>
        <a:p>
          <a:pPr>
            <a:lnSpc>
              <a:spcPct val="100000"/>
            </a:lnSpc>
          </a:pPr>
          <a:endParaRPr lang="en-US"/>
        </a:p>
      </dgm:t>
    </dgm:pt>
    <dgm:pt modelId="{E035409C-12D3-4B6C-8686-B795E836939F}">
      <dgm:prSet/>
      <dgm:spPr/>
      <dgm:t>
        <a:bodyPr/>
        <a:lstStyle/>
        <a:p>
          <a:pPr>
            <a:lnSpc>
              <a:spcPct val="100000"/>
            </a:lnSpc>
          </a:pPr>
          <a:r>
            <a:rPr lang="en-US"/>
            <a:t>Metrics - a short set of leading indicators and review dates.</a:t>
          </a:r>
        </a:p>
      </dgm:t>
    </dgm:pt>
    <dgm:pt modelId="{0F68C5C0-E70F-4AF7-A624-004B60C52162}" type="parTrans" cxnId="{46CDF485-9194-47F8-9C74-449A172B9506}">
      <dgm:prSet/>
      <dgm:spPr/>
      <dgm:t>
        <a:bodyPr/>
        <a:lstStyle/>
        <a:p>
          <a:endParaRPr lang="en-US"/>
        </a:p>
      </dgm:t>
    </dgm:pt>
    <dgm:pt modelId="{B8F49C15-CF2F-43C8-AFCB-1D5EF58C9CCF}" type="sibTrans" cxnId="{46CDF485-9194-47F8-9C74-449A172B9506}">
      <dgm:prSet/>
      <dgm:spPr/>
      <dgm:t>
        <a:bodyPr/>
        <a:lstStyle/>
        <a:p>
          <a:endParaRPr lang="en-US"/>
        </a:p>
      </dgm:t>
    </dgm:pt>
    <dgm:pt modelId="{96444A7B-26EF-4A4D-ADBC-5092122E12F3}">
      <dgm:prSet/>
      <dgm:spPr/>
      <dgm:t>
        <a:bodyPr/>
        <a:lstStyle/>
        <a:p>
          <a:pPr>
            <a:lnSpc>
              <a:spcPct val="100000"/>
            </a:lnSpc>
          </a:pPr>
          <a:r>
            <a:rPr lang="en-US"/>
            <a:t> 1 sentence supported by 3 to 5 evidence-based bullet points.</a:t>
          </a:r>
        </a:p>
      </dgm:t>
    </dgm:pt>
    <dgm:pt modelId="{D6425E17-3B05-704C-887B-A2B163C7A5F1}" type="parTrans" cxnId="{D8DE9A8E-C538-E448-9DF0-9A922464ABBD}">
      <dgm:prSet/>
      <dgm:spPr/>
      <dgm:t>
        <a:bodyPr/>
        <a:lstStyle/>
        <a:p>
          <a:endParaRPr lang="en-US"/>
        </a:p>
      </dgm:t>
    </dgm:pt>
    <dgm:pt modelId="{4E7756A9-763E-9744-852C-817F830DA1D5}" type="sibTrans" cxnId="{D8DE9A8E-C538-E448-9DF0-9A922464ABBD}">
      <dgm:prSet/>
      <dgm:spPr/>
      <dgm:t>
        <a:bodyPr/>
        <a:lstStyle/>
        <a:p>
          <a:endParaRPr lang="en-US"/>
        </a:p>
      </dgm:t>
    </dgm:pt>
    <dgm:pt modelId="{24B9A640-CABF-D048-AE30-F50921FC55C4}" type="pres">
      <dgm:prSet presAssocID="{769BEDAA-1630-4C90-8369-32D0DBB195DC}" presName="Name0" presStyleCnt="0">
        <dgm:presLayoutVars>
          <dgm:dir/>
          <dgm:resizeHandles val="exact"/>
        </dgm:presLayoutVars>
      </dgm:prSet>
      <dgm:spPr/>
    </dgm:pt>
    <dgm:pt modelId="{3BB37A5D-C9A9-2C4D-B8A7-C212FB65207E}" type="pres">
      <dgm:prSet presAssocID="{A8615C4C-A1CE-45EA-883A-C2BD74D519EA}" presName="node" presStyleLbl="node1" presStyleIdx="0" presStyleCnt="8">
        <dgm:presLayoutVars>
          <dgm:bulletEnabled val="1"/>
        </dgm:presLayoutVars>
      </dgm:prSet>
      <dgm:spPr/>
    </dgm:pt>
    <dgm:pt modelId="{A8BB06B1-60D3-DD4B-800F-4EB4F7352D1D}" type="pres">
      <dgm:prSet presAssocID="{7B8E537E-D7E3-4E07-A394-917EF6164686}" presName="sibTrans" presStyleLbl="sibTrans1D1" presStyleIdx="0" presStyleCnt="7"/>
      <dgm:spPr/>
    </dgm:pt>
    <dgm:pt modelId="{4192128C-0599-1B4F-BC7B-C62FE2CC1DC3}" type="pres">
      <dgm:prSet presAssocID="{7B8E537E-D7E3-4E07-A394-917EF6164686}" presName="connectorText" presStyleLbl="sibTrans1D1" presStyleIdx="0" presStyleCnt="7"/>
      <dgm:spPr/>
    </dgm:pt>
    <dgm:pt modelId="{328A4A50-2A2D-B440-AEF0-0C0834B54D04}" type="pres">
      <dgm:prSet presAssocID="{F64DC1E5-1C4F-49F6-A95D-1FCA79C3328D}" presName="node" presStyleLbl="node1" presStyleIdx="1" presStyleCnt="8">
        <dgm:presLayoutVars>
          <dgm:bulletEnabled val="1"/>
        </dgm:presLayoutVars>
      </dgm:prSet>
      <dgm:spPr/>
    </dgm:pt>
    <dgm:pt modelId="{78BAE45A-EA2B-9043-A50E-A11971377FFE}" type="pres">
      <dgm:prSet presAssocID="{0146D00F-58CE-472E-99E5-C7D7A07F86E0}" presName="sibTrans" presStyleLbl="sibTrans1D1" presStyleIdx="1" presStyleCnt="7"/>
      <dgm:spPr/>
    </dgm:pt>
    <dgm:pt modelId="{89F35CA1-4D8A-7541-B8CB-37A9FDD57449}" type="pres">
      <dgm:prSet presAssocID="{0146D00F-58CE-472E-99E5-C7D7A07F86E0}" presName="connectorText" presStyleLbl="sibTrans1D1" presStyleIdx="1" presStyleCnt="7"/>
      <dgm:spPr/>
    </dgm:pt>
    <dgm:pt modelId="{137404B3-429F-F142-A772-8CDF09A8CE6C}" type="pres">
      <dgm:prSet presAssocID="{68818587-38F2-45F5-97F5-E3C9F5373B2F}" presName="node" presStyleLbl="node1" presStyleIdx="2" presStyleCnt="8">
        <dgm:presLayoutVars>
          <dgm:bulletEnabled val="1"/>
        </dgm:presLayoutVars>
      </dgm:prSet>
      <dgm:spPr/>
    </dgm:pt>
    <dgm:pt modelId="{F7EAA4DC-4FEC-274E-AF05-FC2E3952040C}" type="pres">
      <dgm:prSet presAssocID="{C4321FF5-E2B9-4770-B2DC-894D666A0DC1}" presName="sibTrans" presStyleLbl="sibTrans1D1" presStyleIdx="2" presStyleCnt="7"/>
      <dgm:spPr/>
    </dgm:pt>
    <dgm:pt modelId="{9F972089-838C-EB4F-AA4A-DAFBF7F8EEFF}" type="pres">
      <dgm:prSet presAssocID="{C4321FF5-E2B9-4770-B2DC-894D666A0DC1}" presName="connectorText" presStyleLbl="sibTrans1D1" presStyleIdx="2" presStyleCnt="7"/>
      <dgm:spPr/>
    </dgm:pt>
    <dgm:pt modelId="{EE8A1910-88AC-AF49-ADDA-EB412B863237}" type="pres">
      <dgm:prSet presAssocID="{96444A7B-26EF-4A4D-ADBC-5092122E12F3}" presName="node" presStyleLbl="node1" presStyleIdx="3" presStyleCnt="8">
        <dgm:presLayoutVars>
          <dgm:bulletEnabled val="1"/>
        </dgm:presLayoutVars>
      </dgm:prSet>
      <dgm:spPr/>
    </dgm:pt>
    <dgm:pt modelId="{471686FD-406A-3E41-8CB8-0C550BBECB16}" type="pres">
      <dgm:prSet presAssocID="{4E7756A9-763E-9744-852C-817F830DA1D5}" presName="sibTrans" presStyleLbl="sibTrans1D1" presStyleIdx="3" presStyleCnt="7"/>
      <dgm:spPr/>
    </dgm:pt>
    <dgm:pt modelId="{F4914304-2B3C-C847-95FC-3D6067BEB363}" type="pres">
      <dgm:prSet presAssocID="{4E7756A9-763E-9744-852C-817F830DA1D5}" presName="connectorText" presStyleLbl="sibTrans1D1" presStyleIdx="3" presStyleCnt="7"/>
      <dgm:spPr/>
    </dgm:pt>
    <dgm:pt modelId="{176EC6D0-67AE-4747-82EE-955BD7625FA5}" type="pres">
      <dgm:prSet presAssocID="{E617754A-4F3B-411E-BE9F-83939A4087AE}" presName="node" presStyleLbl="node1" presStyleIdx="4" presStyleCnt="8">
        <dgm:presLayoutVars>
          <dgm:bulletEnabled val="1"/>
        </dgm:presLayoutVars>
      </dgm:prSet>
      <dgm:spPr/>
    </dgm:pt>
    <dgm:pt modelId="{705B5ABA-B61E-9B4B-85F0-0A29A703766D}" type="pres">
      <dgm:prSet presAssocID="{3E3F95CC-45DC-477C-8648-D7DBE58F5297}" presName="sibTrans" presStyleLbl="sibTrans1D1" presStyleIdx="4" presStyleCnt="7"/>
      <dgm:spPr/>
    </dgm:pt>
    <dgm:pt modelId="{48700BB0-570B-1E4E-9667-63DEE96B8531}" type="pres">
      <dgm:prSet presAssocID="{3E3F95CC-45DC-477C-8648-D7DBE58F5297}" presName="connectorText" presStyleLbl="sibTrans1D1" presStyleIdx="4" presStyleCnt="7"/>
      <dgm:spPr/>
    </dgm:pt>
    <dgm:pt modelId="{9DB95B9C-492A-8245-BB87-DEE83F12119A}" type="pres">
      <dgm:prSet presAssocID="{9FBE66AF-DF35-4756-8BEB-2B4516BF9CFC}" presName="node" presStyleLbl="node1" presStyleIdx="5" presStyleCnt="8">
        <dgm:presLayoutVars>
          <dgm:bulletEnabled val="1"/>
        </dgm:presLayoutVars>
      </dgm:prSet>
      <dgm:spPr/>
    </dgm:pt>
    <dgm:pt modelId="{7463809A-23BB-7246-8B88-56E45BDCD981}" type="pres">
      <dgm:prSet presAssocID="{86BF76B4-B1A7-45B5-B68E-B4290906589A}" presName="sibTrans" presStyleLbl="sibTrans1D1" presStyleIdx="5" presStyleCnt="7"/>
      <dgm:spPr/>
    </dgm:pt>
    <dgm:pt modelId="{C5260ED3-C539-A045-BDCD-E3E00552673F}" type="pres">
      <dgm:prSet presAssocID="{86BF76B4-B1A7-45B5-B68E-B4290906589A}" presName="connectorText" presStyleLbl="sibTrans1D1" presStyleIdx="5" presStyleCnt="7"/>
      <dgm:spPr/>
    </dgm:pt>
    <dgm:pt modelId="{95DDEFB1-7096-3340-AE30-F3730E04FCAB}" type="pres">
      <dgm:prSet presAssocID="{1F22184B-B1F1-4697-9CD1-7646799DE6CC}" presName="node" presStyleLbl="node1" presStyleIdx="6" presStyleCnt="8">
        <dgm:presLayoutVars>
          <dgm:bulletEnabled val="1"/>
        </dgm:presLayoutVars>
      </dgm:prSet>
      <dgm:spPr/>
    </dgm:pt>
    <dgm:pt modelId="{0EFE9902-F90D-1A40-886B-36E8A5554A63}" type="pres">
      <dgm:prSet presAssocID="{E89D5EBF-AE6F-47B4-821B-0CB081E3B6F5}" presName="sibTrans" presStyleLbl="sibTrans1D1" presStyleIdx="6" presStyleCnt="7"/>
      <dgm:spPr/>
    </dgm:pt>
    <dgm:pt modelId="{19FB5323-B220-4740-BA58-C3DBE64FCF0D}" type="pres">
      <dgm:prSet presAssocID="{E89D5EBF-AE6F-47B4-821B-0CB081E3B6F5}" presName="connectorText" presStyleLbl="sibTrans1D1" presStyleIdx="6" presStyleCnt="7"/>
      <dgm:spPr/>
    </dgm:pt>
    <dgm:pt modelId="{4CA09723-4B60-D941-8251-FD321587A09A}" type="pres">
      <dgm:prSet presAssocID="{E035409C-12D3-4B6C-8686-B795E836939F}" presName="node" presStyleLbl="node1" presStyleIdx="7" presStyleCnt="8">
        <dgm:presLayoutVars>
          <dgm:bulletEnabled val="1"/>
        </dgm:presLayoutVars>
      </dgm:prSet>
      <dgm:spPr/>
    </dgm:pt>
  </dgm:ptLst>
  <dgm:cxnLst>
    <dgm:cxn modelId="{2085531F-2AD5-4B45-9B21-19F73D78AFDF}" type="presOf" srcId="{96444A7B-26EF-4A4D-ADBC-5092122E12F3}" destId="{EE8A1910-88AC-AF49-ADDA-EB412B863237}" srcOrd="0" destOrd="0" presId="urn:microsoft.com/office/officeart/2016/7/layout/RepeatingBendingProcessNew"/>
    <dgm:cxn modelId="{8D38E61F-4331-0E44-8CBC-3DB5C63CC37F}" type="presOf" srcId="{3E3F95CC-45DC-477C-8648-D7DBE58F5297}" destId="{48700BB0-570B-1E4E-9667-63DEE96B8531}" srcOrd="1" destOrd="0" presId="urn:microsoft.com/office/officeart/2016/7/layout/RepeatingBendingProcessNew"/>
    <dgm:cxn modelId="{27E30020-69AA-46BA-BAE3-DD094F3EE5FC}" srcId="{769BEDAA-1630-4C90-8369-32D0DBB195DC}" destId="{A8615C4C-A1CE-45EA-883A-C2BD74D519EA}" srcOrd="0" destOrd="0" parTransId="{32FD897E-E0A9-4ADE-8B96-47E3D1ACD064}" sibTransId="{7B8E537E-D7E3-4E07-A394-917EF6164686}"/>
    <dgm:cxn modelId="{5E140128-9973-6A43-A751-3D49C57CAF10}" type="presOf" srcId="{86BF76B4-B1A7-45B5-B68E-B4290906589A}" destId="{7463809A-23BB-7246-8B88-56E45BDCD981}" srcOrd="0" destOrd="0" presId="urn:microsoft.com/office/officeart/2016/7/layout/RepeatingBendingProcessNew"/>
    <dgm:cxn modelId="{217B0E32-13DC-794E-AE52-6EAF598298B8}" type="presOf" srcId="{68818587-38F2-45F5-97F5-E3C9F5373B2F}" destId="{137404B3-429F-F142-A772-8CDF09A8CE6C}" srcOrd="0" destOrd="0" presId="urn:microsoft.com/office/officeart/2016/7/layout/RepeatingBendingProcessNew"/>
    <dgm:cxn modelId="{A673F835-D7B6-814A-B984-B6CD34EDD7E3}" type="presOf" srcId="{7B8E537E-D7E3-4E07-A394-917EF6164686}" destId="{4192128C-0599-1B4F-BC7B-C62FE2CC1DC3}" srcOrd="1" destOrd="0" presId="urn:microsoft.com/office/officeart/2016/7/layout/RepeatingBendingProcessNew"/>
    <dgm:cxn modelId="{F2904337-17FA-734C-B419-A0D2213EC247}" type="presOf" srcId="{E035409C-12D3-4B6C-8686-B795E836939F}" destId="{4CA09723-4B60-D941-8251-FD321587A09A}" srcOrd="0" destOrd="0" presId="urn:microsoft.com/office/officeart/2016/7/layout/RepeatingBendingProcessNew"/>
    <dgm:cxn modelId="{6A4A9945-7BDB-3D4C-98BD-2AD724D93D57}" type="presOf" srcId="{1F22184B-B1F1-4697-9CD1-7646799DE6CC}" destId="{95DDEFB1-7096-3340-AE30-F3730E04FCAB}" srcOrd="0" destOrd="0" presId="urn:microsoft.com/office/officeart/2016/7/layout/RepeatingBendingProcessNew"/>
    <dgm:cxn modelId="{BA05B95F-0F85-DA4F-8748-4F010181842A}" type="presOf" srcId="{E617754A-4F3B-411E-BE9F-83939A4087AE}" destId="{176EC6D0-67AE-4747-82EE-955BD7625FA5}" srcOrd="0" destOrd="0" presId="urn:microsoft.com/office/officeart/2016/7/layout/RepeatingBendingProcessNew"/>
    <dgm:cxn modelId="{B391FC62-31C4-9B4C-BDC9-874FA509AA9B}" type="presOf" srcId="{7B8E537E-D7E3-4E07-A394-917EF6164686}" destId="{A8BB06B1-60D3-DD4B-800F-4EB4F7352D1D}" srcOrd="0" destOrd="0" presId="urn:microsoft.com/office/officeart/2016/7/layout/RepeatingBendingProcessNew"/>
    <dgm:cxn modelId="{C6E9F16F-BDB0-5649-9112-9DC8C5918698}" type="presOf" srcId="{86BF76B4-B1A7-45B5-B68E-B4290906589A}" destId="{C5260ED3-C539-A045-BDCD-E3E00552673F}" srcOrd="1" destOrd="0" presId="urn:microsoft.com/office/officeart/2016/7/layout/RepeatingBendingProcessNew"/>
    <dgm:cxn modelId="{0E1E4477-E67D-43C4-B526-E2B93ED17BC9}" srcId="{769BEDAA-1630-4C90-8369-32D0DBB195DC}" destId="{9FBE66AF-DF35-4756-8BEB-2B4516BF9CFC}" srcOrd="5" destOrd="0" parTransId="{27C67749-463C-4845-B5E5-6B938B764E89}" sibTransId="{86BF76B4-B1A7-45B5-B68E-B4290906589A}"/>
    <dgm:cxn modelId="{FEA2137E-A675-7142-BD0E-032FF2EB5B16}" type="presOf" srcId="{4E7756A9-763E-9744-852C-817F830DA1D5}" destId="{F4914304-2B3C-C847-95FC-3D6067BEB363}" srcOrd="1" destOrd="0" presId="urn:microsoft.com/office/officeart/2016/7/layout/RepeatingBendingProcessNew"/>
    <dgm:cxn modelId="{46CDF485-9194-47F8-9C74-449A172B9506}" srcId="{769BEDAA-1630-4C90-8369-32D0DBB195DC}" destId="{E035409C-12D3-4B6C-8686-B795E836939F}" srcOrd="7" destOrd="0" parTransId="{0F68C5C0-E70F-4AF7-A624-004B60C52162}" sibTransId="{B8F49C15-CF2F-43C8-AFCB-1D5EF58C9CCF}"/>
    <dgm:cxn modelId="{D8DE9A8E-C538-E448-9DF0-9A922464ABBD}" srcId="{769BEDAA-1630-4C90-8369-32D0DBB195DC}" destId="{96444A7B-26EF-4A4D-ADBC-5092122E12F3}" srcOrd="3" destOrd="0" parTransId="{D6425E17-3B05-704C-887B-A2B163C7A5F1}" sibTransId="{4E7756A9-763E-9744-852C-817F830DA1D5}"/>
    <dgm:cxn modelId="{3AAEE68E-D28A-AD46-B186-803E423B260C}" type="presOf" srcId="{C4321FF5-E2B9-4770-B2DC-894D666A0DC1}" destId="{9F972089-838C-EB4F-AA4A-DAFBF7F8EEFF}" srcOrd="1" destOrd="0" presId="urn:microsoft.com/office/officeart/2016/7/layout/RepeatingBendingProcessNew"/>
    <dgm:cxn modelId="{2C76F591-A988-422D-AE6C-04D3C4F0DBAA}" srcId="{769BEDAA-1630-4C90-8369-32D0DBB195DC}" destId="{68818587-38F2-45F5-97F5-E3C9F5373B2F}" srcOrd="2" destOrd="0" parTransId="{4F18D565-B646-49AF-BFCE-9298FD4905C6}" sibTransId="{C4321FF5-E2B9-4770-B2DC-894D666A0DC1}"/>
    <dgm:cxn modelId="{8C766AA1-175F-467F-AAC2-9A86B3444167}" srcId="{769BEDAA-1630-4C90-8369-32D0DBB195DC}" destId="{1F22184B-B1F1-4697-9CD1-7646799DE6CC}" srcOrd="6" destOrd="0" parTransId="{A53114B3-2AC6-4531-AFD9-86CF598FB96C}" sibTransId="{E89D5EBF-AE6F-47B4-821B-0CB081E3B6F5}"/>
    <dgm:cxn modelId="{5759BCAB-BFD3-C44B-BF48-68D7EF9D1D9A}" type="presOf" srcId="{A8615C4C-A1CE-45EA-883A-C2BD74D519EA}" destId="{3BB37A5D-C9A9-2C4D-B8A7-C212FB65207E}" srcOrd="0" destOrd="0" presId="urn:microsoft.com/office/officeart/2016/7/layout/RepeatingBendingProcessNew"/>
    <dgm:cxn modelId="{6C283EBD-C227-734D-9DFB-760F48902F33}" type="presOf" srcId="{E89D5EBF-AE6F-47B4-821B-0CB081E3B6F5}" destId="{0EFE9902-F90D-1A40-886B-36E8A5554A63}" srcOrd="0" destOrd="0" presId="urn:microsoft.com/office/officeart/2016/7/layout/RepeatingBendingProcessNew"/>
    <dgm:cxn modelId="{DE3F5EC1-0B63-A240-BB43-D9AB97901D31}" type="presOf" srcId="{0146D00F-58CE-472E-99E5-C7D7A07F86E0}" destId="{89F35CA1-4D8A-7541-B8CB-37A9FDD57449}" srcOrd="1" destOrd="0" presId="urn:microsoft.com/office/officeart/2016/7/layout/RepeatingBendingProcessNew"/>
    <dgm:cxn modelId="{FDA049CC-728C-A742-9004-2361A5F42B7C}" type="presOf" srcId="{C4321FF5-E2B9-4770-B2DC-894D666A0DC1}" destId="{F7EAA4DC-4FEC-274E-AF05-FC2E3952040C}" srcOrd="0" destOrd="0" presId="urn:microsoft.com/office/officeart/2016/7/layout/RepeatingBendingProcessNew"/>
    <dgm:cxn modelId="{AA9B48CF-C152-8D45-A234-5D12672A7564}" type="presOf" srcId="{E89D5EBF-AE6F-47B4-821B-0CB081E3B6F5}" destId="{19FB5323-B220-4740-BA58-C3DBE64FCF0D}" srcOrd="1" destOrd="0" presId="urn:microsoft.com/office/officeart/2016/7/layout/RepeatingBendingProcessNew"/>
    <dgm:cxn modelId="{A8B16CCF-671F-4A6D-86A8-1A64A90D9B7F}" srcId="{769BEDAA-1630-4C90-8369-32D0DBB195DC}" destId="{F64DC1E5-1C4F-49F6-A95D-1FCA79C3328D}" srcOrd="1" destOrd="0" parTransId="{B077EEDC-2793-4E33-AF6B-320809902CE5}" sibTransId="{0146D00F-58CE-472E-99E5-C7D7A07F86E0}"/>
    <dgm:cxn modelId="{B692B8DA-6012-3B46-AA1B-02022CF86856}" type="presOf" srcId="{769BEDAA-1630-4C90-8369-32D0DBB195DC}" destId="{24B9A640-CABF-D048-AE30-F50921FC55C4}" srcOrd="0" destOrd="0" presId="urn:microsoft.com/office/officeart/2016/7/layout/RepeatingBendingProcessNew"/>
    <dgm:cxn modelId="{0B4AE2E0-AEC3-E74E-A77A-C9C8C72917BB}" type="presOf" srcId="{0146D00F-58CE-472E-99E5-C7D7A07F86E0}" destId="{78BAE45A-EA2B-9043-A50E-A11971377FFE}" srcOrd="0" destOrd="0" presId="urn:microsoft.com/office/officeart/2016/7/layout/RepeatingBendingProcessNew"/>
    <dgm:cxn modelId="{1767E9E7-F0F9-4FB2-9D3F-93FD3B57D060}" srcId="{769BEDAA-1630-4C90-8369-32D0DBB195DC}" destId="{E617754A-4F3B-411E-BE9F-83939A4087AE}" srcOrd="4" destOrd="0" parTransId="{B0CE7A85-2945-47C7-84F6-A12964A1C0EA}" sibTransId="{3E3F95CC-45DC-477C-8648-D7DBE58F5297}"/>
    <dgm:cxn modelId="{EAA435E8-A6EF-9948-9CF4-BE931C8ADFC9}" type="presOf" srcId="{4E7756A9-763E-9744-852C-817F830DA1D5}" destId="{471686FD-406A-3E41-8CB8-0C550BBECB16}" srcOrd="0" destOrd="0" presId="urn:microsoft.com/office/officeart/2016/7/layout/RepeatingBendingProcessNew"/>
    <dgm:cxn modelId="{2B5CC4EA-AC2A-264D-A9A4-3712EA8FFD46}" type="presOf" srcId="{F64DC1E5-1C4F-49F6-A95D-1FCA79C3328D}" destId="{328A4A50-2A2D-B440-AEF0-0C0834B54D04}" srcOrd="0" destOrd="0" presId="urn:microsoft.com/office/officeart/2016/7/layout/RepeatingBendingProcessNew"/>
    <dgm:cxn modelId="{A36AB8F4-92A2-C148-93E2-8D7C76847D3D}" type="presOf" srcId="{9FBE66AF-DF35-4756-8BEB-2B4516BF9CFC}" destId="{9DB95B9C-492A-8245-BB87-DEE83F12119A}" srcOrd="0" destOrd="0" presId="urn:microsoft.com/office/officeart/2016/7/layout/RepeatingBendingProcessNew"/>
    <dgm:cxn modelId="{64CD09F6-69E5-334A-AA30-1DB9FD71930D}" type="presOf" srcId="{3E3F95CC-45DC-477C-8648-D7DBE58F5297}" destId="{705B5ABA-B61E-9B4B-85F0-0A29A703766D}" srcOrd="0" destOrd="0" presId="urn:microsoft.com/office/officeart/2016/7/layout/RepeatingBendingProcessNew"/>
    <dgm:cxn modelId="{F5A13CDC-F125-BF4F-A7A0-F03C03CFA2D6}" type="presParOf" srcId="{24B9A640-CABF-D048-AE30-F50921FC55C4}" destId="{3BB37A5D-C9A9-2C4D-B8A7-C212FB65207E}" srcOrd="0" destOrd="0" presId="urn:microsoft.com/office/officeart/2016/7/layout/RepeatingBendingProcessNew"/>
    <dgm:cxn modelId="{102B110E-7765-2A4D-835F-DE83A783F73A}" type="presParOf" srcId="{24B9A640-CABF-D048-AE30-F50921FC55C4}" destId="{A8BB06B1-60D3-DD4B-800F-4EB4F7352D1D}" srcOrd="1" destOrd="0" presId="urn:microsoft.com/office/officeart/2016/7/layout/RepeatingBendingProcessNew"/>
    <dgm:cxn modelId="{CFA3B714-7A29-6945-80A1-AEDE913043F5}" type="presParOf" srcId="{A8BB06B1-60D3-DD4B-800F-4EB4F7352D1D}" destId="{4192128C-0599-1B4F-BC7B-C62FE2CC1DC3}" srcOrd="0" destOrd="0" presId="urn:microsoft.com/office/officeart/2016/7/layout/RepeatingBendingProcessNew"/>
    <dgm:cxn modelId="{286E4FF3-E007-364A-A9C8-0FE4F6F89A9B}" type="presParOf" srcId="{24B9A640-CABF-D048-AE30-F50921FC55C4}" destId="{328A4A50-2A2D-B440-AEF0-0C0834B54D04}" srcOrd="2" destOrd="0" presId="urn:microsoft.com/office/officeart/2016/7/layout/RepeatingBendingProcessNew"/>
    <dgm:cxn modelId="{917DFEBB-D4FD-A143-93D2-9FA396A519E2}" type="presParOf" srcId="{24B9A640-CABF-D048-AE30-F50921FC55C4}" destId="{78BAE45A-EA2B-9043-A50E-A11971377FFE}" srcOrd="3" destOrd="0" presId="urn:microsoft.com/office/officeart/2016/7/layout/RepeatingBendingProcessNew"/>
    <dgm:cxn modelId="{FD1B9616-2059-C848-A419-CB8F66837344}" type="presParOf" srcId="{78BAE45A-EA2B-9043-A50E-A11971377FFE}" destId="{89F35CA1-4D8A-7541-B8CB-37A9FDD57449}" srcOrd="0" destOrd="0" presId="urn:microsoft.com/office/officeart/2016/7/layout/RepeatingBendingProcessNew"/>
    <dgm:cxn modelId="{594E39DD-F02E-0646-B0AD-136B7D3DD859}" type="presParOf" srcId="{24B9A640-CABF-D048-AE30-F50921FC55C4}" destId="{137404B3-429F-F142-A772-8CDF09A8CE6C}" srcOrd="4" destOrd="0" presId="urn:microsoft.com/office/officeart/2016/7/layout/RepeatingBendingProcessNew"/>
    <dgm:cxn modelId="{31FA48C1-1A3C-EF45-B784-AC389023A2F4}" type="presParOf" srcId="{24B9A640-CABF-D048-AE30-F50921FC55C4}" destId="{F7EAA4DC-4FEC-274E-AF05-FC2E3952040C}" srcOrd="5" destOrd="0" presId="urn:microsoft.com/office/officeart/2016/7/layout/RepeatingBendingProcessNew"/>
    <dgm:cxn modelId="{F7B63253-C180-E042-9BA6-A630A56DB640}" type="presParOf" srcId="{F7EAA4DC-4FEC-274E-AF05-FC2E3952040C}" destId="{9F972089-838C-EB4F-AA4A-DAFBF7F8EEFF}" srcOrd="0" destOrd="0" presId="urn:microsoft.com/office/officeart/2016/7/layout/RepeatingBendingProcessNew"/>
    <dgm:cxn modelId="{D096D5B2-9523-8D43-86C7-8896D440B9A3}" type="presParOf" srcId="{24B9A640-CABF-D048-AE30-F50921FC55C4}" destId="{EE8A1910-88AC-AF49-ADDA-EB412B863237}" srcOrd="6" destOrd="0" presId="urn:microsoft.com/office/officeart/2016/7/layout/RepeatingBendingProcessNew"/>
    <dgm:cxn modelId="{9907F343-7704-1B4C-91BC-F38F440B52DE}" type="presParOf" srcId="{24B9A640-CABF-D048-AE30-F50921FC55C4}" destId="{471686FD-406A-3E41-8CB8-0C550BBECB16}" srcOrd="7" destOrd="0" presId="urn:microsoft.com/office/officeart/2016/7/layout/RepeatingBendingProcessNew"/>
    <dgm:cxn modelId="{FEFB323C-EAF5-844E-9BBC-12D64ECDE248}" type="presParOf" srcId="{471686FD-406A-3E41-8CB8-0C550BBECB16}" destId="{F4914304-2B3C-C847-95FC-3D6067BEB363}" srcOrd="0" destOrd="0" presId="urn:microsoft.com/office/officeart/2016/7/layout/RepeatingBendingProcessNew"/>
    <dgm:cxn modelId="{61D61C55-9E1C-4141-ADA7-C95343620C51}" type="presParOf" srcId="{24B9A640-CABF-D048-AE30-F50921FC55C4}" destId="{176EC6D0-67AE-4747-82EE-955BD7625FA5}" srcOrd="8" destOrd="0" presId="urn:microsoft.com/office/officeart/2016/7/layout/RepeatingBendingProcessNew"/>
    <dgm:cxn modelId="{BD54B8A1-6CA5-7049-B89E-ED1CF206DF01}" type="presParOf" srcId="{24B9A640-CABF-D048-AE30-F50921FC55C4}" destId="{705B5ABA-B61E-9B4B-85F0-0A29A703766D}" srcOrd="9" destOrd="0" presId="urn:microsoft.com/office/officeart/2016/7/layout/RepeatingBendingProcessNew"/>
    <dgm:cxn modelId="{06CAD13F-54AC-C145-AE8C-403B3B05E300}" type="presParOf" srcId="{705B5ABA-B61E-9B4B-85F0-0A29A703766D}" destId="{48700BB0-570B-1E4E-9667-63DEE96B8531}" srcOrd="0" destOrd="0" presId="urn:microsoft.com/office/officeart/2016/7/layout/RepeatingBendingProcessNew"/>
    <dgm:cxn modelId="{B5EA69B7-6413-4543-A4E2-07CB0DA2AEF6}" type="presParOf" srcId="{24B9A640-CABF-D048-AE30-F50921FC55C4}" destId="{9DB95B9C-492A-8245-BB87-DEE83F12119A}" srcOrd="10" destOrd="0" presId="urn:microsoft.com/office/officeart/2016/7/layout/RepeatingBendingProcessNew"/>
    <dgm:cxn modelId="{9E29F76E-BD2B-EE4A-AF9B-1ADECC70A26C}" type="presParOf" srcId="{24B9A640-CABF-D048-AE30-F50921FC55C4}" destId="{7463809A-23BB-7246-8B88-56E45BDCD981}" srcOrd="11" destOrd="0" presId="urn:microsoft.com/office/officeart/2016/7/layout/RepeatingBendingProcessNew"/>
    <dgm:cxn modelId="{38DD1DD5-185F-CC43-AFA5-F28BF6D7F67C}" type="presParOf" srcId="{7463809A-23BB-7246-8B88-56E45BDCD981}" destId="{C5260ED3-C539-A045-BDCD-E3E00552673F}" srcOrd="0" destOrd="0" presId="urn:microsoft.com/office/officeart/2016/7/layout/RepeatingBendingProcessNew"/>
    <dgm:cxn modelId="{E67DC231-7B08-D54A-A248-5AB5DD87C5F8}" type="presParOf" srcId="{24B9A640-CABF-D048-AE30-F50921FC55C4}" destId="{95DDEFB1-7096-3340-AE30-F3730E04FCAB}" srcOrd="12" destOrd="0" presId="urn:microsoft.com/office/officeart/2016/7/layout/RepeatingBendingProcessNew"/>
    <dgm:cxn modelId="{421A6077-33A3-F74C-A896-6B897DAF674B}" type="presParOf" srcId="{24B9A640-CABF-D048-AE30-F50921FC55C4}" destId="{0EFE9902-F90D-1A40-886B-36E8A5554A63}" srcOrd="13" destOrd="0" presId="urn:microsoft.com/office/officeart/2016/7/layout/RepeatingBendingProcessNew"/>
    <dgm:cxn modelId="{C5CB8717-6D27-BB48-841C-02E6E15B6C35}" type="presParOf" srcId="{0EFE9902-F90D-1A40-886B-36E8A5554A63}" destId="{19FB5323-B220-4740-BA58-C3DBE64FCF0D}" srcOrd="0" destOrd="0" presId="urn:microsoft.com/office/officeart/2016/7/layout/RepeatingBendingProcessNew"/>
    <dgm:cxn modelId="{2E8E9569-D953-9F4B-AA07-279B2DDC7B3B}" type="presParOf" srcId="{24B9A640-CABF-D048-AE30-F50921FC55C4}" destId="{4CA09723-4B60-D941-8251-FD321587A09A}"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AEB2E0-B253-3147-94B9-55CCD3FA1AE3}">
      <dsp:nvSpPr>
        <dsp:cNvPr id="0" name=""/>
        <dsp:cNvSpPr/>
      </dsp:nvSpPr>
      <dsp:spPr>
        <a:xfrm>
          <a:off x="788670" y="0"/>
          <a:ext cx="8938260" cy="132556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3B85D5-77AD-064D-8124-67182CBB0742}">
      <dsp:nvSpPr>
        <dsp:cNvPr id="0" name=""/>
        <dsp:cNvSpPr/>
      </dsp:nvSpPr>
      <dsp:spPr>
        <a:xfrm>
          <a:off x="3680460" y="397668"/>
          <a:ext cx="3154680" cy="53022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Four Scenarios</a:t>
          </a:r>
        </a:p>
      </dsp:txBody>
      <dsp:txXfrm>
        <a:off x="3706343" y="423551"/>
        <a:ext cx="3102914" cy="4784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366D26-A3AC-A448-8578-07A022AD04B9}">
      <dsp:nvSpPr>
        <dsp:cNvPr id="0" name=""/>
        <dsp:cNvSpPr/>
      </dsp:nvSpPr>
      <dsp:spPr>
        <a:xfrm>
          <a:off x="788670" y="0"/>
          <a:ext cx="8938260"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09671C-AE8B-9949-BE38-94753709CFFD}">
      <dsp:nvSpPr>
        <dsp:cNvPr id="0" name=""/>
        <dsp:cNvSpPr/>
      </dsp:nvSpPr>
      <dsp:spPr>
        <a:xfrm>
          <a:off x="5262" y="1305401"/>
          <a:ext cx="2531343" cy="17405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Business as Usual</a:t>
          </a:r>
        </a:p>
      </dsp:txBody>
      <dsp:txXfrm>
        <a:off x="90228" y="1390367"/>
        <a:ext cx="2361411" cy="1570603"/>
      </dsp:txXfrm>
    </dsp:sp>
    <dsp:sp modelId="{9C6975CC-3342-EF4F-AD90-C44512DCD63E}">
      <dsp:nvSpPr>
        <dsp:cNvPr id="0" name=""/>
        <dsp:cNvSpPr/>
      </dsp:nvSpPr>
      <dsp:spPr>
        <a:xfrm>
          <a:off x="2663173" y="1305401"/>
          <a:ext cx="2531343" cy="17405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Isolated Cluster Successes</a:t>
          </a:r>
        </a:p>
      </dsp:txBody>
      <dsp:txXfrm>
        <a:off x="2748139" y="1390367"/>
        <a:ext cx="2361411" cy="1570603"/>
      </dsp:txXfrm>
    </dsp:sp>
    <dsp:sp modelId="{B0574867-8FC7-064D-906B-66CA013C12E7}">
      <dsp:nvSpPr>
        <dsp:cNvPr id="0" name=""/>
        <dsp:cNvSpPr/>
      </dsp:nvSpPr>
      <dsp:spPr>
        <a:xfrm>
          <a:off x="5321083" y="1305401"/>
          <a:ext cx="2531343" cy="17405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Network of Globally Competitive Innovation Hubs </a:t>
          </a:r>
        </a:p>
      </dsp:txBody>
      <dsp:txXfrm>
        <a:off x="5406049" y="1390367"/>
        <a:ext cx="2361411" cy="1570603"/>
      </dsp:txXfrm>
    </dsp:sp>
    <dsp:sp modelId="{7E9ABAFB-D39C-464D-A8FB-1F93629F0400}">
      <dsp:nvSpPr>
        <dsp:cNvPr id="0" name=""/>
        <dsp:cNvSpPr/>
      </dsp:nvSpPr>
      <dsp:spPr>
        <a:xfrm>
          <a:off x="7978993" y="1305401"/>
          <a:ext cx="2531343" cy="17405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Successful Opportunism </a:t>
          </a:r>
        </a:p>
      </dsp:txBody>
      <dsp:txXfrm>
        <a:off x="8063959" y="1390367"/>
        <a:ext cx="2361411" cy="15706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DD1E5E-0E12-C940-943C-A63887E4889A}">
      <dsp:nvSpPr>
        <dsp:cNvPr id="0" name=""/>
        <dsp:cNvSpPr/>
      </dsp:nvSpPr>
      <dsp:spPr>
        <a:xfrm>
          <a:off x="2356501" y="1942"/>
          <a:ext cx="1966741" cy="1278381"/>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Cluster Initiatives</a:t>
          </a:r>
        </a:p>
      </dsp:txBody>
      <dsp:txXfrm>
        <a:off x="2418906" y="64347"/>
        <a:ext cx="1841931" cy="1153571"/>
      </dsp:txXfrm>
    </dsp:sp>
    <dsp:sp modelId="{DC197488-7E46-0F4E-B5F0-E3D34D6C2B11}">
      <dsp:nvSpPr>
        <dsp:cNvPr id="0" name=""/>
        <dsp:cNvSpPr/>
      </dsp:nvSpPr>
      <dsp:spPr>
        <a:xfrm>
          <a:off x="1228661" y="641133"/>
          <a:ext cx="4222421" cy="4222421"/>
        </a:xfrm>
        <a:custGeom>
          <a:avLst/>
          <a:gdLst/>
          <a:ahLst/>
          <a:cxnLst/>
          <a:rect l="0" t="0" r="0" b="0"/>
          <a:pathLst>
            <a:path>
              <a:moveTo>
                <a:pt x="3108735" y="250524"/>
              </a:moveTo>
              <a:arcTo wR="2111210" hR="2111210" stAng="17891761" swAng="2624733"/>
            </a:path>
          </a:pathLst>
        </a:cu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1AC8C4D-4F8D-7941-8583-3AC447CA5BD5}">
      <dsp:nvSpPr>
        <dsp:cNvPr id="0" name=""/>
        <dsp:cNvSpPr/>
      </dsp:nvSpPr>
      <dsp:spPr>
        <a:xfrm>
          <a:off x="4467712" y="2113153"/>
          <a:ext cx="1966741" cy="1278381"/>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Education and Workforce Programs</a:t>
          </a:r>
        </a:p>
      </dsp:txBody>
      <dsp:txXfrm>
        <a:off x="4530117" y="2175558"/>
        <a:ext cx="1841931" cy="1153571"/>
      </dsp:txXfrm>
    </dsp:sp>
    <dsp:sp modelId="{A6BA2FF3-5182-DD4A-BB21-572D318F73D2}">
      <dsp:nvSpPr>
        <dsp:cNvPr id="0" name=""/>
        <dsp:cNvSpPr/>
      </dsp:nvSpPr>
      <dsp:spPr>
        <a:xfrm>
          <a:off x="1228661" y="641133"/>
          <a:ext cx="4222421" cy="4222421"/>
        </a:xfrm>
        <a:custGeom>
          <a:avLst/>
          <a:gdLst/>
          <a:ahLst/>
          <a:cxnLst/>
          <a:rect l="0" t="0" r="0" b="0"/>
          <a:pathLst>
            <a:path>
              <a:moveTo>
                <a:pt x="4118425" y="2765658"/>
              </a:moveTo>
              <a:arcTo wR="2111210" hR="2111210" stAng="1083506" swAng="2624733"/>
            </a:path>
          </a:pathLst>
        </a:custGeom>
        <a:noFill/>
        <a:ln w="1270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8D40FEA-114C-634D-9859-2AC324DF6BBF}">
      <dsp:nvSpPr>
        <dsp:cNvPr id="0" name=""/>
        <dsp:cNvSpPr/>
      </dsp:nvSpPr>
      <dsp:spPr>
        <a:xfrm>
          <a:off x="2356501" y="4224363"/>
          <a:ext cx="1966741" cy="1278381"/>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Regional Collaborations</a:t>
          </a:r>
        </a:p>
      </dsp:txBody>
      <dsp:txXfrm>
        <a:off x="2418906" y="4286768"/>
        <a:ext cx="1841931" cy="1153571"/>
      </dsp:txXfrm>
    </dsp:sp>
    <dsp:sp modelId="{E9741238-0809-A740-B5F3-363D5D7C539E}">
      <dsp:nvSpPr>
        <dsp:cNvPr id="0" name=""/>
        <dsp:cNvSpPr/>
      </dsp:nvSpPr>
      <dsp:spPr>
        <a:xfrm>
          <a:off x="1228661" y="641133"/>
          <a:ext cx="4222421" cy="4222421"/>
        </a:xfrm>
        <a:custGeom>
          <a:avLst/>
          <a:gdLst/>
          <a:ahLst/>
          <a:cxnLst/>
          <a:rect l="0" t="0" r="0" b="0"/>
          <a:pathLst>
            <a:path>
              <a:moveTo>
                <a:pt x="1113685" y="3971897"/>
              </a:moveTo>
              <a:arcTo wR="2111210" hR="2111210" stAng="7091761" swAng="2624733"/>
            </a:path>
          </a:pathLst>
        </a:custGeom>
        <a:noFill/>
        <a:ln w="12700" cap="flat" cmpd="sng" algn="ctr">
          <a:solidFill>
            <a:schemeClr val="accent4">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A89D2F8-440D-BD49-8AAC-FC7AB2409D4E}">
      <dsp:nvSpPr>
        <dsp:cNvPr id="0" name=""/>
        <dsp:cNvSpPr/>
      </dsp:nvSpPr>
      <dsp:spPr>
        <a:xfrm>
          <a:off x="245290" y="2113153"/>
          <a:ext cx="1966741" cy="1278381"/>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Quality of Life Assets</a:t>
          </a:r>
        </a:p>
      </dsp:txBody>
      <dsp:txXfrm>
        <a:off x="307695" y="2175558"/>
        <a:ext cx="1841931" cy="1153571"/>
      </dsp:txXfrm>
    </dsp:sp>
    <dsp:sp modelId="{8103AF40-43C1-AF44-BA08-BAFF1DF4D31B}">
      <dsp:nvSpPr>
        <dsp:cNvPr id="0" name=""/>
        <dsp:cNvSpPr/>
      </dsp:nvSpPr>
      <dsp:spPr>
        <a:xfrm>
          <a:off x="1228661" y="641133"/>
          <a:ext cx="4222421" cy="4222421"/>
        </a:xfrm>
        <a:custGeom>
          <a:avLst/>
          <a:gdLst/>
          <a:ahLst/>
          <a:cxnLst/>
          <a:rect l="0" t="0" r="0" b="0"/>
          <a:pathLst>
            <a:path>
              <a:moveTo>
                <a:pt x="103996" y="1456763"/>
              </a:moveTo>
              <a:arcTo wR="2111210" hR="2111210" stAng="11883506" swAng="2624733"/>
            </a:path>
          </a:pathLst>
        </a:custGeom>
        <a:noFill/>
        <a:ln w="12700" cap="flat" cmpd="sng" algn="ctr">
          <a:solidFill>
            <a:schemeClr val="accent5">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BB06B1-60D3-DD4B-800F-4EB4F7352D1D}">
      <dsp:nvSpPr>
        <dsp:cNvPr id="0" name=""/>
        <dsp:cNvSpPr/>
      </dsp:nvSpPr>
      <dsp:spPr>
        <a:xfrm>
          <a:off x="2241532" y="998603"/>
          <a:ext cx="484885" cy="91440"/>
        </a:xfrm>
        <a:custGeom>
          <a:avLst/>
          <a:gdLst/>
          <a:ahLst/>
          <a:cxnLst/>
          <a:rect l="0" t="0" r="0" b="0"/>
          <a:pathLst>
            <a:path>
              <a:moveTo>
                <a:pt x="0" y="45720"/>
              </a:moveTo>
              <a:lnTo>
                <a:pt x="484885"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2471087" y="1041745"/>
        <a:ext cx="25774" cy="5154"/>
      </dsp:txXfrm>
    </dsp:sp>
    <dsp:sp modelId="{3BB37A5D-C9A9-2C4D-B8A7-C212FB65207E}">
      <dsp:nvSpPr>
        <dsp:cNvPr id="0" name=""/>
        <dsp:cNvSpPr/>
      </dsp:nvSpPr>
      <dsp:spPr>
        <a:xfrm>
          <a:off x="2092" y="371951"/>
          <a:ext cx="2241239" cy="134474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755650">
            <a:lnSpc>
              <a:spcPct val="100000"/>
            </a:lnSpc>
            <a:spcBef>
              <a:spcPct val="0"/>
            </a:spcBef>
            <a:spcAft>
              <a:spcPct val="35000"/>
            </a:spcAft>
            <a:buNone/>
          </a:pPr>
          <a:r>
            <a:rPr lang="en-US" sz="1700" kern="1200"/>
            <a:t>DEFINE YOUR REGION AND KEY DIFFERENTIATORS</a:t>
          </a:r>
          <a:endParaRPr lang="en-US" sz="1700" kern="1200" dirty="0"/>
        </a:p>
      </dsp:txBody>
      <dsp:txXfrm>
        <a:off x="2092" y="371951"/>
        <a:ext cx="2241239" cy="1344743"/>
      </dsp:txXfrm>
    </dsp:sp>
    <dsp:sp modelId="{78BAE45A-EA2B-9043-A50E-A11971377FFE}">
      <dsp:nvSpPr>
        <dsp:cNvPr id="0" name=""/>
        <dsp:cNvSpPr/>
      </dsp:nvSpPr>
      <dsp:spPr>
        <a:xfrm>
          <a:off x="4998257" y="998603"/>
          <a:ext cx="484885" cy="91440"/>
        </a:xfrm>
        <a:custGeom>
          <a:avLst/>
          <a:gdLst/>
          <a:ahLst/>
          <a:cxnLst/>
          <a:rect l="0" t="0" r="0" b="0"/>
          <a:pathLst>
            <a:path>
              <a:moveTo>
                <a:pt x="0" y="45720"/>
              </a:moveTo>
              <a:lnTo>
                <a:pt x="484885"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5227812" y="1041745"/>
        <a:ext cx="25774" cy="5154"/>
      </dsp:txXfrm>
    </dsp:sp>
    <dsp:sp modelId="{328A4A50-2A2D-B440-AEF0-0C0834B54D04}">
      <dsp:nvSpPr>
        <dsp:cNvPr id="0" name=""/>
        <dsp:cNvSpPr/>
      </dsp:nvSpPr>
      <dsp:spPr>
        <a:xfrm>
          <a:off x="2758817" y="371951"/>
          <a:ext cx="2241239" cy="1344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755650">
            <a:lnSpc>
              <a:spcPct val="100000"/>
            </a:lnSpc>
            <a:spcBef>
              <a:spcPct val="0"/>
            </a:spcBef>
            <a:spcAft>
              <a:spcPct val="35000"/>
            </a:spcAft>
            <a:buNone/>
          </a:pPr>
          <a:r>
            <a:rPr lang="en-US" sz="1700" kern="1200"/>
            <a:t>2-4 Sentences that describe your assets and market niche</a:t>
          </a:r>
        </a:p>
      </dsp:txBody>
      <dsp:txXfrm>
        <a:off x="2758817" y="371951"/>
        <a:ext cx="2241239" cy="1344743"/>
      </dsp:txXfrm>
    </dsp:sp>
    <dsp:sp modelId="{F7EAA4DC-4FEC-274E-AF05-FC2E3952040C}">
      <dsp:nvSpPr>
        <dsp:cNvPr id="0" name=""/>
        <dsp:cNvSpPr/>
      </dsp:nvSpPr>
      <dsp:spPr>
        <a:xfrm>
          <a:off x="7754982" y="998603"/>
          <a:ext cx="484885" cy="91440"/>
        </a:xfrm>
        <a:custGeom>
          <a:avLst/>
          <a:gdLst/>
          <a:ahLst/>
          <a:cxnLst/>
          <a:rect l="0" t="0" r="0" b="0"/>
          <a:pathLst>
            <a:path>
              <a:moveTo>
                <a:pt x="0" y="45720"/>
              </a:moveTo>
              <a:lnTo>
                <a:pt x="484885"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7984537" y="1041745"/>
        <a:ext cx="25774" cy="5154"/>
      </dsp:txXfrm>
    </dsp:sp>
    <dsp:sp modelId="{137404B3-429F-F142-A772-8CDF09A8CE6C}">
      <dsp:nvSpPr>
        <dsp:cNvPr id="0" name=""/>
        <dsp:cNvSpPr/>
      </dsp:nvSpPr>
      <dsp:spPr>
        <a:xfrm>
          <a:off x="5515542" y="371951"/>
          <a:ext cx="2241239" cy="134474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755650">
            <a:lnSpc>
              <a:spcPct val="90000"/>
            </a:lnSpc>
            <a:spcBef>
              <a:spcPct val="0"/>
            </a:spcBef>
            <a:spcAft>
              <a:spcPct val="35000"/>
            </a:spcAft>
            <a:buNone/>
          </a:pPr>
          <a:r>
            <a:rPr lang="en-US" sz="1700" kern="1200"/>
            <a:t>YOUR STRATEGIC PRIORITY AND WHY YOU CHOSE IT -</a:t>
          </a:r>
        </a:p>
      </dsp:txBody>
      <dsp:txXfrm>
        <a:off x="5515542" y="371951"/>
        <a:ext cx="2241239" cy="1344743"/>
      </dsp:txXfrm>
    </dsp:sp>
    <dsp:sp modelId="{471686FD-406A-3E41-8CB8-0C550BBECB16}">
      <dsp:nvSpPr>
        <dsp:cNvPr id="0" name=""/>
        <dsp:cNvSpPr/>
      </dsp:nvSpPr>
      <dsp:spPr>
        <a:xfrm>
          <a:off x="1122712" y="1714895"/>
          <a:ext cx="8270175" cy="484885"/>
        </a:xfrm>
        <a:custGeom>
          <a:avLst/>
          <a:gdLst/>
          <a:ahLst/>
          <a:cxnLst/>
          <a:rect l="0" t="0" r="0" b="0"/>
          <a:pathLst>
            <a:path>
              <a:moveTo>
                <a:pt x="8270175" y="0"/>
              </a:moveTo>
              <a:lnTo>
                <a:pt x="8270175" y="259542"/>
              </a:lnTo>
              <a:lnTo>
                <a:pt x="0" y="259542"/>
              </a:lnTo>
              <a:lnTo>
                <a:pt x="0" y="484885"/>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50644" y="1954760"/>
        <a:ext cx="414311" cy="5154"/>
      </dsp:txXfrm>
    </dsp:sp>
    <dsp:sp modelId="{EE8A1910-88AC-AF49-ADDA-EB412B863237}">
      <dsp:nvSpPr>
        <dsp:cNvPr id="0" name=""/>
        <dsp:cNvSpPr/>
      </dsp:nvSpPr>
      <dsp:spPr>
        <a:xfrm>
          <a:off x="8272267" y="371951"/>
          <a:ext cx="2241239" cy="134474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755650">
            <a:lnSpc>
              <a:spcPct val="100000"/>
            </a:lnSpc>
            <a:spcBef>
              <a:spcPct val="0"/>
            </a:spcBef>
            <a:spcAft>
              <a:spcPct val="35000"/>
            </a:spcAft>
            <a:buNone/>
          </a:pPr>
          <a:r>
            <a:rPr lang="en-US" sz="1700" kern="1200"/>
            <a:t> 1 sentence supported by 3 to 5 evidence-based bullet points.</a:t>
          </a:r>
        </a:p>
      </dsp:txBody>
      <dsp:txXfrm>
        <a:off x="8272267" y="371951"/>
        <a:ext cx="2241239" cy="1344743"/>
      </dsp:txXfrm>
    </dsp:sp>
    <dsp:sp modelId="{705B5ABA-B61E-9B4B-85F0-0A29A703766D}">
      <dsp:nvSpPr>
        <dsp:cNvPr id="0" name=""/>
        <dsp:cNvSpPr/>
      </dsp:nvSpPr>
      <dsp:spPr>
        <a:xfrm>
          <a:off x="2241532" y="2858832"/>
          <a:ext cx="484885" cy="91440"/>
        </a:xfrm>
        <a:custGeom>
          <a:avLst/>
          <a:gdLst/>
          <a:ahLst/>
          <a:cxnLst/>
          <a:rect l="0" t="0" r="0" b="0"/>
          <a:pathLst>
            <a:path>
              <a:moveTo>
                <a:pt x="0" y="45720"/>
              </a:moveTo>
              <a:lnTo>
                <a:pt x="484885"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2471087" y="2901975"/>
        <a:ext cx="25774" cy="5154"/>
      </dsp:txXfrm>
    </dsp:sp>
    <dsp:sp modelId="{176EC6D0-67AE-4747-82EE-955BD7625FA5}">
      <dsp:nvSpPr>
        <dsp:cNvPr id="0" name=""/>
        <dsp:cNvSpPr/>
      </dsp:nvSpPr>
      <dsp:spPr>
        <a:xfrm>
          <a:off x="2092" y="2232180"/>
          <a:ext cx="2241239" cy="134474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755650">
            <a:lnSpc>
              <a:spcPct val="100000"/>
            </a:lnSpc>
            <a:spcBef>
              <a:spcPct val="0"/>
            </a:spcBef>
            <a:spcAft>
              <a:spcPct val="35000"/>
            </a:spcAft>
            <a:buNone/>
          </a:pPr>
          <a:r>
            <a:rPr lang="en-US" sz="1700" kern="1200"/>
            <a:t>HOW YOU WILL ACHIEVE IT AND MEASURE SUCCESS</a:t>
          </a:r>
        </a:p>
      </dsp:txBody>
      <dsp:txXfrm>
        <a:off x="2092" y="2232180"/>
        <a:ext cx="2241239" cy="1344743"/>
      </dsp:txXfrm>
    </dsp:sp>
    <dsp:sp modelId="{7463809A-23BB-7246-8B88-56E45BDCD981}">
      <dsp:nvSpPr>
        <dsp:cNvPr id="0" name=""/>
        <dsp:cNvSpPr/>
      </dsp:nvSpPr>
      <dsp:spPr>
        <a:xfrm>
          <a:off x="4998257" y="2858832"/>
          <a:ext cx="484885" cy="91440"/>
        </a:xfrm>
        <a:custGeom>
          <a:avLst/>
          <a:gdLst/>
          <a:ahLst/>
          <a:cxnLst/>
          <a:rect l="0" t="0" r="0" b="0"/>
          <a:pathLst>
            <a:path>
              <a:moveTo>
                <a:pt x="0" y="45720"/>
              </a:moveTo>
              <a:lnTo>
                <a:pt x="484885"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5227812" y="2901975"/>
        <a:ext cx="25774" cy="5154"/>
      </dsp:txXfrm>
    </dsp:sp>
    <dsp:sp modelId="{9DB95B9C-492A-8245-BB87-DEE83F12119A}">
      <dsp:nvSpPr>
        <dsp:cNvPr id="0" name=""/>
        <dsp:cNvSpPr/>
      </dsp:nvSpPr>
      <dsp:spPr>
        <a:xfrm>
          <a:off x="2758817" y="2232180"/>
          <a:ext cx="2241239" cy="134474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755650">
            <a:lnSpc>
              <a:spcPct val="100000"/>
            </a:lnSpc>
            <a:spcBef>
              <a:spcPct val="0"/>
            </a:spcBef>
            <a:spcAft>
              <a:spcPct val="35000"/>
            </a:spcAft>
            <a:buNone/>
          </a:pPr>
          <a:r>
            <a:rPr lang="en-US" sz="1700" kern="1200"/>
            <a:t>12-month action plan - 3 to 5 core actions.</a:t>
          </a:r>
        </a:p>
      </dsp:txBody>
      <dsp:txXfrm>
        <a:off x="2758817" y="2232180"/>
        <a:ext cx="2241239" cy="1344743"/>
      </dsp:txXfrm>
    </dsp:sp>
    <dsp:sp modelId="{0EFE9902-F90D-1A40-886B-36E8A5554A63}">
      <dsp:nvSpPr>
        <dsp:cNvPr id="0" name=""/>
        <dsp:cNvSpPr/>
      </dsp:nvSpPr>
      <dsp:spPr>
        <a:xfrm>
          <a:off x="7754982" y="2858832"/>
          <a:ext cx="484885" cy="91440"/>
        </a:xfrm>
        <a:custGeom>
          <a:avLst/>
          <a:gdLst/>
          <a:ahLst/>
          <a:cxnLst/>
          <a:rect l="0" t="0" r="0" b="0"/>
          <a:pathLst>
            <a:path>
              <a:moveTo>
                <a:pt x="0" y="45720"/>
              </a:moveTo>
              <a:lnTo>
                <a:pt x="484885"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7984537" y="2901975"/>
        <a:ext cx="25774" cy="5154"/>
      </dsp:txXfrm>
    </dsp:sp>
    <dsp:sp modelId="{95DDEFB1-7096-3340-AE30-F3730E04FCAB}">
      <dsp:nvSpPr>
        <dsp:cNvPr id="0" name=""/>
        <dsp:cNvSpPr/>
      </dsp:nvSpPr>
      <dsp:spPr>
        <a:xfrm>
          <a:off x="5515542" y="2232180"/>
          <a:ext cx="2241239" cy="1344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755650">
            <a:lnSpc>
              <a:spcPct val="100000"/>
            </a:lnSpc>
            <a:spcBef>
              <a:spcPct val="0"/>
            </a:spcBef>
            <a:spcAft>
              <a:spcPct val="35000"/>
            </a:spcAft>
            <a:buNone/>
          </a:pPr>
          <a:r>
            <a:rPr lang="en-US" sz="1700" kern="1200"/>
            <a:t>90-day activation agenda - immediate next steps and owners.</a:t>
          </a:r>
        </a:p>
      </dsp:txBody>
      <dsp:txXfrm>
        <a:off x="5515542" y="2232180"/>
        <a:ext cx="2241239" cy="1344743"/>
      </dsp:txXfrm>
    </dsp:sp>
    <dsp:sp modelId="{4CA09723-4B60-D941-8251-FD321587A09A}">
      <dsp:nvSpPr>
        <dsp:cNvPr id="0" name=""/>
        <dsp:cNvSpPr/>
      </dsp:nvSpPr>
      <dsp:spPr>
        <a:xfrm>
          <a:off x="8272267" y="2232180"/>
          <a:ext cx="2241239" cy="134474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755650">
            <a:lnSpc>
              <a:spcPct val="100000"/>
            </a:lnSpc>
            <a:spcBef>
              <a:spcPct val="0"/>
            </a:spcBef>
            <a:spcAft>
              <a:spcPct val="35000"/>
            </a:spcAft>
            <a:buNone/>
          </a:pPr>
          <a:r>
            <a:rPr lang="en-US" sz="1700" kern="1200"/>
            <a:t>Metrics - a short set of leading indicators and review dates.</a:t>
          </a:r>
        </a:p>
      </dsp:txBody>
      <dsp:txXfrm>
        <a:off x="8272267" y="2232180"/>
        <a:ext cx="2241239" cy="134474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A1881-782C-AF46-8573-8D7A902D9156}" type="datetimeFigureOut">
              <a:rPr lang="en-US" smtClean="0"/>
              <a:t>6/23/26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AA23A4-4D90-6140-B9A3-9F018449559B}" type="slidenum">
              <a:rPr lang="en-US" smtClean="0"/>
              <a:t>‹#›</a:t>
            </a:fld>
            <a:endParaRPr lang="en-US"/>
          </a:p>
        </p:txBody>
      </p:sp>
    </p:spTree>
    <p:extLst>
      <p:ext uri="{BB962C8B-B14F-4D97-AF65-F5344CB8AC3E}">
        <p14:creationId xmlns:p14="http://schemas.microsoft.com/office/powerpoint/2010/main" val="4082757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Acknowledge last speaker) Thank you for your  attention throughout the evening.  I know many of you from Leadership Tennessee (Alfred) and my work with the Andrews Institute for Civic Leadership which became the Lipscomb College of Leadership and Public Service.(Virginia) The work we did there was based on a simple principle --that great leaders, great communities, great states and yes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6AAA23A4-4D90-6140-B9A3-9F018449559B}" type="slidenum">
              <a:rPr lang="en-US" smtClean="0"/>
              <a:t>1</a:t>
            </a:fld>
            <a:endParaRPr lang="en-US"/>
          </a:p>
        </p:txBody>
      </p:sp>
    </p:spTree>
    <p:extLst>
      <p:ext uri="{BB962C8B-B14F-4D97-AF65-F5344CB8AC3E}">
        <p14:creationId xmlns:p14="http://schemas.microsoft.com/office/powerpoint/2010/main" val="3212339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Acknowledge last speaker)  GREAT REGIONS ARE INTENTIONAL NOT ACCIDENTAL -- You are already great leaders committed to your regions. You are here to build on that commitment with </a:t>
            </a:r>
            <a:r>
              <a:rPr lang="en-US" dirty="0" err="1"/>
              <a:t>intetntion</a:t>
            </a:r>
            <a:r>
              <a:rPr lang="en-US" dirty="0"/>
              <a:t>. This is action-oriented statewide working session.  Your  engagement will produce a roadmap for activating your region and Tennessee for success. </a:t>
            </a:r>
            <a:r>
              <a:rPr lang="en-US" sz="1800" dirty="0">
                <a:effectLst/>
                <a:latin typeface="Aptos" panose="020B0004020202020204" pitchFamily="34" charset="0"/>
                <a:ea typeface="Aptos" panose="020B0004020202020204" pitchFamily="34" charset="0"/>
                <a:cs typeface="Times New Roman" panose="02020603050405020304" pitchFamily="18" charset="0"/>
              </a:rPr>
              <a:t>Almost two hundred years ago, In his seminal 1835 work, </a:t>
            </a:r>
            <a:r>
              <a:rPr lang="en-US" sz="1800" i="1" dirty="0">
                <a:effectLst/>
                <a:latin typeface="Aptos" panose="020B0004020202020204" pitchFamily="34" charset="0"/>
                <a:ea typeface="Aptos" panose="020B0004020202020204" pitchFamily="34" charset="0"/>
                <a:cs typeface="Times New Roman" panose="02020603050405020304" pitchFamily="18" charset="0"/>
              </a:rPr>
              <a:t>Democracy in America</a:t>
            </a:r>
            <a:r>
              <a:rPr lang="en-US" sz="1800" dirty="0">
                <a:effectLst/>
                <a:latin typeface="Aptos" panose="020B0004020202020204" pitchFamily="34" charset="0"/>
                <a:ea typeface="Aptos" panose="020B0004020202020204" pitchFamily="34" charset="0"/>
                <a:cs typeface="Times New Roman" panose="02020603050405020304" pitchFamily="18" charset="0"/>
              </a:rPr>
              <a:t>, Alexis de Tocqueville observed that Americans constantly form associations to solve problems, build communities, and advocate for shared goals. He argued that this "art of associating" is the bedrock of American democracy, preventing tyranny by dispersing power and fostering active, public-spirited citizenship. What you are doing here today is in that tradition, even in this technological age, when we are disconnected by our addiction to screens.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22FF3883-242E-6A4F-9279-9DA517E720F0}" type="slidenum">
              <a:rPr lang="en-US" smtClean="0"/>
              <a:t>2</a:t>
            </a:fld>
            <a:endParaRPr lang="en-US"/>
          </a:p>
        </p:txBody>
      </p:sp>
    </p:spTree>
    <p:extLst>
      <p:ext uri="{BB962C8B-B14F-4D97-AF65-F5344CB8AC3E}">
        <p14:creationId xmlns:p14="http://schemas.microsoft.com/office/powerpoint/2010/main" val="1686668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of your work is intentional as well. </a:t>
            </a:r>
          </a:p>
          <a:p>
            <a:r>
              <a:rPr lang="en-US" dirty="0"/>
              <a:t>Scott and his team have provided you with a guidebook, a regional initiative inventory, which is by no means comprehensive and is meant only as a jumpstart to the work you will do tonight.  These will be used in your four work sessions leading into your Friday presentations and that work will be published into a 2026 action report.</a:t>
            </a:r>
          </a:p>
        </p:txBody>
      </p:sp>
      <p:sp>
        <p:nvSpPr>
          <p:cNvPr id="4" name="Slide Number Placeholder 3"/>
          <p:cNvSpPr>
            <a:spLocks noGrp="1"/>
          </p:cNvSpPr>
          <p:nvPr>
            <p:ph type="sldNum" sz="quarter" idx="5"/>
          </p:nvPr>
        </p:nvSpPr>
        <p:spPr/>
        <p:txBody>
          <a:bodyPr/>
          <a:lstStyle/>
          <a:p>
            <a:fld id="{6AAA23A4-4D90-6140-B9A3-9F018449559B}" type="slidenum">
              <a:rPr lang="en-US" smtClean="0"/>
              <a:t>3</a:t>
            </a:fld>
            <a:endParaRPr lang="en-US"/>
          </a:p>
        </p:txBody>
      </p:sp>
    </p:spTree>
    <p:extLst>
      <p:ext uri="{BB962C8B-B14F-4D97-AF65-F5344CB8AC3E}">
        <p14:creationId xmlns:p14="http://schemas.microsoft.com/office/powerpoint/2010/main" val="560946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ask my students– to what end--As you work this week, you'll be thinking long term about the consequences, missed opportunities, and possibilities as you move your region along this continuum from business as usual to isolated cluster success to a network of competitive innovation hubs to success in Tennessee becoming a global model nimble enough to capitalize on unexpected opportunities.  </a:t>
            </a:r>
          </a:p>
        </p:txBody>
      </p:sp>
      <p:sp>
        <p:nvSpPr>
          <p:cNvPr id="4" name="Slide Number Placeholder 3"/>
          <p:cNvSpPr>
            <a:spLocks noGrp="1"/>
          </p:cNvSpPr>
          <p:nvPr>
            <p:ph type="sldNum" sz="quarter" idx="5"/>
          </p:nvPr>
        </p:nvSpPr>
        <p:spPr/>
        <p:txBody>
          <a:bodyPr/>
          <a:lstStyle/>
          <a:p>
            <a:fld id="{6AAA23A4-4D90-6140-B9A3-9F018449559B}" type="slidenum">
              <a:rPr lang="en-US" smtClean="0"/>
              <a:t>4</a:t>
            </a:fld>
            <a:endParaRPr lang="en-US"/>
          </a:p>
        </p:txBody>
      </p:sp>
    </p:spTree>
    <p:extLst>
      <p:ext uri="{BB962C8B-B14F-4D97-AF65-F5344CB8AC3E}">
        <p14:creationId xmlns:p14="http://schemas.microsoft.com/office/powerpoint/2010/main" val="1277513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93AEE-29FC-D0FD-9FAE-CF943A17D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409A2-51F3-B801-7C44-5D5D0A5DC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72497-F714-60D2-1813-CF39D3EEA1E6}"/>
              </a:ext>
            </a:extLst>
          </p:cNvPr>
          <p:cNvSpPr>
            <a:spLocks noGrp="1"/>
          </p:cNvSpPr>
          <p:nvPr>
            <p:ph type="body" idx="1"/>
          </p:nvPr>
        </p:nvSpPr>
        <p:spPr/>
        <p:txBody>
          <a:bodyPr/>
          <a:lstStyle/>
          <a:p>
            <a:r>
              <a:rPr lang="en-US" dirty="0"/>
              <a:t>As you think about  creating initiatives that move your region from to scenario three and four, keep in mind these essential of a globally competitive innovation hub.  There's a reason that every sector, business, government, nonprofits and education are represented in this room tonight. It's to make sure that all your assets-- quality of life, education and workforce programs regional collaborations, are represented as you work your way through the four work sessions. Think of hubs as ecosystems -- ecosystems that are healthiest when there is trust and partnership among sectors and a strategy that brings talent, capital, institutions together.</a:t>
            </a:r>
          </a:p>
        </p:txBody>
      </p:sp>
      <p:sp>
        <p:nvSpPr>
          <p:cNvPr id="4" name="Slide Number Placeholder 3">
            <a:extLst>
              <a:ext uri="{FF2B5EF4-FFF2-40B4-BE49-F238E27FC236}">
                <a16:creationId xmlns:a16="http://schemas.microsoft.com/office/drawing/2014/main" id="{7FE3875E-6467-EA4C-426D-0737AA97F1D8}"/>
              </a:ext>
            </a:extLst>
          </p:cNvPr>
          <p:cNvSpPr>
            <a:spLocks noGrp="1"/>
          </p:cNvSpPr>
          <p:nvPr>
            <p:ph type="sldNum" sz="quarter" idx="5"/>
          </p:nvPr>
        </p:nvSpPr>
        <p:spPr/>
        <p:txBody>
          <a:bodyPr/>
          <a:lstStyle/>
          <a:p>
            <a:fld id="{6AAA23A4-4D90-6140-B9A3-9F018449559B}" type="slidenum">
              <a:rPr lang="en-US" smtClean="0"/>
              <a:t>5</a:t>
            </a:fld>
            <a:endParaRPr lang="en-US"/>
          </a:p>
        </p:txBody>
      </p:sp>
    </p:spTree>
    <p:extLst>
      <p:ext uri="{BB962C8B-B14F-4D97-AF65-F5344CB8AC3E}">
        <p14:creationId xmlns:p14="http://schemas.microsoft.com/office/powerpoint/2010/main" val="3502993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work session has a specific purpose and questions to be answered. We urge you to stay focused and follow the process. It's intentional to slow you down and build your intervention-your strategic priority from your baseline to your future.</a:t>
            </a:r>
          </a:p>
          <a:p>
            <a:endParaRPr lang="en-US" dirty="0"/>
          </a:p>
          <a:p>
            <a:endParaRPr lang="en-US" dirty="0"/>
          </a:p>
          <a:p>
            <a:r>
              <a:rPr lang="en-US" dirty="0"/>
              <a:t> I know what happens, you get a lot of smart people in a room and some people are thinking big picture, some want to jump right into tactics, some people have their pet project they want to get on the table right away. </a:t>
            </a:r>
          </a:p>
        </p:txBody>
      </p:sp>
      <p:sp>
        <p:nvSpPr>
          <p:cNvPr id="4" name="Slide Number Placeholder 3"/>
          <p:cNvSpPr>
            <a:spLocks noGrp="1"/>
          </p:cNvSpPr>
          <p:nvPr>
            <p:ph type="sldNum" sz="quarter" idx="5"/>
          </p:nvPr>
        </p:nvSpPr>
        <p:spPr/>
        <p:txBody>
          <a:bodyPr/>
          <a:lstStyle/>
          <a:p>
            <a:fld id="{6AAA23A4-4D90-6140-B9A3-9F018449559B}" type="slidenum">
              <a:rPr lang="en-US" smtClean="0"/>
              <a:t>6</a:t>
            </a:fld>
            <a:endParaRPr lang="en-US"/>
          </a:p>
        </p:txBody>
      </p:sp>
    </p:spTree>
    <p:extLst>
      <p:ext uri="{BB962C8B-B14F-4D97-AF65-F5344CB8AC3E}">
        <p14:creationId xmlns:p14="http://schemas.microsoft.com/office/powerpoint/2010/main" val="1738725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the conversation with the end in mind -- the worksheet for that session</a:t>
            </a:r>
          </a:p>
          <a:p>
            <a:endParaRPr lang="en-US" dirty="0"/>
          </a:p>
          <a:p>
            <a:r>
              <a:rPr lang="en-US" dirty="0"/>
              <a:t>Practice Active Listening, not just waiting to get your comment in.  Our friend Samar Ali whom some of you know ask people to take a pledge to listen, not a bad idea.</a:t>
            </a:r>
          </a:p>
          <a:p>
            <a:endParaRPr lang="en-US" dirty="0"/>
          </a:p>
          <a:p>
            <a:r>
              <a:rPr lang="en-US" dirty="0"/>
              <a:t>Engage every one in the conversation. </a:t>
            </a:r>
          </a:p>
          <a:p>
            <a:endParaRPr lang="en-US" dirty="0"/>
          </a:p>
          <a:p>
            <a:r>
              <a:rPr lang="en-US" dirty="0"/>
              <a:t>Build in cross-sector collaboration in your conversations.</a:t>
            </a:r>
          </a:p>
          <a:p>
            <a:endParaRPr lang="en-US" dirty="0"/>
          </a:p>
          <a:p>
            <a:r>
              <a:rPr lang="en-US" dirty="0"/>
              <a:t>This not only what </a:t>
            </a:r>
            <a:r>
              <a:rPr lang="en-US" dirty="0" err="1"/>
              <a:t>Toqueville</a:t>
            </a:r>
            <a:r>
              <a:rPr lang="en-US" dirty="0"/>
              <a:t> described, it is what makes us distinctly human.  Peggy Noonan. Embodiment– AI can write a sad poem but it cannot cry at a funeral.</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AAA23A4-4D90-6140-B9A3-9F018449559B}" type="slidenum">
              <a:rPr lang="en-US" smtClean="0"/>
              <a:t>7</a:t>
            </a:fld>
            <a:endParaRPr lang="en-US"/>
          </a:p>
        </p:txBody>
      </p:sp>
    </p:spTree>
    <p:extLst>
      <p:ext uri="{BB962C8B-B14F-4D97-AF65-F5344CB8AC3E}">
        <p14:creationId xmlns:p14="http://schemas.microsoft.com/office/powerpoint/2010/main" val="1261672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E4BD3-4623-770C-A67C-485E08068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AE1C4-BDA3-6888-1BA4-7A89F5A8A0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1B789-9694-E4B4-8F78-DD89ACD84129}"/>
              </a:ext>
            </a:extLst>
          </p:cNvPr>
          <p:cNvSpPr>
            <a:spLocks noGrp="1"/>
          </p:cNvSpPr>
          <p:nvPr>
            <p:ph type="body" idx="1"/>
          </p:nvPr>
        </p:nvSpPr>
        <p:spPr/>
        <p:txBody>
          <a:bodyPr/>
          <a:lstStyle/>
          <a:p>
            <a:r>
              <a:rPr lang="en-US" dirty="0"/>
              <a:t>How can you structure your sessions to accomplish all that? In the first 10 minutes tonight, please choose five people to fill these roles.   HBDI --</a:t>
            </a:r>
          </a:p>
          <a:p>
            <a:endParaRPr lang="en-US" dirty="0"/>
          </a:p>
          <a:p>
            <a:r>
              <a:rPr lang="en-US" dirty="0"/>
              <a:t>The facilitator will keep you focused but not dominate.</a:t>
            </a:r>
          </a:p>
          <a:p>
            <a:r>
              <a:rPr lang="en-US" dirty="0"/>
              <a:t>The recorder will make sure your ideas are captures and the evidence lead will make sure you are using facts, data and examples to support those ideas. You'll need a partnership lead who's keep a list of the organizations that will co-own the action and an implementation lead who think about execution steps tactics and timing.  Not on this list is a very important person to consider appointing: someone who will work with the recorder   Why two?--  Because one, the recorder, is focused on the present, taking notes, maintaining the digital version of the worksheet and the other is thinking  big picture--about how to create the best presentation.</a:t>
            </a:r>
          </a:p>
        </p:txBody>
      </p:sp>
      <p:sp>
        <p:nvSpPr>
          <p:cNvPr id="4" name="Slide Number Placeholder 3">
            <a:extLst>
              <a:ext uri="{FF2B5EF4-FFF2-40B4-BE49-F238E27FC236}">
                <a16:creationId xmlns:a16="http://schemas.microsoft.com/office/drawing/2014/main" id="{A8773814-0152-0D5E-E638-46AB237DA0A9}"/>
              </a:ext>
            </a:extLst>
          </p:cNvPr>
          <p:cNvSpPr>
            <a:spLocks noGrp="1"/>
          </p:cNvSpPr>
          <p:nvPr>
            <p:ph type="sldNum" sz="quarter" idx="5"/>
          </p:nvPr>
        </p:nvSpPr>
        <p:spPr/>
        <p:txBody>
          <a:bodyPr/>
          <a:lstStyle/>
          <a:p>
            <a:fld id="{6AAA23A4-4D90-6140-B9A3-9F018449559B}" type="slidenum">
              <a:rPr lang="en-US" smtClean="0"/>
              <a:t>8</a:t>
            </a:fld>
            <a:endParaRPr lang="en-US"/>
          </a:p>
        </p:txBody>
      </p:sp>
    </p:spTree>
    <p:extLst>
      <p:ext uri="{BB962C8B-B14F-4D97-AF65-F5344CB8AC3E}">
        <p14:creationId xmlns:p14="http://schemas.microsoft.com/office/powerpoint/2010/main" val="21615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reminder: The inventory is not comprehensive.  it is a starting point . </a:t>
            </a:r>
            <a:r>
              <a:rPr lang="en-US" dirty="0" err="1"/>
              <a:t>Ommsions</a:t>
            </a:r>
            <a:r>
              <a:rPr lang="en-US" dirty="0"/>
              <a:t> are not intentional.  As you consider  what's there and add to it you will see gaps , strengths, assets that could be better connected or opportunities for collaboration.</a:t>
            </a:r>
          </a:p>
        </p:txBody>
      </p:sp>
      <p:sp>
        <p:nvSpPr>
          <p:cNvPr id="4" name="Slide Number Placeholder 3"/>
          <p:cNvSpPr>
            <a:spLocks noGrp="1"/>
          </p:cNvSpPr>
          <p:nvPr>
            <p:ph type="sldNum" sz="quarter" idx="5"/>
          </p:nvPr>
        </p:nvSpPr>
        <p:spPr/>
        <p:txBody>
          <a:bodyPr/>
          <a:lstStyle/>
          <a:p>
            <a:fld id="{6AAA23A4-4D90-6140-B9A3-9F018449559B}" type="slidenum">
              <a:rPr lang="en-US" smtClean="0"/>
              <a:t>10</a:t>
            </a:fld>
            <a:endParaRPr lang="en-US"/>
          </a:p>
        </p:txBody>
      </p:sp>
    </p:spTree>
    <p:extLst>
      <p:ext uri="{BB962C8B-B14F-4D97-AF65-F5344CB8AC3E}">
        <p14:creationId xmlns:p14="http://schemas.microsoft.com/office/powerpoint/2010/main" val="3635329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you distinctive?  Are there things from the asset list that set you apart?</a:t>
            </a:r>
          </a:p>
          <a:p>
            <a:r>
              <a:rPr lang="en-US" dirty="0"/>
              <a:t>What do you do well?</a:t>
            </a:r>
          </a:p>
          <a:p>
            <a:r>
              <a:rPr lang="en-US" dirty="0"/>
              <a:t>Do you do something better than anyone else?</a:t>
            </a:r>
          </a:p>
          <a:p>
            <a:r>
              <a:rPr lang="en-US" dirty="0"/>
              <a:t>Is there anything that only your region has or can provide?</a:t>
            </a:r>
          </a:p>
          <a:p>
            <a:r>
              <a:rPr lang="en-US" dirty="0"/>
              <a:t>Be specific and detailed. </a:t>
            </a:r>
          </a:p>
          <a:p>
            <a:r>
              <a:rPr lang="en-US" dirty="0"/>
              <a:t>Then ask the question:</a:t>
            </a:r>
          </a:p>
          <a:p>
            <a:r>
              <a:rPr lang="en-US" dirty="0"/>
              <a:t>Can we be globally or nationally exceptional in one thing? What is it?</a:t>
            </a:r>
          </a:p>
          <a:p>
            <a:r>
              <a:rPr lang="en-US" dirty="0"/>
              <a:t>Don't try to boil the ocean. Don't try to be everything to everyone. </a:t>
            </a:r>
          </a:p>
        </p:txBody>
      </p:sp>
      <p:sp>
        <p:nvSpPr>
          <p:cNvPr id="4" name="Slide Number Placeholder 3"/>
          <p:cNvSpPr>
            <a:spLocks noGrp="1"/>
          </p:cNvSpPr>
          <p:nvPr>
            <p:ph type="sldNum" sz="quarter" idx="5"/>
          </p:nvPr>
        </p:nvSpPr>
        <p:spPr/>
        <p:txBody>
          <a:bodyPr/>
          <a:lstStyle/>
          <a:p>
            <a:fld id="{6AAA23A4-4D90-6140-B9A3-9F018449559B}" type="slidenum">
              <a:rPr lang="en-US" smtClean="0"/>
              <a:t>11</a:t>
            </a:fld>
            <a:endParaRPr lang="en-US"/>
          </a:p>
        </p:txBody>
      </p:sp>
    </p:spTree>
    <p:extLst>
      <p:ext uri="{BB962C8B-B14F-4D97-AF65-F5344CB8AC3E}">
        <p14:creationId xmlns:p14="http://schemas.microsoft.com/office/powerpoint/2010/main" val="1852846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all those people who were itching to get to the WHAT, get their day.  Choose one or two priorities to consider.  Focus on those where collaboration can create a shift in the next 12-24 months. Make sure it is achievable but aspirational and that it connects the four elements of an innovation hub: clusters, workforce, collaborations and quality of life.  </a:t>
            </a:r>
          </a:p>
          <a:p>
            <a:endParaRPr lang="en-US" dirty="0"/>
          </a:p>
          <a:p>
            <a:r>
              <a:rPr lang="en-US" dirty="0"/>
              <a:t>The energy in the room will tell you when an idea is right.</a:t>
            </a:r>
          </a:p>
        </p:txBody>
      </p:sp>
      <p:sp>
        <p:nvSpPr>
          <p:cNvPr id="4" name="Slide Number Placeholder 3"/>
          <p:cNvSpPr>
            <a:spLocks noGrp="1"/>
          </p:cNvSpPr>
          <p:nvPr>
            <p:ph type="sldNum" sz="quarter" idx="5"/>
          </p:nvPr>
        </p:nvSpPr>
        <p:spPr/>
        <p:txBody>
          <a:bodyPr/>
          <a:lstStyle/>
          <a:p>
            <a:fld id="{6AAA23A4-4D90-6140-B9A3-9F018449559B}" type="slidenum">
              <a:rPr lang="en-US" smtClean="0"/>
              <a:t>12</a:t>
            </a:fld>
            <a:endParaRPr lang="en-US"/>
          </a:p>
        </p:txBody>
      </p:sp>
    </p:spTree>
    <p:extLst>
      <p:ext uri="{BB962C8B-B14F-4D97-AF65-F5344CB8AC3E}">
        <p14:creationId xmlns:p14="http://schemas.microsoft.com/office/powerpoint/2010/main" val="3238460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umbrella pieces</a:t>
            </a:r>
          </a:p>
          <a:p>
            <a:r>
              <a:rPr lang="en-US" dirty="0"/>
              <a:t>Why: Your opening introduces and defines your region, your assets, your differentiators</a:t>
            </a:r>
          </a:p>
          <a:p>
            <a:r>
              <a:rPr lang="en-US" dirty="0"/>
              <a:t>What: Next you describe your strategic priority -- the collaboration to move your region forward with a few evidence-based points and examples.</a:t>
            </a:r>
          </a:p>
          <a:p>
            <a:r>
              <a:rPr lang="en-US" dirty="0"/>
              <a:t>How: 12 month and 90 day plans plus metrics</a:t>
            </a:r>
          </a:p>
          <a:p>
            <a:r>
              <a:rPr lang="en-US" dirty="0"/>
              <a:t>End your metrics with a summary sentence on what your region will look like as an innovation hub when your plan succeeds</a:t>
            </a:r>
          </a:p>
          <a:p>
            <a:r>
              <a:rPr lang="en-US" dirty="0"/>
              <a:t>I will be coming around to all the groups as you work on your presentations.</a:t>
            </a:r>
          </a:p>
          <a:p>
            <a:endParaRPr lang="en-US" dirty="0"/>
          </a:p>
        </p:txBody>
      </p:sp>
      <p:sp>
        <p:nvSpPr>
          <p:cNvPr id="4" name="Slide Number Placeholder 3"/>
          <p:cNvSpPr>
            <a:spLocks noGrp="1"/>
          </p:cNvSpPr>
          <p:nvPr>
            <p:ph type="sldNum" sz="quarter" idx="5"/>
          </p:nvPr>
        </p:nvSpPr>
        <p:spPr/>
        <p:txBody>
          <a:bodyPr/>
          <a:lstStyle/>
          <a:p>
            <a:fld id="{6AAA23A4-4D90-6140-B9A3-9F018449559B}" type="slidenum">
              <a:rPr lang="en-US" smtClean="0"/>
              <a:t>15</a:t>
            </a:fld>
            <a:endParaRPr lang="en-US"/>
          </a:p>
        </p:txBody>
      </p:sp>
    </p:spTree>
    <p:extLst>
      <p:ext uri="{BB962C8B-B14F-4D97-AF65-F5344CB8AC3E}">
        <p14:creationId xmlns:p14="http://schemas.microsoft.com/office/powerpoint/2010/main" val="2286269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not the critic who counts….but the man and woman in the arena..  Daring greatly.</a:t>
            </a:r>
          </a:p>
          <a:p>
            <a:r>
              <a:rPr lang="en-US" dirty="0"/>
              <a:t>Fareed Zakaria was right in his commencement address to _____. Human Intelligence…. </a:t>
            </a:r>
            <a:r>
              <a:rPr lang="en-US"/>
              <a:t>And that’s why</a:t>
            </a:r>
          </a:p>
          <a:p>
            <a:endParaRPr lang="en-US" dirty="0"/>
          </a:p>
        </p:txBody>
      </p:sp>
      <p:sp>
        <p:nvSpPr>
          <p:cNvPr id="4" name="Slide Number Placeholder 3"/>
          <p:cNvSpPr>
            <a:spLocks noGrp="1"/>
          </p:cNvSpPr>
          <p:nvPr>
            <p:ph type="sldNum" sz="quarter" idx="5"/>
          </p:nvPr>
        </p:nvSpPr>
        <p:spPr/>
        <p:txBody>
          <a:bodyPr/>
          <a:lstStyle/>
          <a:p>
            <a:fld id="{6AAA23A4-4D90-6140-B9A3-9F018449559B}" type="slidenum">
              <a:rPr lang="en-US" smtClean="0"/>
              <a:t>16</a:t>
            </a:fld>
            <a:endParaRPr lang="en-US"/>
          </a:p>
        </p:txBody>
      </p:sp>
    </p:spTree>
    <p:extLst>
      <p:ext uri="{BB962C8B-B14F-4D97-AF65-F5344CB8AC3E}">
        <p14:creationId xmlns:p14="http://schemas.microsoft.com/office/powerpoint/2010/main" val="3039272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can’t wait to see the progress you make toward that future this week.  It’s a future I want to live in.  Let’s get to work.</a:t>
            </a:r>
          </a:p>
        </p:txBody>
      </p:sp>
      <p:sp>
        <p:nvSpPr>
          <p:cNvPr id="4" name="Slide Number Placeholder 3"/>
          <p:cNvSpPr>
            <a:spLocks noGrp="1"/>
          </p:cNvSpPr>
          <p:nvPr>
            <p:ph type="sldNum" sz="quarter" idx="5"/>
          </p:nvPr>
        </p:nvSpPr>
        <p:spPr/>
        <p:txBody>
          <a:bodyPr/>
          <a:lstStyle/>
          <a:p>
            <a:fld id="{6AAA23A4-4D90-6140-B9A3-9F018449559B}" type="slidenum">
              <a:rPr lang="en-US" smtClean="0"/>
              <a:t>17</a:t>
            </a:fld>
            <a:endParaRPr lang="en-US"/>
          </a:p>
        </p:txBody>
      </p:sp>
    </p:spTree>
    <p:extLst>
      <p:ext uri="{BB962C8B-B14F-4D97-AF65-F5344CB8AC3E}">
        <p14:creationId xmlns:p14="http://schemas.microsoft.com/office/powerpoint/2010/main" val="3035847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09737-95F7-8C2C-BC09-68B120D930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2B4849-2230-6071-A6F9-40FDB765E2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F9A11D-CA95-1CC8-C578-AB39A3C8C843}"/>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5" name="Footer Placeholder 4">
            <a:extLst>
              <a:ext uri="{FF2B5EF4-FFF2-40B4-BE49-F238E27FC236}">
                <a16:creationId xmlns:a16="http://schemas.microsoft.com/office/drawing/2014/main" id="{98D3EA06-410B-6C65-B5F8-66E85F3F1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6B8C76-BB1C-839A-4F54-CD8882FBD725}"/>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2501299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CC54D-495F-ED85-7653-4029020A48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E4FD98-1B15-A3E1-F1A4-022F202081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8EB002-D73E-3399-29D0-C2017C303371}"/>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5" name="Footer Placeholder 4">
            <a:extLst>
              <a:ext uri="{FF2B5EF4-FFF2-40B4-BE49-F238E27FC236}">
                <a16:creationId xmlns:a16="http://schemas.microsoft.com/office/drawing/2014/main" id="{C118ABE9-9E6C-5F9B-9F76-AB11AD34E6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66EEF2-5236-A9D1-F12E-C3B4B2E1A565}"/>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3273231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A1F8B-F264-B0F9-F49E-60B88416E6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C796DE-FC35-373B-10A8-736695642D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6C90DB-DF62-EC50-0FDA-6957230637BD}"/>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5" name="Footer Placeholder 4">
            <a:extLst>
              <a:ext uri="{FF2B5EF4-FFF2-40B4-BE49-F238E27FC236}">
                <a16:creationId xmlns:a16="http://schemas.microsoft.com/office/drawing/2014/main" id="{29FB80B0-4DD0-57B5-B8DC-FCDE01769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2910B3-2ED8-D67D-9C5F-DD15AA68168C}"/>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83460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B5EDB-4288-8F36-EDB3-24179CC469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9F4F7A-1368-F7F3-02DD-F27B708DD1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26DE72-F910-32FE-4693-5143565353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94ACE6-313C-ECAE-082C-5C463F43F0C8}"/>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6" name="Footer Placeholder 5">
            <a:extLst>
              <a:ext uri="{FF2B5EF4-FFF2-40B4-BE49-F238E27FC236}">
                <a16:creationId xmlns:a16="http://schemas.microsoft.com/office/drawing/2014/main" id="{EE81C020-9363-BBF8-5254-3D701AD54A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F43711-FF14-8B87-ACC7-C0164BB5555C}"/>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2718059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12A2-BFEF-4E01-D466-A16E6B8C71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7FBFB2-CD19-5A0A-F27F-1BB61C45D2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C155DC-EC32-0B9F-A805-2A9B82A5F4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AD8EB1-E75B-FB12-A05D-BF7B35763E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94836B-6A47-77B4-A6A0-6E166E3CDB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E77651-C869-2990-6E36-1886BA4605E0}"/>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8" name="Footer Placeholder 7">
            <a:extLst>
              <a:ext uri="{FF2B5EF4-FFF2-40B4-BE49-F238E27FC236}">
                <a16:creationId xmlns:a16="http://schemas.microsoft.com/office/drawing/2014/main" id="{2CA151C6-29F4-F6E4-2B75-F085E6094D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E0F3D6-4274-B2A1-A82D-634DFA3B8BAC}"/>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3045550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FAAFA-1417-C67D-AFE2-EADBA619BF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56DA01-F53B-6F92-EEAC-CF4E0AE7E5AB}"/>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4" name="Footer Placeholder 3">
            <a:extLst>
              <a:ext uri="{FF2B5EF4-FFF2-40B4-BE49-F238E27FC236}">
                <a16:creationId xmlns:a16="http://schemas.microsoft.com/office/drawing/2014/main" id="{A71995EE-B516-F9D4-30B3-16C4AAB18F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1725A6-1E9F-7C76-E178-C2EAE43143DE}"/>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727002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A7663A-8E1C-928E-B081-FA156597AD42}"/>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3" name="Footer Placeholder 2">
            <a:extLst>
              <a:ext uri="{FF2B5EF4-FFF2-40B4-BE49-F238E27FC236}">
                <a16:creationId xmlns:a16="http://schemas.microsoft.com/office/drawing/2014/main" id="{B593935B-85C3-1CD0-00DA-EEC50CF4AF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F81BD0-4C1E-BE76-F570-341F8C0E5FA3}"/>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693741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83588-FFC8-EAF2-6CDE-5D3B233CCC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5C4B7F-38B2-3269-D03E-1125447D83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6F0137-30B0-AFD7-64A7-1DB54162E3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53A7F5-1CE8-BDAF-B563-B1F4913C4D53}"/>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6" name="Footer Placeholder 5">
            <a:extLst>
              <a:ext uri="{FF2B5EF4-FFF2-40B4-BE49-F238E27FC236}">
                <a16:creationId xmlns:a16="http://schemas.microsoft.com/office/drawing/2014/main" id="{A8F85504-FA69-609C-BF30-0F6EE5F852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86E6D8-EE4D-AB68-6CA8-417173177EDE}"/>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1775160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3A402-5BA5-AEFB-6392-4067523406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50C7BC-0ECC-289B-D7DB-EEFDF2BBC2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857855-3682-7B20-4ECE-386DD0D141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249C4-3CC6-B128-969B-00B36864BB11}"/>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6" name="Footer Placeholder 5">
            <a:extLst>
              <a:ext uri="{FF2B5EF4-FFF2-40B4-BE49-F238E27FC236}">
                <a16:creationId xmlns:a16="http://schemas.microsoft.com/office/drawing/2014/main" id="{10697DE0-EB33-C8AC-AD1A-77B1C80CC3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78288B-48BF-7052-CA7F-C0EEAB99304E}"/>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4155956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CD1A4-2779-C9AF-CD2D-6A20821FFB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934C46-E6A0-2B99-E1A3-5484B5E9AB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7F904-28C3-2244-724B-450E77327382}"/>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5" name="Footer Placeholder 4">
            <a:extLst>
              <a:ext uri="{FF2B5EF4-FFF2-40B4-BE49-F238E27FC236}">
                <a16:creationId xmlns:a16="http://schemas.microsoft.com/office/drawing/2014/main" id="{9AF8E7E0-5B24-F13D-E14C-6639C5435C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1A646-8BC7-AD98-5817-76F73715284F}"/>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4086277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1183DE-4B92-9D31-8888-496B6CC389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0FD29E-E6E9-4048-F1F0-3412274D59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BA0ACC-AEBD-7B9A-8A0C-67D4A136C43F}"/>
              </a:ext>
            </a:extLst>
          </p:cNvPr>
          <p:cNvSpPr>
            <a:spLocks noGrp="1"/>
          </p:cNvSpPr>
          <p:nvPr>
            <p:ph type="dt" sz="half" idx="10"/>
          </p:nvPr>
        </p:nvSpPr>
        <p:spPr/>
        <p:txBody>
          <a:bodyPr/>
          <a:lstStyle/>
          <a:p>
            <a:fld id="{4CCE7100-B534-2445-AC44-9BE658D705E2}" type="datetimeFigureOut">
              <a:rPr lang="en-US" smtClean="0"/>
              <a:t>6/23/26</a:t>
            </a:fld>
            <a:endParaRPr lang="en-US"/>
          </a:p>
        </p:txBody>
      </p:sp>
      <p:sp>
        <p:nvSpPr>
          <p:cNvPr id="5" name="Footer Placeholder 4">
            <a:extLst>
              <a:ext uri="{FF2B5EF4-FFF2-40B4-BE49-F238E27FC236}">
                <a16:creationId xmlns:a16="http://schemas.microsoft.com/office/drawing/2014/main" id="{189C74F9-97D2-D666-5452-0A0C7FB0EA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356E23-624B-2F83-6C3B-A426EA8EBCD4}"/>
              </a:ext>
            </a:extLst>
          </p:cNvPr>
          <p:cNvSpPr>
            <a:spLocks noGrp="1"/>
          </p:cNvSpPr>
          <p:nvPr>
            <p:ph type="sldNum" sz="quarter" idx="12"/>
          </p:nvPr>
        </p:nvSpPr>
        <p:spPr/>
        <p:txBody>
          <a:bodyPr/>
          <a:lstStyle/>
          <a:p>
            <a:fld id="{6A27FC1B-E3C4-AD4F-B3EB-07744105E5BF}" type="slidenum">
              <a:rPr lang="en-US" smtClean="0"/>
              <a:t>‹#›</a:t>
            </a:fld>
            <a:endParaRPr lang="en-US"/>
          </a:p>
        </p:txBody>
      </p:sp>
    </p:spTree>
    <p:extLst>
      <p:ext uri="{BB962C8B-B14F-4D97-AF65-F5344CB8AC3E}">
        <p14:creationId xmlns:p14="http://schemas.microsoft.com/office/powerpoint/2010/main" val="2641275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180059-09B5-5854-6739-07FB39739B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3BA84A-2074-FA4D-F8D2-4C7EE14E01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D06EB6-51D3-4F3E-9E20-8ACF0196D3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CE7100-B534-2445-AC44-9BE658D705E2}" type="datetimeFigureOut">
              <a:rPr lang="en-US" smtClean="0"/>
              <a:t>6/23/26</a:t>
            </a:fld>
            <a:endParaRPr lang="en-US"/>
          </a:p>
        </p:txBody>
      </p:sp>
      <p:sp>
        <p:nvSpPr>
          <p:cNvPr id="5" name="Footer Placeholder 4">
            <a:extLst>
              <a:ext uri="{FF2B5EF4-FFF2-40B4-BE49-F238E27FC236}">
                <a16:creationId xmlns:a16="http://schemas.microsoft.com/office/drawing/2014/main" id="{28631AA3-DBAF-C2F7-163C-CD7F665779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6D8BF74-FA92-FB9C-673F-C091F61831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27FC1B-E3C4-AD4F-B3EB-07744105E5BF}" type="slidenum">
              <a:rPr lang="en-US" smtClean="0"/>
              <a:t>‹#›</a:t>
            </a:fld>
            <a:endParaRPr lang="en-US"/>
          </a:p>
        </p:txBody>
      </p:sp>
    </p:spTree>
    <p:extLst>
      <p:ext uri="{BB962C8B-B14F-4D97-AF65-F5344CB8AC3E}">
        <p14:creationId xmlns:p14="http://schemas.microsoft.com/office/powerpoint/2010/main" val="3936839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8344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363811-30DA-574B-817E-6C9B387FB04D}"/>
              </a:ext>
            </a:extLst>
          </p:cNvPr>
          <p:cNvSpPr>
            <a:spLocks noGrp="1"/>
          </p:cNvSpPr>
          <p:nvPr>
            <p:ph type="ctrTitle"/>
          </p:nvPr>
        </p:nvSpPr>
        <p:spPr>
          <a:xfrm>
            <a:off x="426720" y="4549143"/>
            <a:ext cx="5013253" cy="1665386"/>
          </a:xfrm>
        </p:spPr>
        <p:txBody>
          <a:bodyPr anchor="t">
            <a:normAutofit/>
          </a:bodyPr>
          <a:lstStyle/>
          <a:p>
            <a:pPr algn="l"/>
            <a:r>
              <a:rPr lang="en-US" sz="4400" dirty="0">
                <a:solidFill>
                  <a:schemeClr val="bg1"/>
                </a:solidFill>
              </a:rPr>
              <a:t>2026 Inaugural PDI Fellows Academy</a:t>
            </a:r>
          </a:p>
        </p:txBody>
      </p:sp>
      <p:sp>
        <p:nvSpPr>
          <p:cNvPr id="14" name="Rectangle 13">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A2D4AE6-D2E2-D6E2-3294-3E48F5DC0A30}"/>
              </a:ext>
            </a:extLst>
          </p:cNvPr>
          <p:cNvSpPr>
            <a:spLocks noGrp="1"/>
          </p:cNvSpPr>
          <p:nvPr>
            <p:ph type="subTitle" idx="1"/>
          </p:nvPr>
        </p:nvSpPr>
        <p:spPr>
          <a:xfrm>
            <a:off x="6510167" y="4755731"/>
            <a:ext cx="5401417" cy="1783292"/>
          </a:xfrm>
        </p:spPr>
        <p:txBody>
          <a:bodyPr anchor="t">
            <a:normAutofit/>
          </a:bodyPr>
          <a:lstStyle/>
          <a:p>
            <a:pPr algn="l"/>
            <a:endParaRPr lang="en-US" dirty="0"/>
          </a:p>
        </p:txBody>
      </p:sp>
      <p:pic>
        <p:nvPicPr>
          <p:cNvPr id="4" name="Picture 3" descr="Global Action Platform">
            <a:extLst>
              <a:ext uri="{FF2B5EF4-FFF2-40B4-BE49-F238E27FC236}">
                <a16:creationId xmlns:a16="http://schemas.microsoft.com/office/drawing/2014/main" id="{E71C401C-7B18-7547-B3C4-672929F53D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734420" y="845730"/>
            <a:ext cx="4310933" cy="1293279"/>
          </a:xfrm>
          <a:prstGeom prst="rect">
            <a:avLst/>
          </a:prstGeom>
          <a:noFill/>
        </p:spPr>
      </p:pic>
      <p:pic>
        <p:nvPicPr>
          <p:cNvPr id="7" name="Picture 6">
            <a:extLst>
              <a:ext uri="{FF2B5EF4-FFF2-40B4-BE49-F238E27FC236}">
                <a16:creationId xmlns:a16="http://schemas.microsoft.com/office/drawing/2014/main" id="{7F894E10-B208-3975-D5E3-3FB82FBA7A1F}"/>
              </a:ext>
            </a:extLst>
          </p:cNvPr>
          <p:cNvPicPr>
            <a:picLocks noChangeAspect="1"/>
          </p:cNvPicPr>
          <p:nvPr/>
        </p:nvPicPr>
        <p:blipFill>
          <a:blip r:embed="rId4"/>
          <a:stretch>
            <a:fillRect/>
          </a:stretch>
        </p:blipFill>
        <p:spPr>
          <a:xfrm>
            <a:off x="1155333" y="849280"/>
            <a:ext cx="4284622" cy="3363428"/>
          </a:xfrm>
          <a:prstGeom prst="rect">
            <a:avLst/>
          </a:prstGeom>
        </p:spPr>
      </p:pic>
      <p:pic>
        <p:nvPicPr>
          <p:cNvPr id="5" name="Picture 4" descr="A black background with a black square&#10;&#10;AI-generated content may be incorrect.">
            <a:extLst>
              <a:ext uri="{FF2B5EF4-FFF2-40B4-BE49-F238E27FC236}">
                <a16:creationId xmlns:a16="http://schemas.microsoft.com/office/drawing/2014/main" id="{B49CF5C1-BB64-DC40-643E-5EBD56B5CD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6734419" y="2806887"/>
            <a:ext cx="4310933" cy="1102414"/>
          </a:xfrm>
          <a:prstGeom prst="rect">
            <a:avLst/>
          </a:prstGeom>
          <a:noFill/>
        </p:spPr>
      </p:pic>
      <p:sp>
        <p:nvSpPr>
          <p:cNvPr id="16" name="Rectangle 15">
            <a:extLst>
              <a:ext uri="{FF2B5EF4-FFF2-40B4-BE49-F238E27FC236}">
                <a16:creationId xmlns:a16="http://schemas.microsoft.com/office/drawing/2014/main" id="{6832F003-FCA6-4CFB-A2EA-308F3AA25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420" y="4549143"/>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094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56F031C-579C-C713-9C58-E8AD75FA8FF5}"/>
              </a:ext>
            </a:extLst>
          </p:cNvPr>
          <p:cNvPicPr>
            <a:picLocks noChangeAspect="1"/>
          </p:cNvPicPr>
          <p:nvPr/>
        </p:nvPicPr>
        <p:blipFill>
          <a:blip r:embed="rId3">
            <a:alphaModFix amt="50000"/>
          </a:blip>
          <a:srcRect t="4529" b="15966"/>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0B797FDB-64A0-5D5D-D006-22590BF2E565}"/>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GREAT R	EGIONS ARE </a:t>
            </a:r>
            <a:br>
              <a:rPr lang="en-US" sz="6000">
                <a:solidFill>
                  <a:srgbClr val="FFFFFF"/>
                </a:solidFill>
              </a:rPr>
            </a:br>
            <a:r>
              <a:rPr lang="en-US" sz="6000" i="1">
                <a:solidFill>
                  <a:srgbClr val="FFFFFF"/>
                </a:solidFill>
              </a:rPr>
              <a:t>INTENTIONAL </a:t>
            </a:r>
            <a:br>
              <a:rPr lang="en-US" sz="6000">
                <a:solidFill>
                  <a:srgbClr val="FFFFFF"/>
                </a:solidFill>
              </a:rPr>
            </a:br>
            <a:r>
              <a:rPr lang="en-US" sz="6000">
                <a:solidFill>
                  <a:srgbClr val="FFFFFF"/>
                </a:solidFill>
              </a:rPr>
              <a:t>NOT ACCIDENTAL</a:t>
            </a:r>
          </a:p>
        </p:txBody>
      </p:sp>
    </p:spTree>
    <p:extLst>
      <p:ext uri="{BB962C8B-B14F-4D97-AF65-F5344CB8AC3E}">
        <p14:creationId xmlns:p14="http://schemas.microsoft.com/office/powerpoint/2010/main" val="42948478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E0219-4E2D-8684-23EC-49E302FC61E5}"/>
              </a:ext>
            </a:extLst>
          </p:cNvPr>
          <p:cNvSpPr>
            <a:spLocks noGrp="1"/>
          </p:cNvSpPr>
          <p:nvPr>
            <p:ph type="title"/>
          </p:nvPr>
        </p:nvSpPr>
        <p:spPr>
          <a:xfrm>
            <a:off x="6823878" y="326863"/>
            <a:ext cx="4491821" cy="758225"/>
          </a:xfrm>
        </p:spPr>
        <p:txBody>
          <a:bodyPr anchor="b">
            <a:normAutofit/>
          </a:bodyPr>
          <a:lstStyle/>
          <a:p>
            <a:r>
              <a:rPr lang="en-US" sz="4000" dirty="0"/>
              <a:t>Intentional Process</a:t>
            </a:r>
          </a:p>
        </p:txBody>
      </p:sp>
      <p:pic>
        <p:nvPicPr>
          <p:cNvPr id="45" name="Picture 44" descr="Person writing on a notepad">
            <a:extLst>
              <a:ext uri="{FF2B5EF4-FFF2-40B4-BE49-F238E27FC236}">
                <a16:creationId xmlns:a16="http://schemas.microsoft.com/office/drawing/2014/main" id="{86200613-17CC-3585-75DA-BFA0005D07BE}"/>
              </a:ext>
            </a:extLst>
          </p:cNvPr>
          <p:cNvPicPr>
            <a:picLocks noChangeAspect="1"/>
          </p:cNvPicPr>
          <p:nvPr/>
        </p:nvPicPr>
        <p:blipFill>
          <a:blip r:embed="rId3"/>
          <a:srcRect l="18470" r="11085"/>
          <a:stretch>
            <a:fillRect/>
          </a:stretch>
        </p:blipFill>
        <p:spPr>
          <a:xfrm>
            <a:off x="20" y="10"/>
            <a:ext cx="6095980" cy="6857990"/>
          </a:xfrm>
          <a:prstGeom prst="rect">
            <a:avLst/>
          </a:prstGeom>
        </p:spPr>
      </p:pic>
      <p:grpSp>
        <p:nvGrpSpPr>
          <p:cNvPr id="49" name="Group 48">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50" name="Rectangle 49">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Content Placeholder 2">
            <a:extLst>
              <a:ext uri="{FF2B5EF4-FFF2-40B4-BE49-F238E27FC236}">
                <a16:creationId xmlns:a16="http://schemas.microsoft.com/office/drawing/2014/main" id="{4CD0AC2D-D344-F7E4-6DAA-4A63AB325342}"/>
              </a:ext>
            </a:extLst>
          </p:cNvPr>
          <p:cNvSpPr>
            <a:spLocks noGrp="1"/>
          </p:cNvSpPr>
          <p:nvPr>
            <p:ph idx="1"/>
          </p:nvPr>
        </p:nvSpPr>
        <p:spPr>
          <a:xfrm>
            <a:off x="6823879" y="1280160"/>
            <a:ext cx="4491820" cy="5250977"/>
          </a:xfrm>
        </p:spPr>
        <p:txBody>
          <a:bodyPr anchor="t">
            <a:normAutofit fontScale="92500" lnSpcReduction="10000"/>
          </a:bodyPr>
          <a:lstStyle/>
          <a:p>
            <a:r>
              <a:rPr lang="en-US" dirty="0"/>
              <a:t>Guidebook</a:t>
            </a:r>
          </a:p>
          <a:p>
            <a:pPr marL="0" indent="0">
              <a:buNone/>
            </a:pPr>
            <a:endParaRPr lang="en-US" dirty="0"/>
          </a:p>
          <a:p>
            <a:r>
              <a:rPr lang="en-US" dirty="0"/>
              <a:t>Regional Initiative Inventory</a:t>
            </a:r>
          </a:p>
          <a:p>
            <a:endParaRPr lang="en-US" dirty="0"/>
          </a:p>
          <a:p>
            <a:r>
              <a:rPr lang="en-US" dirty="0"/>
              <a:t>Four Academy Work Sessions</a:t>
            </a:r>
          </a:p>
          <a:p>
            <a:endParaRPr lang="en-US" dirty="0"/>
          </a:p>
          <a:p>
            <a:r>
              <a:rPr lang="en-US" dirty="0"/>
              <a:t>Friday Presentations</a:t>
            </a:r>
          </a:p>
          <a:p>
            <a:endParaRPr lang="en-US" dirty="0"/>
          </a:p>
          <a:p>
            <a:r>
              <a:rPr lang="en-US" dirty="0"/>
              <a:t>Published 2026 Competitiveness Action Report</a:t>
            </a:r>
          </a:p>
          <a:p>
            <a:endParaRPr lang="en-US" sz="2000" dirty="0"/>
          </a:p>
          <a:p>
            <a:pPr marL="0" indent="0">
              <a:buNone/>
            </a:pPr>
            <a:endParaRPr lang="en-US" sz="2000" dirty="0"/>
          </a:p>
        </p:txBody>
      </p:sp>
    </p:spTree>
    <p:extLst>
      <p:ext uri="{BB962C8B-B14F-4D97-AF65-F5344CB8AC3E}">
        <p14:creationId xmlns:p14="http://schemas.microsoft.com/office/powerpoint/2010/main" val="2668044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51488-2AD9-2738-0788-AB7A0206085A}"/>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4065F170-DD57-58AA-90BC-4EEA8AAA7AA1}"/>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Content Placeholder 4">
            <a:extLst>
              <a:ext uri="{FF2B5EF4-FFF2-40B4-BE49-F238E27FC236}">
                <a16:creationId xmlns:a16="http://schemas.microsoft.com/office/drawing/2014/main" id="{185DBDD3-ACB4-EBED-44A8-4868C419D01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55801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2D5A7-203E-486F-FD6A-AEA697E6C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F9C34-A31F-225A-2926-EA843FC77EA1}"/>
              </a:ext>
            </a:extLst>
          </p:cNvPr>
          <p:cNvSpPr>
            <a:spLocks noGrp="1"/>
          </p:cNvSpPr>
          <p:nvPr>
            <p:ph type="title"/>
          </p:nvPr>
        </p:nvSpPr>
        <p:spPr>
          <a:xfrm>
            <a:off x="189185" y="241738"/>
            <a:ext cx="4487917" cy="2953407"/>
          </a:xfrm>
        </p:spPr>
        <p:txBody>
          <a:bodyPr>
            <a:normAutofit/>
          </a:bodyPr>
          <a:lstStyle/>
          <a:p>
            <a:r>
              <a:rPr lang="en-US" sz="4000" dirty="0"/>
              <a:t>Globally Competitive Innovation Hub Essentials</a:t>
            </a:r>
          </a:p>
        </p:txBody>
      </p:sp>
      <p:graphicFrame>
        <p:nvGraphicFramePr>
          <p:cNvPr id="4" name="Content Placeholder 3">
            <a:extLst>
              <a:ext uri="{FF2B5EF4-FFF2-40B4-BE49-F238E27FC236}">
                <a16:creationId xmlns:a16="http://schemas.microsoft.com/office/drawing/2014/main" id="{D147926E-4918-78E1-6711-FB3678CCAD09}"/>
              </a:ext>
            </a:extLst>
          </p:cNvPr>
          <p:cNvGraphicFramePr>
            <a:graphicFrameLocks noGrp="1"/>
          </p:cNvGraphicFramePr>
          <p:nvPr>
            <p:ph idx="1"/>
          </p:nvPr>
        </p:nvGraphicFramePr>
        <p:xfrm>
          <a:off x="4677103" y="621792"/>
          <a:ext cx="6679745"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1844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597A42E2-4283-C5BE-23AF-2AA60DF7A679}"/>
              </a:ext>
            </a:extLst>
          </p:cNvPr>
          <p:cNvGraphicFramePr>
            <a:graphicFrameLocks noGrp="1"/>
          </p:cNvGraphicFramePr>
          <p:nvPr>
            <p:ph idx="1"/>
            <p:extLst>
              <p:ext uri="{D42A27DB-BD31-4B8C-83A1-F6EECF244321}">
                <p14:modId xmlns:p14="http://schemas.microsoft.com/office/powerpoint/2010/main" val="1481130229"/>
              </p:ext>
            </p:extLst>
          </p:nvPr>
        </p:nvGraphicFramePr>
        <p:xfrm>
          <a:off x="643467" y="967335"/>
          <a:ext cx="10905068" cy="4923329"/>
        </p:xfrm>
        <a:graphic>
          <a:graphicData uri="http://schemas.openxmlformats.org/drawingml/2006/table">
            <a:tbl>
              <a:tblPr firstRow="1" firstCol="1" bandRow="1">
                <a:tableStyleId>{5C22544A-7EE6-4342-B048-85BDC9FD1C3A}</a:tableStyleId>
              </a:tblPr>
              <a:tblGrid>
                <a:gridCol w="3226006">
                  <a:extLst>
                    <a:ext uri="{9D8B030D-6E8A-4147-A177-3AD203B41FA5}">
                      <a16:colId xmlns:a16="http://schemas.microsoft.com/office/drawing/2014/main" val="3367321624"/>
                    </a:ext>
                  </a:extLst>
                </a:gridCol>
                <a:gridCol w="7397418">
                  <a:extLst>
                    <a:ext uri="{9D8B030D-6E8A-4147-A177-3AD203B41FA5}">
                      <a16:colId xmlns:a16="http://schemas.microsoft.com/office/drawing/2014/main" val="2501089847"/>
                    </a:ext>
                  </a:extLst>
                </a:gridCol>
                <a:gridCol w="281644">
                  <a:extLst>
                    <a:ext uri="{9D8B030D-6E8A-4147-A177-3AD203B41FA5}">
                      <a16:colId xmlns:a16="http://schemas.microsoft.com/office/drawing/2014/main" val="2144900302"/>
                    </a:ext>
                  </a:extLst>
                </a:gridCol>
              </a:tblGrid>
              <a:tr h="628950">
                <a:tc>
                  <a:txBody>
                    <a:bodyPr/>
                    <a:lstStyle/>
                    <a:p>
                      <a:pPr marL="0" marR="0" algn="ctr">
                        <a:lnSpc>
                          <a:spcPct val="115000"/>
                        </a:lnSpc>
                        <a:spcBef>
                          <a:spcPts val="0"/>
                        </a:spcBef>
                        <a:spcAft>
                          <a:spcPts val="0"/>
                        </a:spcAft>
                      </a:pPr>
                      <a:r>
                        <a:rPr lang="en-US" sz="2100">
                          <a:effectLst/>
                        </a:rPr>
                        <a:t>Step</a:t>
                      </a:r>
                      <a:endParaRPr lang="en-US" sz="220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tc>
                  <a:txBody>
                    <a:bodyPr/>
                    <a:lstStyle/>
                    <a:p>
                      <a:pPr marL="0" marR="0" algn="ctr">
                        <a:lnSpc>
                          <a:spcPct val="115000"/>
                        </a:lnSpc>
                        <a:spcBef>
                          <a:spcPts val="0"/>
                        </a:spcBef>
                        <a:spcAft>
                          <a:spcPts val="0"/>
                        </a:spcAft>
                      </a:pPr>
                      <a:r>
                        <a:rPr lang="en-US" sz="2100" dirty="0">
                          <a:effectLst/>
                        </a:rPr>
                        <a:t>Purpose</a:t>
                      </a:r>
                      <a:endParaRPr lang="en-US" sz="2200" dirty="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tc>
                  <a:txBody>
                    <a:bodyPr/>
                    <a:lstStyle/>
                    <a:p>
                      <a:pPr marL="0" marR="0" algn="ctr">
                        <a:lnSpc>
                          <a:spcPct val="115000"/>
                        </a:lnSpc>
                        <a:spcBef>
                          <a:spcPts val="0"/>
                        </a:spcBef>
                        <a:spcAft>
                          <a:spcPts val="0"/>
                        </a:spcAft>
                      </a:pPr>
                      <a:endParaRPr lang="en-US" sz="2200" dirty="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extLst>
                  <a:ext uri="{0D108BD9-81ED-4DB2-BD59-A6C34878D82A}">
                    <a16:rowId xmlns:a16="http://schemas.microsoft.com/office/drawing/2014/main" val="2743361092"/>
                  </a:ext>
                </a:extLst>
              </a:tr>
              <a:tr h="1344764">
                <a:tc>
                  <a:txBody>
                    <a:bodyPr/>
                    <a:lstStyle/>
                    <a:p>
                      <a:pPr marL="0" marR="0" algn="ctr">
                        <a:lnSpc>
                          <a:spcPct val="112000"/>
                        </a:lnSpc>
                        <a:spcBef>
                          <a:spcPts val="0"/>
                        </a:spcBef>
                        <a:spcAft>
                          <a:spcPts val="0"/>
                        </a:spcAft>
                      </a:pPr>
                      <a:r>
                        <a:rPr lang="en-US" sz="2100">
                          <a:effectLst/>
                        </a:rPr>
                        <a:t>1. Baseline</a:t>
                      </a:r>
                      <a:endParaRPr lang="en-US" sz="220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tc>
                  <a:txBody>
                    <a:bodyPr/>
                    <a:lstStyle/>
                    <a:p>
                      <a:pPr marL="0" marR="0">
                        <a:lnSpc>
                          <a:spcPct val="112000"/>
                        </a:lnSpc>
                        <a:spcBef>
                          <a:spcPts val="0"/>
                        </a:spcBef>
                        <a:spcAft>
                          <a:spcPts val="0"/>
                        </a:spcAft>
                      </a:pPr>
                      <a:r>
                        <a:rPr lang="en-US" sz="2100">
                          <a:effectLst/>
                        </a:rPr>
                        <a:t>Map what already exists</a:t>
                      </a:r>
                      <a:endParaRPr lang="en-US" sz="220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tc>
                  <a:txBody>
                    <a:bodyPr/>
                    <a:lstStyle/>
                    <a:p>
                      <a:pPr marL="0" marR="0">
                        <a:lnSpc>
                          <a:spcPct val="112000"/>
                        </a:lnSpc>
                        <a:spcBef>
                          <a:spcPts val="0"/>
                        </a:spcBef>
                        <a:spcAft>
                          <a:spcPts val="0"/>
                        </a:spcAft>
                      </a:pPr>
                      <a:endParaRPr lang="en-US" sz="2200" dirty="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extLst>
                  <a:ext uri="{0D108BD9-81ED-4DB2-BD59-A6C34878D82A}">
                    <a16:rowId xmlns:a16="http://schemas.microsoft.com/office/drawing/2014/main" val="688375398"/>
                  </a:ext>
                </a:extLst>
              </a:tr>
              <a:tr h="983205">
                <a:tc>
                  <a:txBody>
                    <a:bodyPr/>
                    <a:lstStyle/>
                    <a:p>
                      <a:pPr marL="0" marR="0" algn="ctr">
                        <a:lnSpc>
                          <a:spcPct val="112000"/>
                        </a:lnSpc>
                        <a:spcBef>
                          <a:spcPts val="0"/>
                        </a:spcBef>
                        <a:spcAft>
                          <a:spcPts val="0"/>
                        </a:spcAft>
                      </a:pPr>
                      <a:r>
                        <a:rPr lang="en-US" sz="2100">
                          <a:effectLst/>
                        </a:rPr>
                        <a:t>2. Differentiation</a:t>
                      </a:r>
                      <a:endParaRPr lang="en-US" sz="220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tc>
                  <a:txBody>
                    <a:bodyPr/>
                    <a:lstStyle/>
                    <a:p>
                      <a:pPr marL="0" marR="0">
                        <a:lnSpc>
                          <a:spcPct val="112000"/>
                        </a:lnSpc>
                        <a:spcBef>
                          <a:spcPts val="0"/>
                        </a:spcBef>
                        <a:spcAft>
                          <a:spcPts val="0"/>
                        </a:spcAft>
                      </a:pPr>
                      <a:r>
                        <a:rPr lang="en-US" sz="2100">
                          <a:effectLst/>
                        </a:rPr>
                        <a:t>Define regional niche</a:t>
                      </a:r>
                      <a:endParaRPr lang="en-US" sz="220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tc>
                  <a:txBody>
                    <a:bodyPr/>
                    <a:lstStyle/>
                    <a:p>
                      <a:pPr marL="0" marR="0">
                        <a:lnSpc>
                          <a:spcPct val="112000"/>
                        </a:lnSpc>
                        <a:spcBef>
                          <a:spcPts val="0"/>
                        </a:spcBef>
                        <a:spcAft>
                          <a:spcPts val="0"/>
                        </a:spcAft>
                      </a:pPr>
                      <a:endParaRPr lang="en-US" sz="2200" dirty="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extLst>
                  <a:ext uri="{0D108BD9-81ED-4DB2-BD59-A6C34878D82A}">
                    <a16:rowId xmlns:a16="http://schemas.microsoft.com/office/drawing/2014/main" val="1259677268"/>
                  </a:ext>
                </a:extLst>
              </a:tr>
              <a:tr h="983205">
                <a:tc>
                  <a:txBody>
                    <a:bodyPr/>
                    <a:lstStyle/>
                    <a:p>
                      <a:pPr marL="0" marR="0" algn="ctr">
                        <a:lnSpc>
                          <a:spcPct val="112000"/>
                        </a:lnSpc>
                        <a:spcBef>
                          <a:spcPts val="0"/>
                        </a:spcBef>
                        <a:spcAft>
                          <a:spcPts val="0"/>
                        </a:spcAft>
                      </a:pPr>
                      <a:r>
                        <a:rPr lang="en-US" sz="2100">
                          <a:effectLst/>
                        </a:rPr>
                        <a:t>3. Strategic priority</a:t>
                      </a:r>
                      <a:endParaRPr lang="en-US" sz="220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tc>
                  <a:txBody>
                    <a:bodyPr/>
                    <a:lstStyle/>
                    <a:p>
                      <a:pPr marL="0" marR="0">
                        <a:lnSpc>
                          <a:spcPct val="112000"/>
                        </a:lnSpc>
                        <a:spcBef>
                          <a:spcPts val="0"/>
                        </a:spcBef>
                        <a:spcAft>
                          <a:spcPts val="0"/>
                        </a:spcAft>
                      </a:pPr>
                      <a:r>
                        <a:rPr lang="en-US" sz="2100">
                          <a:effectLst/>
                        </a:rPr>
                        <a:t>Choose where to intervene</a:t>
                      </a:r>
                      <a:endParaRPr lang="en-US" sz="220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tc>
                  <a:txBody>
                    <a:bodyPr/>
                    <a:lstStyle/>
                    <a:p>
                      <a:pPr marL="0" marR="0">
                        <a:lnSpc>
                          <a:spcPct val="112000"/>
                        </a:lnSpc>
                        <a:spcBef>
                          <a:spcPts val="0"/>
                        </a:spcBef>
                        <a:spcAft>
                          <a:spcPts val="0"/>
                        </a:spcAft>
                      </a:pPr>
                      <a:endParaRPr lang="en-US" sz="2200" dirty="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extLst>
                  <a:ext uri="{0D108BD9-81ED-4DB2-BD59-A6C34878D82A}">
                    <a16:rowId xmlns:a16="http://schemas.microsoft.com/office/drawing/2014/main" val="2369457994"/>
                  </a:ext>
                </a:extLst>
              </a:tr>
              <a:tr h="983205">
                <a:tc>
                  <a:txBody>
                    <a:bodyPr/>
                    <a:lstStyle/>
                    <a:p>
                      <a:pPr marL="0" marR="0" algn="ctr">
                        <a:lnSpc>
                          <a:spcPct val="112000"/>
                        </a:lnSpc>
                        <a:spcBef>
                          <a:spcPts val="0"/>
                        </a:spcBef>
                        <a:spcAft>
                          <a:spcPts val="0"/>
                        </a:spcAft>
                      </a:pPr>
                      <a:r>
                        <a:rPr lang="en-US" sz="2100">
                          <a:effectLst/>
                        </a:rPr>
                        <a:t>4. Action</a:t>
                      </a:r>
                      <a:endParaRPr lang="en-US" sz="220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tc>
                  <a:txBody>
                    <a:bodyPr/>
                    <a:lstStyle/>
                    <a:p>
                      <a:pPr marL="0" marR="0">
                        <a:lnSpc>
                          <a:spcPct val="112000"/>
                        </a:lnSpc>
                        <a:spcBef>
                          <a:spcPts val="0"/>
                        </a:spcBef>
                        <a:spcAft>
                          <a:spcPts val="0"/>
                        </a:spcAft>
                      </a:pPr>
                      <a:r>
                        <a:rPr lang="en-US" sz="2100">
                          <a:effectLst/>
                        </a:rPr>
                        <a:t>Convert priority into execution</a:t>
                      </a:r>
                      <a:endParaRPr lang="en-US" sz="220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tc>
                  <a:txBody>
                    <a:bodyPr/>
                    <a:lstStyle/>
                    <a:p>
                      <a:pPr marL="0" marR="0">
                        <a:lnSpc>
                          <a:spcPct val="112000"/>
                        </a:lnSpc>
                        <a:spcBef>
                          <a:spcPts val="0"/>
                        </a:spcBef>
                        <a:spcAft>
                          <a:spcPts val="0"/>
                        </a:spcAft>
                      </a:pPr>
                      <a:endParaRPr lang="en-US" sz="2200" dirty="0">
                        <a:effectLst/>
                        <a:latin typeface="Aptos" panose="020B0004020202020204" pitchFamily="34" charset="0"/>
                        <a:ea typeface="MS Mincho" panose="02020609040205080304" pitchFamily="49" charset="-128"/>
                        <a:cs typeface="Times New Roman" panose="02020603050405020304" pitchFamily="18" charset="0"/>
                      </a:endParaRPr>
                    </a:p>
                  </a:txBody>
                  <a:tcPr marL="128122" marR="128122" marT="102497" marB="102497" anchor="ctr"/>
                </a:tc>
                <a:extLst>
                  <a:ext uri="{0D108BD9-81ED-4DB2-BD59-A6C34878D82A}">
                    <a16:rowId xmlns:a16="http://schemas.microsoft.com/office/drawing/2014/main" val="217312321"/>
                  </a:ext>
                </a:extLst>
              </a:tr>
            </a:tbl>
          </a:graphicData>
        </a:graphic>
      </p:graphicFrame>
    </p:spTree>
    <p:extLst>
      <p:ext uri="{BB962C8B-B14F-4D97-AF65-F5344CB8AC3E}">
        <p14:creationId xmlns:p14="http://schemas.microsoft.com/office/powerpoint/2010/main" val="883089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8B63B-E1C4-6606-4E9F-812841CE91C3}"/>
              </a:ext>
            </a:extLst>
          </p:cNvPr>
          <p:cNvSpPr>
            <a:spLocks noGrp="1"/>
          </p:cNvSpPr>
          <p:nvPr>
            <p:ph type="title"/>
          </p:nvPr>
        </p:nvSpPr>
        <p:spPr>
          <a:xfrm>
            <a:off x="6273210" y="741391"/>
            <a:ext cx="5656520" cy="938553"/>
          </a:xfrm>
        </p:spPr>
        <p:txBody>
          <a:bodyPr anchor="b">
            <a:noAutofit/>
          </a:bodyPr>
          <a:lstStyle/>
          <a:p>
            <a:r>
              <a:rPr lang="en-US" sz="4000" dirty="0"/>
              <a:t>Unleashing the Power of….</a:t>
            </a:r>
          </a:p>
        </p:txBody>
      </p:sp>
      <p:pic>
        <p:nvPicPr>
          <p:cNvPr id="5" name="Picture 4" descr="Person with idea concept">
            <a:extLst>
              <a:ext uri="{FF2B5EF4-FFF2-40B4-BE49-F238E27FC236}">
                <a16:creationId xmlns:a16="http://schemas.microsoft.com/office/drawing/2014/main" id="{CF58D36A-2AE6-E980-830C-B42FB61EE409}"/>
              </a:ext>
            </a:extLst>
          </p:cNvPr>
          <p:cNvPicPr>
            <a:picLocks noChangeAspect="1"/>
          </p:cNvPicPr>
          <p:nvPr/>
        </p:nvPicPr>
        <p:blipFill>
          <a:blip r:embed="rId3"/>
          <a:srcRect l="24564" r="16102" b="-1"/>
          <a:stretch>
            <a:fillRect/>
          </a:stretch>
        </p:blipFill>
        <p:spPr>
          <a:xfrm>
            <a:off x="208760" y="36787"/>
            <a:ext cx="5025391" cy="5653575"/>
          </a:xfrm>
          <a:prstGeom prst="rect">
            <a:avLst/>
          </a:prstGeom>
        </p:spPr>
      </p:pic>
      <p:grpSp>
        <p:nvGrpSpPr>
          <p:cNvPr id="9" name="Group 8">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0" name="Rectangle 9">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C691B56-2767-124B-FC86-26A72A728EFD}"/>
              </a:ext>
            </a:extLst>
          </p:cNvPr>
          <p:cNvSpPr>
            <a:spLocks noGrp="1"/>
          </p:cNvSpPr>
          <p:nvPr>
            <p:ph idx="1"/>
          </p:nvPr>
        </p:nvSpPr>
        <p:spPr>
          <a:xfrm>
            <a:off x="6823878" y="2533475"/>
            <a:ext cx="4491820" cy="3963017"/>
          </a:xfrm>
        </p:spPr>
        <p:txBody>
          <a:bodyPr anchor="t">
            <a:normAutofit lnSpcReduction="10000"/>
          </a:bodyPr>
          <a:lstStyle/>
          <a:p>
            <a:r>
              <a:rPr lang="en-US" sz="3200" dirty="0"/>
              <a:t>Disciplined Strategic Thinking</a:t>
            </a:r>
          </a:p>
          <a:p>
            <a:pPr marL="0" indent="0">
              <a:buNone/>
            </a:pPr>
            <a:endParaRPr lang="en-US" sz="3200" dirty="0"/>
          </a:p>
          <a:p>
            <a:r>
              <a:rPr lang="en-US" sz="3200" dirty="0"/>
              <a:t>Respectful Deliberative Dialogue</a:t>
            </a:r>
          </a:p>
          <a:p>
            <a:pPr marL="0" indent="0">
              <a:buNone/>
            </a:pPr>
            <a:endParaRPr lang="en-US" sz="3200" dirty="0"/>
          </a:p>
          <a:p>
            <a:r>
              <a:rPr lang="en-US" sz="3200" dirty="0"/>
              <a:t>Results-oriented Collaboration</a:t>
            </a:r>
          </a:p>
          <a:p>
            <a:endParaRPr lang="en-US" sz="2000" dirty="0"/>
          </a:p>
        </p:txBody>
      </p:sp>
    </p:spTree>
    <p:extLst>
      <p:ext uri="{BB962C8B-B14F-4D97-AF65-F5344CB8AC3E}">
        <p14:creationId xmlns:p14="http://schemas.microsoft.com/office/powerpoint/2010/main" val="200846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E4BD1-1F3D-C230-B2E3-F03A0D1A9B55}"/>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E43F6FA-DFE6-8B57-2BD9-C08B21440B65}"/>
              </a:ext>
            </a:extLst>
          </p:cNvPr>
          <p:cNvGraphicFramePr>
            <a:graphicFrameLocks noGrp="1"/>
          </p:cNvGraphicFramePr>
          <p:nvPr>
            <p:ph idx="1"/>
            <p:extLst>
              <p:ext uri="{D42A27DB-BD31-4B8C-83A1-F6EECF244321}">
                <p14:modId xmlns:p14="http://schemas.microsoft.com/office/powerpoint/2010/main" val="1721286309"/>
              </p:ext>
            </p:extLst>
          </p:nvPr>
        </p:nvGraphicFramePr>
        <p:xfrm>
          <a:off x="-85345" y="36576"/>
          <a:ext cx="12277345" cy="6858002"/>
        </p:xfrm>
        <a:graphic>
          <a:graphicData uri="http://schemas.openxmlformats.org/drawingml/2006/table">
            <a:tbl>
              <a:tblPr firstRow="1" firstCol="1" bandRow="1">
                <a:noFill/>
                <a:tableStyleId>{9D7B26C5-4107-4FEC-AEDC-1716B250A1EF}</a:tableStyleId>
              </a:tblPr>
              <a:tblGrid>
                <a:gridCol w="3563501">
                  <a:extLst>
                    <a:ext uri="{9D8B030D-6E8A-4147-A177-3AD203B41FA5}">
                      <a16:colId xmlns:a16="http://schemas.microsoft.com/office/drawing/2014/main" val="1076961409"/>
                    </a:ext>
                  </a:extLst>
                </a:gridCol>
                <a:gridCol w="7216383">
                  <a:extLst>
                    <a:ext uri="{9D8B030D-6E8A-4147-A177-3AD203B41FA5}">
                      <a16:colId xmlns:a16="http://schemas.microsoft.com/office/drawing/2014/main" val="135801697"/>
                    </a:ext>
                  </a:extLst>
                </a:gridCol>
                <a:gridCol w="1497461">
                  <a:extLst>
                    <a:ext uri="{9D8B030D-6E8A-4147-A177-3AD203B41FA5}">
                      <a16:colId xmlns:a16="http://schemas.microsoft.com/office/drawing/2014/main" val="2456193396"/>
                    </a:ext>
                  </a:extLst>
                </a:gridCol>
              </a:tblGrid>
              <a:tr h="749853">
                <a:tc>
                  <a:txBody>
                    <a:bodyPr/>
                    <a:lstStyle/>
                    <a:p>
                      <a:pPr marL="0" marR="0">
                        <a:lnSpc>
                          <a:spcPct val="115000"/>
                        </a:lnSpc>
                        <a:spcBef>
                          <a:spcPts val="0"/>
                        </a:spcBef>
                        <a:spcAft>
                          <a:spcPts val="0"/>
                        </a:spcAft>
                      </a:pPr>
                      <a:r>
                        <a:rPr lang="en-US" sz="2100" b="0" cap="none" spc="60">
                          <a:solidFill>
                            <a:schemeClr val="bg1"/>
                          </a:solidFill>
                          <a:effectLst/>
                        </a:rPr>
                        <a:t>Role</a:t>
                      </a:r>
                      <a:endParaRPr lang="en-US" sz="2100" b="0" cap="none" spc="60">
                        <a:solidFill>
                          <a:schemeClr val="bg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62096" marR="162096" marT="117318"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a:lnSpc>
                          <a:spcPct val="115000"/>
                        </a:lnSpc>
                        <a:spcBef>
                          <a:spcPts val="0"/>
                        </a:spcBef>
                        <a:spcAft>
                          <a:spcPts val="0"/>
                        </a:spcAft>
                      </a:pPr>
                      <a:r>
                        <a:rPr lang="en-US" sz="2100" b="0" cap="none" spc="60">
                          <a:solidFill>
                            <a:schemeClr val="bg1"/>
                          </a:solidFill>
                          <a:effectLst/>
                        </a:rPr>
                        <a:t>Primary responsibility</a:t>
                      </a:r>
                      <a:endParaRPr lang="en-US" sz="2100" b="0" cap="none" spc="60">
                        <a:solidFill>
                          <a:schemeClr val="bg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62096" marR="162096" marT="117318"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a:lnSpc>
                          <a:spcPct val="115000"/>
                        </a:lnSpc>
                        <a:spcBef>
                          <a:spcPts val="0"/>
                        </a:spcBef>
                        <a:spcAft>
                          <a:spcPts val="0"/>
                        </a:spcAft>
                      </a:pPr>
                      <a:endParaRPr lang="en-US" sz="2100" b="0" cap="none" spc="60">
                        <a:solidFill>
                          <a:schemeClr val="bg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62096" marR="162096" marT="117318"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1856851891"/>
                  </a:ext>
                </a:extLst>
              </a:tr>
              <a:tr h="1312947">
                <a:tc>
                  <a:txBody>
                    <a:bodyPr/>
                    <a:lstStyle/>
                    <a:p>
                      <a:pPr marL="0" marR="0">
                        <a:lnSpc>
                          <a:spcPct val="112000"/>
                        </a:lnSpc>
                        <a:spcBef>
                          <a:spcPts val="0"/>
                        </a:spcBef>
                        <a:spcAft>
                          <a:spcPts val="0"/>
                        </a:spcAft>
                      </a:pPr>
                      <a:r>
                        <a:rPr lang="en-US" sz="1800" b="1" cap="none" spc="0">
                          <a:solidFill>
                            <a:schemeClr val="tx1"/>
                          </a:solidFill>
                          <a:effectLst/>
                        </a:rPr>
                        <a:t>Facilitator</a:t>
                      </a:r>
                      <a:endParaRPr lang="en-US" sz="1800" b="1"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38100" cmpd="sng">
                      <a:noFill/>
                    </a:lnT>
                    <a:lnB w="12700" cap="flat" cmpd="sng" algn="ctr">
                      <a:noFill/>
                      <a:prstDash val="solid"/>
                    </a:lnB>
                    <a:noFill/>
                  </a:tcPr>
                </a:tc>
                <a:tc>
                  <a:txBody>
                    <a:bodyPr/>
                    <a:lstStyle/>
                    <a:p>
                      <a:pPr marL="0" marR="0">
                        <a:lnSpc>
                          <a:spcPct val="112000"/>
                        </a:lnSpc>
                        <a:spcBef>
                          <a:spcPts val="0"/>
                        </a:spcBef>
                        <a:spcAft>
                          <a:spcPts val="0"/>
                        </a:spcAft>
                      </a:pPr>
                      <a:r>
                        <a:rPr lang="en-US" sz="1800" cap="none" spc="0">
                          <a:solidFill>
                            <a:schemeClr val="tx1"/>
                          </a:solidFill>
                          <a:effectLst/>
                        </a:rPr>
                        <a:t>Keeps the group focused on decisions, not digressions.</a:t>
                      </a:r>
                      <a:endParaRPr lang="en-US" sz="1800"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38100" cmpd="sng">
                      <a:noFill/>
                    </a:lnT>
                    <a:lnB w="12700" cap="flat" cmpd="sng" algn="ctr">
                      <a:noFill/>
                      <a:prstDash val="solid"/>
                    </a:lnB>
                    <a:noFill/>
                  </a:tcPr>
                </a:tc>
                <a:tc>
                  <a:txBody>
                    <a:bodyPr/>
                    <a:lstStyle/>
                    <a:p>
                      <a:pPr marL="0" marR="0">
                        <a:lnSpc>
                          <a:spcPct val="112000"/>
                        </a:lnSpc>
                        <a:spcBef>
                          <a:spcPts val="0"/>
                        </a:spcBef>
                        <a:spcAft>
                          <a:spcPts val="0"/>
                        </a:spcAft>
                      </a:pPr>
                      <a:endParaRPr lang="en-US" sz="1800"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1342554234"/>
                  </a:ext>
                </a:extLst>
              </a:tr>
              <a:tr h="1312947">
                <a:tc>
                  <a:txBody>
                    <a:bodyPr/>
                    <a:lstStyle/>
                    <a:p>
                      <a:pPr marL="0" marR="0">
                        <a:lnSpc>
                          <a:spcPct val="112000"/>
                        </a:lnSpc>
                        <a:spcBef>
                          <a:spcPts val="0"/>
                        </a:spcBef>
                        <a:spcAft>
                          <a:spcPts val="0"/>
                        </a:spcAft>
                      </a:pPr>
                      <a:r>
                        <a:rPr lang="en-US" sz="1800" b="1" cap="none" spc="0">
                          <a:solidFill>
                            <a:schemeClr val="tx1"/>
                          </a:solidFill>
                          <a:effectLst/>
                        </a:rPr>
                        <a:t>Recorder</a:t>
                      </a:r>
                      <a:endParaRPr lang="en-US" sz="1800" b="1"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marL="0" marR="0">
                        <a:lnSpc>
                          <a:spcPct val="112000"/>
                        </a:lnSpc>
                        <a:spcBef>
                          <a:spcPts val="0"/>
                        </a:spcBef>
                        <a:spcAft>
                          <a:spcPts val="0"/>
                        </a:spcAft>
                      </a:pPr>
                      <a:r>
                        <a:rPr lang="en-US" sz="1800" cap="none" spc="0">
                          <a:solidFill>
                            <a:schemeClr val="tx1"/>
                          </a:solidFill>
                          <a:effectLst/>
                        </a:rPr>
                        <a:t>Captures language, evidence, and unresolved issues in real time.</a:t>
                      </a:r>
                      <a:endParaRPr lang="en-US" sz="1800"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marL="0" marR="0">
                        <a:lnSpc>
                          <a:spcPct val="112000"/>
                        </a:lnSpc>
                        <a:spcBef>
                          <a:spcPts val="0"/>
                        </a:spcBef>
                        <a:spcAft>
                          <a:spcPts val="0"/>
                        </a:spcAft>
                      </a:pPr>
                      <a:endParaRPr lang="en-US" sz="1800"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024780869"/>
                  </a:ext>
                </a:extLst>
              </a:tr>
              <a:tr h="1312947">
                <a:tc>
                  <a:txBody>
                    <a:bodyPr/>
                    <a:lstStyle/>
                    <a:p>
                      <a:pPr marL="0" marR="0">
                        <a:lnSpc>
                          <a:spcPct val="112000"/>
                        </a:lnSpc>
                        <a:spcBef>
                          <a:spcPts val="0"/>
                        </a:spcBef>
                        <a:spcAft>
                          <a:spcPts val="0"/>
                        </a:spcAft>
                      </a:pPr>
                      <a:r>
                        <a:rPr lang="en-US" sz="1800" b="1" cap="none" spc="0">
                          <a:solidFill>
                            <a:schemeClr val="tx1"/>
                          </a:solidFill>
                          <a:effectLst/>
                        </a:rPr>
                        <a:t>Evidence lead</a:t>
                      </a:r>
                      <a:endParaRPr lang="en-US" sz="1800" b="1"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marL="0" marR="0">
                        <a:lnSpc>
                          <a:spcPct val="112000"/>
                        </a:lnSpc>
                        <a:spcBef>
                          <a:spcPts val="0"/>
                        </a:spcBef>
                        <a:spcAft>
                          <a:spcPts val="0"/>
                        </a:spcAft>
                      </a:pPr>
                      <a:r>
                        <a:rPr lang="en-US" sz="1800" cap="none" spc="0" dirty="0">
                          <a:solidFill>
                            <a:schemeClr val="tx1"/>
                          </a:solidFill>
                          <a:effectLst/>
                        </a:rPr>
                        <a:t>Pushes the team to name facts, examples, and proof points.</a:t>
                      </a:r>
                      <a:endParaRPr lang="en-US" sz="1800" cap="none" spc="0" dirty="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marL="0" marR="0">
                        <a:lnSpc>
                          <a:spcPct val="112000"/>
                        </a:lnSpc>
                        <a:spcBef>
                          <a:spcPts val="0"/>
                        </a:spcBef>
                        <a:spcAft>
                          <a:spcPts val="0"/>
                        </a:spcAft>
                      </a:pPr>
                      <a:endParaRPr lang="en-US" sz="1800"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768554937"/>
                  </a:ext>
                </a:extLst>
              </a:tr>
              <a:tr h="1312947">
                <a:tc>
                  <a:txBody>
                    <a:bodyPr/>
                    <a:lstStyle/>
                    <a:p>
                      <a:pPr marL="0" marR="0">
                        <a:lnSpc>
                          <a:spcPct val="112000"/>
                        </a:lnSpc>
                        <a:spcBef>
                          <a:spcPts val="0"/>
                        </a:spcBef>
                        <a:spcAft>
                          <a:spcPts val="0"/>
                        </a:spcAft>
                      </a:pPr>
                      <a:r>
                        <a:rPr lang="en-US" sz="1800" b="1" cap="none" spc="0">
                          <a:solidFill>
                            <a:schemeClr val="tx1"/>
                          </a:solidFill>
                          <a:effectLst/>
                        </a:rPr>
                        <a:t>Partnership lead</a:t>
                      </a:r>
                      <a:endParaRPr lang="en-US" sz="1800" b="1"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marL="0" marR="0">
                        <a:lnSpc>
                          <a:spcPct val="112000"/>
                        </a:lnSpc>
                        <a:spcBef>
                          <a:spcPts val="0"/>
                        </a:spcBef>
                        <a:spcAft>
                          <a:spcPts val="0"/>
                        </a:spcAft>
                      </a:pPr>
                      <a:r>
                        <a:rPr lang="en-US" sz="1800" cap="none" spc="0">
                          <a:solidFill>
                            <a:schemeClr val="tx1"/>
                          </a:solidFill>
                          <a:effectLst/>
                        </a:rPr>
                        <a:t>Identifies which organizations must co-own each action.</a:t>
                      </a:r>
                      <a:endParaRPr lang="en-US" sz="1800"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marL="0" marR="0">
                        <a:lnSpc>
                          <a:spcPct val="112000"/>
                        </a:lnSpc>
                        <a:spcBef>
                          <a:spcPts val="0"/>
                        </a:spcBef>
                        <a:spcAft>
                          <a:spcPts val="0"/>
                        </a:spcAft>
                      </a:pPr>
                      <a:endParaRPr lang="en-US" sz="1800"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242736119"/>
                  </a:ext>
                </a:extLst>
              </a:tr>
              <a:tr h="856361">
                <a:tc>
                  <a:txBody>
                    <a:bodyPr/>
                    <a:lstStyle/>
                    <a:p>
                      <a:pPr marL="0" marR="0">
                        <a:lnSpc>
                          <a:spcPct val="112000"/>
                        </a:lnSpc>
                        <a:spcBef>
                          <a:spcPts val="0"/>
                        </a:spcBef>
                        <a:spcAft>
                          <a:spcPts val="0"/>
                        </a:spcAft>
                      </a:pPr>
                      <a:r>
                        <a:rPr lang="en-US" sz="1800" b="1" cap="none" spc="0">
                          <a:solidFill>
                            <a:schemeClr val="tx1"/>
                          </a:solidFill>
                          <a:effectLst/>
                        </a:rPr>
                        <a:t>Implementation lead</a:t>
                      </a:r>
                      <a:endParaRPr lang="en-US" sz="1800" b="1"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marR="0">
                        <a:lnSpc>
                          <a:spcPct val="112000"/>
                        </a:lnSpc>
                        <a:spcBef>
                          <a:spcPts val="0"/>
                        </a:spcBef>
                        <a:spcAft>
                          <a:spcPts val="0"/>
                        </a:spcAft>
                      </a:pPr>
                      <a:r>
                        <a:rPr lang="en-US" sz="1800" cap="none" spc="0">
                          <a:solidFill>
                            <a:schemeClr val="tx1"/>
                          </a:solidFill>
                          <a:effectLst/>
                        </a:rPr>
                        <a:t>Tests feasibility, sequencing, and ownership.</a:t>
                      </a:r>
                      <a:endParaRPr lang="en-US" sz="1800" cap="none" spc="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marR="0">
                        <a:lnSpc>
                          <a:spcPct val="112000"/>
                        </a:lnSpc>
                        <a:spcBef>
                          <a:spcPts val="0"/>
                        </a:spcBef>
                        <a:spcAft>
                          <a:spcPts val="0"/>
                        </a:spcAft>
                      </a:pPr>
                      <a:endParaRPr lang="en-US" sz="1800" cap="none" spc="0" dirty="0">
                        <a:solidFill>
                          <a:schemeClr val="tx1"/>
                        </a:solidFill>
                        <a:effectLst/>
                        <a:latin typeface="Aptos" panose="020B0004020202020204" pitchFamily="34" charset="0"/>
                        <a:ea typeface="MS Mincho" panose="02020609040205080304" pitchFamily="49" charset="-128"/>
                        <a:cs typeface="Times New Roman" panose="02020603050405020304" pitchFamily="18" charset="0"/>
                      </a:endParaRPr>
                    </a:p>
                  </a:txBody>
                  <a:tcPr marL="150088" marR="150088" marT="117318" marB="120071"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1315260"/>
                  </a:ext>
                </a:extLst>
              </a:tr>
            </a:tbl>
          </a:graphicData>
        </a:graphic>
      </p:graphicFrame>
    </p:spTree>
    <p:extLst>
      <p:ext uri="{BB962C8B-B14F-4D97-AF65-F5344CB8AC3E}">
        <p14:creationId xmlns:p14="http://schemas.microsoft.com/office/powerpoint/2010/main" val="862140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Video 6" descr="People Planning">
            <a:extLst>
              <a:ext uri="{FF2B5EF4-FFF2-40B4-BE49-F238E27FC236}">
                <a16:creationId xmlns:a16="http://schemas.microsoft.com/office/drawing/2014/main" id="{58046F13-BA4F-C31F-20FD-EFDB4FD44380}"/>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a:fillRect/>
          </a:stretch>
        </p:blipFill>
        <p:spPr>
          <a:xfrm>
            <a:off x="30480" y="325550"/>
            <a:ext cx="12191999" cy="6857990"/>
          </a:xfrm>
          <a:prstGeom prst="rect">
            <a:avLst/>
          </a:prstGeom>
        </p:spPr>
      </p:pic>
      <p:sp>
        <p:nvSpPr>
          <p:cNvPr id="13" name="Rectangle 1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64D0C20-8220-6476-5D48-4ACD9D3EE875}"/>
              </a:ext>
            </a:extLst>
          </p:cNvPr>
          <p:cNvSpPr>
            <a:spLocks noGrp="1"/>
          </p:cNvSpPr>
          <p:nvPr>
            <p:ph type="ctrTitle"/>
          </p:nvPr>
        </p:nvSpPr>
        <p:spPr>
          <a:xfrm>
            <a:off x="1097280" y="325550"/>
            <a:ext cx="10058400" cy="1492617"/>
          </a:xfrm>
          <a:effectLst>
            <a:outerShdw blurRad="50800" dist="38100" dir="2700000" algn="tl" rotWithShape="0">
              <a:prstClr val="black">
                <a:alpha val="40000"/>
              </a:prstClr>
            </a:outerShdw>
          </a:effectLst>
        </p:spPr>
        <p:txBody>
          <a:bodyPr>
            <a:normAutofit/>
          </a:bodyPr>
          <a:lstStyle/>
          <a:p>
            <a:r>
              <a:rPr lang="en-US" sz="5200" dirty="0">
                <a:solidFill>
                  <a:srgbClr val="FFFF00"/>
                </a:solidFill>
              </a:rPr>
              <a:t>The Four Working Templates</a:t>
            </a:r>
          </a:p>
        </p:txBody>
      </p:sp>
      <p:sp>
        <p:nvSpPr>
          <p:cNvPr id="5" name="Subtitle 4">
            <a:extLst>
              <a:ext uri="{FF2B5EF4-FFF2-40B4-BE49-F238E27FC236}">
                <a16:creationId xmlns:a16="http://schemas.microsoft.com/office/drawing/2014/main" id="{5189AA30-15B6-52A9-11A7-A778752049B1}"/>
              </a:ext>
            </a:extLst>
          </p:cNvPr>
          <p:cNvSpPr>
            <a:spLocks noGrp="1"/>
          </p:cNvSpPr>
          <p:nvPr>
            <p:ph type="subTitle" idx="1"/>
          </p:nvPr>
        </p:nvSpPr>
        <p:spPr>
          <a:xfrm>
            <a:off x="233916" y="4699591"/>
            <a:ext cx="11568224" cy="946297"/>
          </a:xfrm>
          <a:effectLst>
            <a:outerShdw blurRad="50800" dist="38100" dir="2700000" algn="tl" rotWithShape="0">
              <a:prstClr val="black">
                <a:alpha val="40000"/>
              </a:prstClr>
            </a:outerShdw>
          </a:effectLst>
        </p:spPr>
        <p:txBody>
          <a:bodyPr>
            <a:normAutofit/>
          </a:bodyPr>
          <a:lstStyle/>
          <a:p>
            <a:r>
              <a:rPr lang="en-US" sz="3600" dirty="0">
                <a:solidFill>
                  <a:srgbClr val="FFFFFF"/>
                </a:solidFill>
              </a:rPr>
              <a:t>To Complete in Your Four Formal Planning Sessions</a:t>
            </a:r>
          </a:p>
        </p:txBody>
      </p:sp>
    </p:spTree>
    <p:extLst>
      <p:ext uri="{BB962C8B-B14F-4D97-AF65-F5344CB8AC3E}">
        <p14:creationId xmlns:p14="http://schemas.microsoft.com/office/powerpoint/2010/main" val="711402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458FB-7DB4-766D-8EBC-62146CEF26D0}"/>
              </a:ext>
            </a:extLst>
          </p:cNvPr>
          <p:cNvSpPr>
            <a:spLocks noGrp="1"/>
          </p:cNvSpPr>
          <p:nvPr>
            <p:ph type="title"/>
          </p:nvPr>
        </p:nvSpPr>
        <p:spPr>
          <a:xfrm>
            <a:off x="838200" y="67302"/>
            <a:ext cx="10515600" cy="1325563"/>
          </a:xfrm>
        </p:spPr>
        <p:txBody>
          <a:bodyPr/>
          <a:lstStyle/>
          <a:p>
            <a:r>
              <a:rPr lang="en-US" dirty="0"/>
              <a:t>Session 1—What You Have—</a:t>
            </a:r>
            <a:br>
              <a:rPr lang="en-US" dirty="0"/>
            </a:br>
            <a:r>
              <a:rPr lang="en-US" sz="3600" dirty="0"/>
              <a:t>Reference Regional Initiative Inventory</a:t>
            </a:r>
          </a:p>
        </p:txBody>
      </p:sp>
      <p:graphicFrame>
        <p:nvGraphicFramePr>
          <p:cNvPr id="4" name="Content Placeholder 3">
            <a:extLst>
              <a:ext uri="{FF2B5EF4-FFF2-40B4-BE49-F238E27FC236}">
                <a16:creationId xmlns:a16="http://schemas.microsoft.com/office/drawing/2014/main" id="{212E4125-2E2A-7B3F-45A6-1DDE78B5F29E}"/>
              </a:ext>
            </a:extLst>
          </p:cNvPr>
          <p:cNvGraphicFramePr>
            <a:graphicFrameLocks noGrp="1"/>
          </p:cNvGraphicFramePr>
          <p:nvPr>
            <p:ph idx="1"/>
            <p:extLst>
              <p:ext uri="{D42A27DB-BD31-4B8C-83A1-F6EECF244321}">
                <p14:modId xmlns:p14="http://schemas.microsoft.com/office/powerpoint/2010/main" val="2207048638"/>
              </p:ext>
            </p:extLst>
          </p:nvPr>
        </p:nvGraphicFramePr>
        <p:xfrm>
          <a:off x="106325" y="1392865"/>
          <a:ext cx="12085673" cy="5311012"/>
        </p:xfrm>
        <a:graphic>
          <a:graphicData uri="http://schemas.openxmlformats.org/drawingml/2006/table">
            <a:tbl>
              <a:tblPr firstRow="1" firstCol="1" bandRow="1">
                <a:tableStyleId>{5C22544A-7EE6-4342-B048-85BDC9FD1C3A}</a:tableStyleId>
              </a:tblPr>
              <a:tblGrid>
                <a:gridCol w="2331641">
                  <a:extLst>
                    <a:ext uri="{9D8B030D-6E8A-4147-A177-3AD203B41FA5}">
                      <a16:colId xmlns:a16="http://schemas.microsoft.com/office/drawing/2014/main" val="797385168"/>
                    </a:ext>
                  </a:extLst>
                </a:gridCol>
                <a:gridCol w="3497462">
                  <a:extLst>
                    <a:ext uri="{9D8B030D-6E8A-4147-A177-3AD203B41FA5}">
                      <a16:colId xmlns:a16="http://schemas.microsoft.com/office/drawing/2014/main" val="1635634500"/>
                    </a:ext>
                  </a:extLst>
                </a:gridCol>
                <a:gridCol w="3497462">
                  <a:extLst>
                    <a:ext uri="{9D8B030D-6E8A-4147-A177-3AD203B41FA5}">
                      <a16:colId xmlns:a16="http://schemas.microsoft.com/office/drawing/2014/main" val="3326278660"/>
                    </a:ext>
                  </a:extLst>
                </a:gridCol>
                <a:gridCol w="2759108">
                  <a:extLst>
                    <a:ext uri="{9D8B030D-6E8A-4147-A177-3AD203B41FA5}">
                      <a16:colId xmlns:a16="http://schemas.microsoft.com/office/drawing/2014/main" val="3222959863"/>
                    </a:ext>
                  </a:extLst>
                </a:gridCol>
              </a:tblGrid>
              <a:tr h="269621">
                <a:tc>
                  <a:txBody>
                    <a:bodyPr/>
                    <a:lstStyle/>
                    <a:p>
                      <a:pPr marL="0" marR="0" algn="ctr">
                        <a:lnSpc>
                          <a:spcPct val="115000"/>
                        </a:lnSpc>
                        <a:spcAft>
                          <a:spcPts val="1000"/>
                        </a:spcAft>
                        <a:buNone/>
                      </a:pPr>
                      <a:r>
                        <a:rPr lang="en-US" sz="2000" dirty="0">
                          <a:effectLst/>
                        </a:rPr>
                        <a:t>Dimension</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2000" dirty="0">
                          <a:effectLst/>
                        </a:rPr>
                        <a:t>What we have</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2000" dirty="0">
                          <a:effectLst/>
                        </a:rPr>
                        <a:t>Gaps / constraints</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2000" dirty="0">
                          <a:effectLst/>
                        </a:rPr>
                        <a:t>Notes / owners</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515260710"/>
                  </a:ext>
                </a:extLst>
              </a:tr>
              <a:tr h="1077872">
                <a:tc>
                  <a:txBody>
                    <a:bodyPr/>
                    <a:lstStyle/>
                    <a:p>
                      <a:pPr marL="0" marR="0">
                        <a:lnSpc>
                          <a:spcPct val="112000"/>
                        </a:lnSpc>
                        <a:spcAft>
                          <a:spcPts val="1000"/>
                        </a:spcAft>
                        <a:buNone/>
                      </a:pPr>
                      <a:r>
                        <a:rPr lang="en-US" sz="2000" dirty="0">
                          <a:effectLst/>
                        </a:rPr>
                        <a:t>Clusters</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extLst>
                  <a:ext uri="{0D108BD9-81ED-4DB2-BD59-A6C34878D82A}">
                    <a16:rowId xmlns:a16="http://schemas.microsoft.com/office/drawing/2014/main" val="3113337858"/>
                  </a:ext>
                </a:extLst>
              </a:tr>
              <a:tr h="1604991">
                <a:tc>
                  <a:txBody>
                    <a:bodyPr/>
                    <a:lstStyle/>
                    <a:p>
                      <a:pPr marL="0" marR="0">
                        <a:lnSpc>
                          <a:spcPct val="112000"/>
                        </a:lnSpc>
                        <a:spcAft>
                          <a:spcPts val="1000"/>
                        </a:spcAft>
                        <a:buNone/>
                      </a:pPr>
                      <a:r>
                        <a:rPr lang="en-US" sz="2000" dirty="0">
                          <a:effectLst/>
                        </a:rPr>
                        <a:t>Education &amp; workforce</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dirty="0">
                          <a:effectLst/>
                        </a:rPr>
                        <a:t> </a:t>
                      </a:r>
                      <a:endParaRPr lang="en-US" sz="11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extLst>
                  <a:ext uri="{0D108BD9-81ED-4DB2-BD59-A6C34878D82A}">
                    <a16:rowId xmlns:a16="http://schemas.microsoft.com/office/drawing/2014/main" val="3902945018"/>
                  </a:ext>
                </a:extLst>
              </a:tr>
              <a:tr h="1124110">
                <a:tc>
                  <a:txBody>
                    <a:bodyPr/>
                    <a:lstStyle/>
                    <a:p>
                      <a:pPr marL="0" marR="0">
                        <a:lnSpc>
                          <a:spcPct val="112000"/>
                        </a:lnSpc>
                        <a:spcAft>
                          <a:spcPts val="1000"/>
                        </a:spcAft>
                        <a:buNone/>
                      </a:pPr>
                      <a:r>
                        <a:rPr lang="en-US" sz="2000" dirty="0">
                          <a:effectLst/>
                        </a:rPr>
                        <a:t>Regional  Collective Impact Collaboration</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extLst>
                  <a:ext uri="{0D108BD9-81ED-4DB2-BD59-A6C34878D82A}">
                    <a16:rowId xmlns:a16="http://schemas.microsoft.com/office/drawing/2014/main" val="1884542792"/>
                  </a:ext>
                </a:extLst>
              </a:tr>
              <a:tr h="1133359">
                <a:tc>
                  <a:txBody>
                    <a:bodyPr/>
                    <a:lstStyle/>
                    <a:p>
                      <a:pPr marL="0" marR="0">
                        <a:lnSpc>
                          <a:spcPct val="112000"/>
                        </a:lnSpc>
                        <a:spcAft>
                          <a:spcPts val="1000"/>
                        </a:spcAft>
                        <a:buNone/>
                      </a:pPr>
                      <a:r>
                        <a:rPr lang="en-US" sz="2000" dirty="0">
                          <a:effectLst/>
                        </a:rPr>
                        <a:t>Quality of life</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dirty="0">
                          <a:effectLst/>
                        </a:rPr>
                        <a:t> </a:t>
                      </a:r>
                      <a:endParaRPr lang="en-US" sz="11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extLst>
                  <a:ext uri="{0D108BD9-81ED-4DB2-BD59-A6C34878D82A}">
                    <a16:rowId xmlns:a16="http://schemas.microsoft.com/office/drawing/2014/main" val="3350354824"/>
                  </a:ext>
                </a:extLst>
              </a:tr>
            </a:tbl>
          </a:graphicData>
        </a:graphic>
      </p:graphicFrame>
    </p:spTree>
    <p:extLst>
      <p:ext uri="{BB962C8B-B14F-4D97-AF65-F5344CB8AC3E}">
        <p14:creationId xmlns:p14="http://schemas.microsoft.com/office/powerpoint/2010/main" val="1092205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B1-C23B-49C1-E330-74D22521155A}"/>
              </a:ext>
            </a:extLst>
          </p:cNvPr>
          <p:cNvSpPr>
            <a:spLocks noGrp="1"/>
          </p:cNvSpPr>
          <p:nvPr>
            <p:ph type="title"/>
          </p:nvPr>
        </p:nvSpPr>
        <p:spPr/>
        <p:txBody>
          <a:bodyPr/>
          <a:lstStyle/>
          <a:p>
            <a:r>
              <a:rPr lang="en-US" dirty="0"/>
              <a:t>Session 2—Your Regional Differentiation</a:t>
            </a:r>
          </a:p>
        </p:txBody>
      </p:sp>
      <p:graphicFrame>
        <p:nvGraphicFramePr>
          <p:cNvPr id="4" name="Content Placeholder 3">
            <a:extLst>
              <a:ext uri="{FF2B5EF4-FFF2-40B4-BE49-F238E27FC236}">
                <a16:creationId xmlns:a16="http://schemas.microsoft.com/office/drawing/2014/main" id="{D2E6D70E-12EC-82B9-91FE-B00BB714F0ED}"/>
              </a:ext>
            </a:extLst>
          </p:cNvPr>
          <p:cNvGraphicFramePr>
            <a:graphicFrameLocks noGrp="1"/>
          </p:cNvGraphicFramePr>
          <p:nvPr>
            <p:ph idx="1"/>
            <p:extLst>
              <p:ext uri="{D42A27DB-BD31-4B8C-83A1-F6EECF244321}">
                <p14:modId xmlns:p14="http://schemas.microsoft.com/office/powerpoint/2010/main" val="3505715156"/>
              </p:ext>
            </p:extLst>
          </p:nvPr>
        </p:nvGraphicFramePr>
        <p:xfrm>
          <a:off x="0" y="1402080"/>
          <a:ext cx="12192001" cy="5562317"/>
        </p:xfrm>
        <a:graphic>
          <a:graphicData uri="http://schemas.openxmlformats.org/drawingml/2006/table">
            <a:tbl>
              <a:tblPr firstRow="1" firstCol="1" bandRow="1">
                <a:tableStyleId>{5C22544A-7EE6-4342-B048-85BDC9FD1C3A}</a:tableStyleId>
              </a:tblPr>
              <a:tblGrid>
                <a:gridCol w="2404056">
                  <a:extLst>
                    <a:ext uri="{9D8B030D-6E8A-4147-A177-3AD203B41FA5}">
                      <a16:colId xmlns:a16="http://schemas.microsoft.com/office/drawing/2014/main" val="3524621698"/>
                    </a:ext>
                  </a:extLst>
                </a:gridCol>
                <a:gridCol w="3606085">
                  <a:extLst>
                    <a:ext uri="{9D8B030D-6E8A-4147-A177-3AD203B41FA5}">
                      <a16:colId xmlns:a16="http://schemas.microsoft.com/office/drawing/2014/main" val="496174968"/>
                    </a:ext>
                  </a:extLst>
                </a:gridCol>
                <a:gridCol w="3606085">
                  <a:extLst>
                    <a:ext uri="{9D8B030D-6E8A-4147-A177-3AD203B41FA5}">
                      <a16:colId xmlns:a16="http://schemas.microsoft.com/office/drawing/2014/main" val="44661773"/>
                    </a:ext>
                  </a:extLst>
                </a:gridCol>
                <a:gridCol w="2575775">
                  <a:extLst>
                    <a:ext uri="{9D8B030D-6E8A-4147-A177-3AD203B41FA5}">
                      <a16:colId xmlns:a16="http://schemas.microsoft.com/office/drawing/2014/main" val="686655401"/>
                    </a:ext>
                  </a:extLst>
                </a:gridCol>
              </a:tblGrid>
              <a:tr h="270468">
                <a:tc>
                  <a:txBody>
                    <a:bodyPr/>
                    <a:lstStyle/>
                    <a:p>
                      <a:pPr marL="0" marR="0" algn="ctr">
                        <a:lnSpc>
                          <a:spcPct val="115000"/>
                        </a:lnSpc>
                        <a:spcAft>
                          <a:spcPts val="1000"/>
                        </a:spcAft>
                        <a:buNone/>
                      </a:pPr>
                      <a:r>
                        <a:rPr lang="en-US" sz="2000" dirty="0">
                          <a:effectLst/>
                        </a:rPr>
                        <a:t>Dimension</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2000" dirty="0">
                          <a:effectLst/>
                        </a:rPr>
                        <a:t>What we have</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2000" dirty="0">
                          <a:effectLst/>
                        </a:rPr>
                        <a:t>Gaps / constraints</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2000" dirty="0">
                          <a:effectLst/>
                        </a:rPr>
                        <a:t>Notes / owners</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406763"/>
                  </a:ext>
                </a:extLst>
              </a:tr>
              <a:tr h="1081255">
                <a:tc>
                  <a:txBody>
                    <a:bodyPr/>
                    <a:lstStyle/>
                    <a:p>
                      <a:pPr marL="0" marR="0">
                        <a:lnSpc>
                          <a:spcPct val="112000"/>
                        </a:lnSpc>
                        <a:spcAft>
                          <a:spcPts val="1000"/>
                        </a:spcAft>
                        <a:buNone/>
                      </a:pPr>
                      <a:r>
                        <a:rPr lang="en-US" sz="2000" dirty="0">
                          <a:effectLst/>
                        </a:rPr>
                        <a:t>What We Do Well</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extLst>
                  <a:ext uri="{0D108BD9-81ED-4DB2-BD59-A6C34878D82A}">
                    <a16:rowId xmlns:a16="http://schemas.microsoft.com/office/drawing/2014/main" val="1030314224"/>
                  </a:ext>
                </a:extLst>
              </a:tr>
              <a:tr h="1229680">
                <a:tc>
                  <a:txBody>
                    <a:bodyPr/>
                    <a:lstStyle/>
                    <a:p>
                      <a:pPr marL="0" marR="0">
                        <a:lnSpc>
                          <a:spcPct val="112000"/>
                        </a:lnSpc>
                        <a:spcAft>
                          <a:spcPts val="1000"/>
                        </a:spcAft>
                        <a:buNone/>
                      </a:pPr>
                      <a:r>
                        <a:rPr lang="en-US" sz="2000" dirty="0">
                          <a:effectLst/>
                        </a:rPr>
                        <a:t>Key Competitive Advantages</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extLst>
                  <a:ext uri="{0D108BD9-81ED-4DB2-BD59-A6C34878D82A}">
                    <a16:rowId xmlns:a16="http://schemas.microsoft.com/office/drawing/2014/main" val="3666361628"/>
                  </a:ext>
                </a:extLst>
              </a:tr>
              <a:tr h="1415216">
                <a:tc>
                  <a:txBody>
                    <a:bodyPr/>
                    <a:lstStyle/>
                    <a:p>
                      <a:pPr marL="0" marR="0">
                        <a:lnSpc>
                          <a:spcPct val="112000"/>
                        </a:lnSpc>
                        <a:spcAft>
                          <a:spcPts val="1000"/>
                        </a:spcAft>
                        <a:buNone/>
                      </a:pPr>
                      <a:r>
                        <a:rPr lang="en-US" sz="2000" dirty="0">
                          <a:effectLst/>
                        </a:rPr>
                        <a:t>Current Cluster and Supply Chain Strengths</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dirty="0">
                          <a:effectLst/>
                        </a:rPr>
                        <a:t> </a:t>
                      </a:r>
                      <a:endParaRPr lang="en-US" sz="11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extLst>
                  <a:ext uri="{0D108BD9-81ED-4DB2-BD59-A6C34878D82A}">
                    <a16:rowId xmlns:a16="http://schemas.microsoft.com/office/drawing/2014/main" val="206162524"/>
                  </a:ext>
                </a:extLst>
              </a:tr>
              <a:tr h="1343476">
                <a:tc>
                  <a:txBody>
                    <a:bodyPr/>
                    <a:lstStyle/>
                    <a:p>
                      <a:pPr marL="0" marR="0">
                        <a:lnSpc>
                          <a:spcPct val="112000"/>
                        </a:lnSpc>
                        <a:spcAft>
                          <a:spcPts val="1000"/>
                        </a:spcAft>
                        <a:buNone/>
                      </a:pPr>
                      <a:r>
                        <a:rPr lang="en-US" sz="2000" dirty="0">
                          <a:effectLst/>
                        </a:rPr>
                        <a:t>Talent, Education and Quality of Life Competitive Advantages</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dirty="0">
                          <a:effectLst/>
                        </a:rPr>
                        <a:t> </a:t>
                      </a:r>
                      <a:endParaRPr lang="en-US" sz="11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dirty="0">
                          <a:effectLst/>
                        </a:rPr>
                        <a:t> </a:t>
                      </a:r>
                      <a:endParaRPr lang="en-US" sz="11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tc>
                  <a:txBody>
                    <a:bodyPr/>
                    <a:lstStyle/>
                    <a:p>
                      <a:pPr marL="0" marR="0">
                        <a:lnSpc>
                          <a:spcPct val="112000"/>
                        </a:lnSpc>
                        <a:spcAft>
                          <a:spcPts val="1000"/>
                        </a:spcAft>
                        <a:buNone/>
                      </a:pPr>
                      <a:r>
                        <a:rPr lang="en-US" sz="1100" dirty="0">
                          <a:effectLst/>
                        </a:rPr>
                        <a:t> </a:t>
                      </a:r>
                      <a:endParaRPr lang="en-US" sz="11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76200" marB="76200" anchor="ctr"/>
                </a:tc>
                <a:extLst>
                  <a:ext uri="{0D108BD9-81ED-4DB2-BD59-A6C34878D82A}">
                    <a16:rowId xmlns:a16="http://schemas.microsoft.com/office/drawing/2014/main" val="624797353"/>
                  </a:ext>
                </a:extLst>
              </a:tr>
            </a:tbl>
          </a:graphicData>
        </a:graphic>
      </p:graphicFrame>
    </p:spTree>
    <p:extLst>
      <p:ext uri="{BB962C8B-B14F-4D97-AF65-F5344CB8AC3E}">
        <p14:creationId xmlns:p14="http://schemas.microsoft.com/office/powerpoint/2010/main" val="2973685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0302D-B841-C443-C99E-C1CA09CAFD0E}"/>
              </a:ext>
            </a:extLst>
          </p:cNvPr>
          <p:cNvSpPr>
            <a:spLocks noGrp="1"/>
          </p:cNvSpPr>
          <p:nvPr>
            <p:ph type="title"/>
          </p:nvPr>
        </p:nvSpPr>
        <p:spPr/>
        <p:txBody>
          <a:bodyPr/>
          <a:lstStyle/>
          <a:p>
            <a:r>
              <a:rPr lang="en-US" dirty="0"/>
              <a:t>Session 3—Your Strategic Priority Choice</a:t>
            </a:r>
          </a:p>
        </p:txBody>
      </p:sp>
      <p:graphicFrame>
        <p:nvGraphicFramePr>
          <p:cNvPr id="4" name="Content Placeholder 3">
            <a:extLst>
              <a:ext uri="{FF2B5EF4-FFF2-40B4-BE49-F238E27FC236}">
                <a16:creationId xmlns:a16="http://schemas.microsoft.com/office/drawing/2014/main" id="{800416EB-5952-5AD1-B42E-DA102895B86F}"/>
              </a:ext>
            </a:extLst>
          </p:cNvPr>
          <p:cNvGraphicFramePr>
            <a:graphicFrameLocks noGrp="1"/>
          </p:cNvGraphicFramePr>
          <p:nvPr>
            <p:ph idx="1"/>
            <p:extLst>
              <p:ext uri="{D42A27DB-BD31-4B8C-83A1-F6EECF244321}">
                <p14:modId xmlns:p14="http://schemas.microsoft.com/office/powerpoint/2010/main" val="1763848803"/>
              </p:ext>
            </p:extLst>
          </p:nvPr>
        </p:nvGraphicFramePr>
        <p:xfrm>
          <a:off x="0" y="1467293"/>
          <a:ext cx="12192000" cy="5295014"/>
        </p:xfrm>
        <a:graphic>
          <a:graphicData uri="http://schemas.openxmlformats.org/drawingml/2006/table">
            <a:tbl>
              <a:tblPr firstRow="1" firstCol="1" bandRow="1">
                <a:tableStyleId>{5C22544A-7EE6-4342-B048-85BDC9FD1C3A}</a:tableStyleId>
              </a:tblPr>
              <a:tblGrid>
                <a:gridCol w="3048000">
                  <a:extLst>
                    <a:ext uri="{9D8B030D-6E8A-4147-A177-3AD203B41FA5}">
                      <a16:colId xmlns:a16="http://schemas.microsoft.com/office/drawing/2014/main" val="781745291"/>
                    </a:ext>
                  </a:extLst>
                </a:gridCol>
                <a:gridCol w="3048000">
                  <a:extLst>
                    <a:ext uri="{9D8B030D-6E8A-4147-A177-3AD203B41FA5}">
                      <a16:colId xmlns:a16="http://schemas.microsoft.com/office/drawing/2014/main" val="3222903572"/>
                    </a:ext>
                  </a:extLst>
                </a:gridCol>
                <a:gridCol w="3048000">
                  <a:extLst>
                    <a:ext uri="{9D8B030D-6E8A-4147-A177-3AD203B41FA5}">
                      <a16:colId xmlns:a16="http://schemas.microsoft.com/office/drawing/2014/main" val="3184569550"/>
                    </a:ext>
                  </a:extLst>
                </a:gridCol>
                <a:gridCol w="3048000">
                  <a:extLst>
                    <a:ext uri="{9D8B030D-6E8A-4147-A177-3AD203B41FA5}">
                      <a16:colId xmlns:a16="http://schemas.microsoft.com/office/drawing/2014/main" val="2598545325"/>
                    </a:ext>
                  </a:extLst>
                </a:gridCol>
              </a:tblGrid>
              <a:tr h="5295014">
                <a:tc>
                  <a:txBody>
                    <a:bodyPr/>
                    <a:lstStyle/>
                    <a:p>
                      <a:pPr marL="0" marR="0">
                        <a:lnSpc>
                          <a:spcPct val="115000"/>
                        </a:lnSpc>
                        <a:spcAft>
                          <a:spcPts val="1000"/>
                        </a:spcAft>
                        <a:buNone/>
                      </a:pPr>
                      <a:r>
                        <a:rPr lang="en-US" sz="2400" dirty="0">
                          <a:effectLst/>
                        </a:rPr>
                        <a:t>Priority</a:t>
                      </a:r>
                      <a:endParaRPr lang="en-US" sz="24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2400" dirty="0">
                          <a:effectLst/>
                        </a:rPr>
                        <a:t>Why it matters</a:t>
                      </a:r>
                      <a:endParaRPr lang="en-US" sz="24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2400" dirty="0">
                          <a:effectLst/>
                        </a:rPr>
                        <a:t>Lead organizations</a:t>
                      </a:r>
                      <a:endParaRPr lang="en-US" sz="24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2400" dirty="0">
                          <a:effectLst/>
                        </a:rPr>
                        <a:t>Notes</a:t>
                      </a:r>
                      <a:endParaRPr lang="en-US" sz="24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91471837"/>
                  </a:ext>
                </a:extLst>
              </a:tr>
            </a:tbl>
          </a:graphicData>
        </a:graphic>
      </p:graphicFrame>
    </p:spTree>
    <p:extLst>
      <p:ext uri="{BB962C8B-B14F-4D97-AF65-F5344CB8AC3E}">
        <p14:creationId xmlns:p14="http://schemas.microsoft.com/office/powerpoint/2010/main" val="1169717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E061-6DFE-5CC2-3455-25B678B3C6BE}"/>
              </a:ext>
            </a:extLst>
          </p:cNvPr>
          <p:cNvSpPr>
            <a:spLocks noGrp="1"/>
          </p:cNvSpPr>
          <p:nvPr>
            <p:ph type="title"/>
          </p:nvPr>
        </p:nvSpPr>
        <p:spPr>
          <a:xfrm>
            <a:off x="838200" y="-106362"/>
            <a:ext cx="10515600" cy="1325563"/>
          </a:xfrm>
        </p:spPr>
        <p:txBody>
          <a:bodyPr/>
          <a:lstStyle/>
          <a:p>
            <a:r>
              <a:rPr lang="en-US" dirty="0"/>
              <a:t>Session 4—Action Planning</a:t>
            </a:r>
          </a:p>
        </p:txBody>
      </p:sp>
      <p:graphicFrame>
        <p:nvGraphicFramePr>
          <p:cNvPr id="4" name="Content Placeholder 3">
            <a:extLst>
              <a:ext uri="{FF2B5EF4-FFF2-40B4-BE49-F238E27FC236}">
                <a16:creationId xmlns:a16="http://schemas.microsoft.com/office/drawing/2014/main" id="{3129D08E-BA6A-8E13-5B60-212D1ACB1CC7}"/>
              </a:ext>
            </a:extLst>
          </p:cNvPr>
          <p:cNvGraphicFramePr>
            <a:graphicFrameLocks noGrp="1"/>
          </p:cNvGraphicFramePr>
          <p:nvPr>
            <p:ph idx="1"/>
            <p:extLst>
              <p:ext uri="{D42A27DB-BD31-4B8C-83A1-F6EECF244321}">
                <p14:modId xmlns:p14="http://schemas.microsoft.com/office/powerpoint/2010/main" val="3079779920"/>
              </p:ext>
            </p:extLst>
          </p:nvPr>
        </p:nvGraphicFramePr>
        <p:xfrm>
          <a:off x="85344" y="883920"/>
          <a:ext cx="12216384" cy="5974080"/>
        </p:xfrm>
        <a:graphic>
          <a:graphicData uri="http://schemas.openxmlformats.org/drawingml/2006/table">
            <a:tbl>
              <a:tblPr firstRow="1" firstCol="1" bandRow="1">
                <a:tableStyleId>{5C22544A-7EE6-4342-B048-85BDC9FD1C3A}</a:tableStyleId>
              </a:tblPr>
              <a:tblGrid>
                <a:gridCol w="126402">
                  <a:extLst>
                    <a:ext uri="{9D8B030D-6E8A-4147-A177-3AD203B41FA5}">
                      <a16:colId xmlns:a16="http://schemas.microsoft.com/office/drawing/2014/main" val="1874774729"/>
                    </a:ext>
                  </a:extLst>
                </a:gridCol>
                <a:gridCol w="6134007">
                  <a:extLst>
                    <a:ext uri="{9D8B030D-6E8A-4147-A177-3AD203B41FA5}">
                      <a16:colId xmlns:a16="http://schemas.microsoft.com/office/drawing/2014/main" val="1746638098"/>
                    </a:ext>
                  </a:extLst>
                </a:gridCol>
                <a:gridCol w="1230037">
                  <a:extLst>
                    <a:ext uri="{9D8B030D-6E8A-4147-A177-3AD203B41FA5}">
                      <a16:colId xmlns:a16="http://schemas.microsoft.com/office/drawing/2014/main" val="496051828"/>
                    </a:ext>
                  </a:extLst>
                </a:gridCol>
                <a:gridCol w="4725938">
                  <a:extLst>
                    <a:ext uri="{9D8B030D-6E8A-4147-A177-3AD203B41FA5}">
                      <a16:colId xmlns:a16="http://schemas.microsoft.com/office/drawing/2014/main" val="464850054"/>
                    </a:ext>
                  </a:extLst>
                </a:gridCol>
              </a:tblGrid>
              <a:tr h="333822">
                <a:tc>
                  <a:txBody>
                    <a:bodyPr/>
                    <a:lstStyle/>
                    <a:p>
                      <a:pPr marL="0" marR="0">
                        <a:lnSpc>
                          <a:spcPct val="115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0" marR="0" marT="0" marB="0" anchor="ctr"/>
                </a:tc>
                <a:tc>
                  <a:txBody>
                    <a:bodyPr/>
                    <a:lstStyle/>
                    <a:p>
                      <a:pPr marL="0" marR="0" algn="ctr">
                        <a:lnSpc>
                          <a:spcPct val="115000"/>
                        </a:lnSpc>
                        <a:spcAft>
                          <a:spcPts val="1000"/>
                        </a:spcAft>
                        <a:buNone/>
                      </a:pPr>
                      <a:r>
                        <a:rPr lang="en-US" sz="2000" dirty="0">
                          <a:effectLst/>
                        </a:rPr>
                        <a:t>Question</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2000" dirty="0">
                          <a:effectLst/>
                        </a:rPr>
                        <a:t>Yes / No</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1000" dirty="0">
                          <a:effectLst/>
                        </a:rPr>
                        <a:t>                             </a:t>
                      </a:r>
                      <a:r>
                        <a:rPr lang="en-US" sz="2000" dirty="0">
                          <a:effectLst/>
                        </a:rPr>
                        <a:t>  Notes</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051881271"/>
                  </a:ext>
                </a:extLst>
              </a:tr>
              <a:tr h="862663">
                <a:tc gridSpan="2">
                  <a:txBody>
                    <a:bodyPr/>
                    <a:lstStyle/>
                    <a:p>
                      <a:pPr marL="0" marR="0">
                        <a:lnSpc>
                          <a:spcPct val="112000"/>
                        </a:lnSpc>
                        <a:spcAft>
                          <a:spcPts val="1000"/>
                        </a:spcAft>
                        <a:buNone/>
                      </a:pPr>
                      <a:r>
                        <a:rPr lang="en-US" sz="2000" dirty="0">
                          <a:effectLst/>
                        </a:rPr>
                        <a:t>Does this priority build on real regional strengths rather than imitate another place?</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hMerge="1">
                  <a:txBody>
                    <a:bodyPr/>
                    <a:lstStyle/>
                    <a:p>
                      <a:endParaRPr lang="en-US"/>
                    </a:p>
                  </a:txBody>
                  <a:tcP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extLst>
                  <a:ext uri="{0D108BD9-81ED-4DB2-BD59-A6C34878D82A}">
                    <a16:rowId xmlns:a16="http://schemas.microsoft.com/office/drawing/2014/main" val="670715666"/>
                  </a:ext>
                </a:extLst>
              </a:tr>
              <a:tr h="1149522">
                <a:tc gridSpan="2">
                  <a:txBody>
                    <a:bodyPr/>
                    <a:lstStyle/>
                    <a:p>
                      <a:pPr marL="0" marR="0">
                        <a:lnSpc>
                          <a:spcPct val="112000"/>
                        </a:lnSpc>
                        <a:spcAft>
                          <a:spcPts val="1000"/>
                        </a:spcAft>
                        <a:buNone/>
                      </a:pPr>
                      <a:r>
                        <a:rPr lang="en-US" sz="2000" dirty="0">
                          <a:effectLst/>
                        </a:rPr>
                        <a:t>Would success require cross-sector collaboration, not merely one organization acting alone?</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hMerge="1">
                  <a:txBody>
                    <a:bodyPr/>
                    <a:lstStyle/>
                    <a:p>
                      <a:endParaRPr lang="en-US"/>
                    </a:p>
                  </a:txBody>
                  <a:tcPr/>
                </a:tc>
                <a:tc>
                  <a:txBody>
                    <a:bodyPr/>
                    <a:lstStyle/>
                    <a:p>
                      <a:pPr marL="0" marR="0">
                        <a:lnSpc>
                          <a:spcPct val="112000"/>
                        </a:lnSpc>
                        <a:spcAft>
                          <a:spcPts val="1000"/>
                        </a:spcAft>
                        <a:buNone/>
                      </a:pPr>
                      <a:r>
                        <a:rPr lang="en-US" sz="1100" dirty="0">
                          <a:effectLst/>
                        </a:rPr>
                        <a:t> </a:t>
                      </a:r>
                      <a:endParaRPr lang="en-US" sz="11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extLst>
                  <a:ext uri="{0D108BD9-81ED-4DB2-BD59-A6C34878D82A}">
                    <a16:rowId xmlns:a16="http://schemas.microsoft.com/office/drawing/2014/main" val="2358028550"/>
                  </a:ext>
                </a:extLst>
              </a:tr>
              <a:tr h="807944">
                <a:tc gridSpan="2">
                  <a:txBody>
                    <a:bodyPr/>
                    <a:lstStyle/>
                    <a:p>
                      <a:pPr marL="0" marR="0">
                        <a:lnSpc>
                          <a:spcPct val="112000"/>
                        </a:lnSpc>
                        <a:spcAft>
                          <a:spcPts val="1000"/>
                        </a:spcAft>
                        <a:buNone/>
                      </a:pPr>
                      <a:r>
                        <a:rPr lang="en-US" sz="2000" dirty="0">
                          <a:effectLst/>
                        </a:rPr>
                        <a:t>Can the delegation identify a concrete first win within 90 days?</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hMerge="1">
                  <a:txBody>
                    <a:bodyPr/>
                    <a:lstStyle/>
                    <a:p>
                      <a:endParaRPr lang="en-US"/>
                    </a:p>
                  </a:txBody>
                  <a:tcP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extLst>
                  <a:ext uri="{0D108BD9-81ED-4DB2-BD59-A6C34878D82A}">
                    <a16:rowId xmlns:a16="http://schemas.microsoft.com/office/drawing/2014/main" val="876151893"/>
                  </a:ext>
                </a:extLst>
              </a:tr>
              <a:tr h="1149522">
                <a:tc gridSpan="2">
                  <a:txBody>
                    <a:bodyPr/>
                    <a:lstStyle/>
                    <a:p>
                      <a:pPr marL="0" marR="0">
                        <a:lnSpc>
                          <a:spcPct val="112000"/>
                        </a:lnSpc>
                        <a:spcAft>
                          <a:spcPts val="1000"/>
                        </a:spcAft>
                        <a:buNone/>
                      </a:pPr>
                      <a:r>
                        <a:rPr lang="en-US" sz="2000" dirty="0">
                          <a:effectLst/>
                        </a:rPr>
                        <a:t>Does the priority connect economic competitiveness with talent and/or place quality?</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hMerge="1">
                  <a:txBody>
                    <a:bodyPr/>
                    <a:lstStyle/>
                    <a:p>
                      <a:endParaRPr lang="en-US"/>
                    </a:p>
                  </a:txBody>
                  <a:tcP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extLst>
                  <a:ext uri="{0D108BD9-81ED-4DB2-BD59-A6C34878D82A}">
                    <a16:rowId xmlns:a16="http://schemas.microsoft.com/office/drawing/2014/main" val="27068248"/>
                  </a:ext>
                </a:extLst>
              </a:tr>
              <a:tr h="807944">
                <a:tc gridSpan="2">
                  <a:txBody>
                    <a:bodyPr/>
                    <a:lstStyle/>
                    <a:p>
                      <a:pPr marL="0" marR="0">
                        <a:lnSpc>
                          <a:spcPct val="112000"/>
                        </a:lnSpc>
                        <a:spcAft>
                          <a:spcPts val="1000"/>
                        </a:spcAft>
                        <a:buNone/>
                      </a:pPr>
                      <a:r>
                        <a:rPr lang="en-US" sz="2000" dirty="0">
                          <a:effectLst/>
                        </a:rPr>
                        <a:t>Can the region explain why this priority matters now, not just eventually?</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hMerge="1">
                  <a:txBody>
                    <a:bodyPr/>
                    <a:lstStyle/>
                    <a:p>
                      <a:endParaRPr lang="en-US"/>
                    </a:p>
                  </a:txBody>
                  <a:tcP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extLst>
                  <a:ext uri="{0D108BD9-81ED-4DB2-BD59-A6C34878D82A}">
                    <a16:rowId xmlns:a16="http://schemas.microsoft.com/office/drawing/2014/main" val="2355064041"/>
                  </a:ext>
                </a:extLst>
              </a:tr>
              <a:tr h="862663">
                <a:tc gridSpan="2">
                  <a:txBody>
                    <a:bodyPr/>
                    <a:lstStyle/>
                    <a:p>
                      <a:pPr marL="0" marR="0">
                        <a:lnSpc>
                          <a:spcPct val="112000"/>
                        </a:lnSpc>
                        <a:spcAft>
                          <a:spcPts val="1000"/>
                        </a:spcAft>
                        <a:buNone/>
                      </a:pPr>
                      <a:r>
                        <a:rPr lang="en-US" sz="2000" dirty="0">
                          <a:effectLst/>
                        </a:rPr>
                        <a:t>Would key external partners recognize the priority as credible and worth joining?</a:t>
                      </a:r>
                      <a:endParaRPr lang="en-US" sz="20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hMerge="1">
                  <a:txBody>
                    <a:bodyPr/>
                    <a:lstStyle/>
                    <a:p>
                      <a:endParaRPr lang="en-US"/>
                    </a:p>
                  </a:txBody>
                  <a:tcPr/>
                </a:tc>
                <a:tc>
                  <a:txBody>
                    <a:bodyPr/>
                    <a:lstStyle/>
                    <a:p>
                      <a:pPr marL="0" marR="0">
                        <a:lnSpc>
                          <a:spcPct val="112000"/>
                        </a:lnSpc>
                        <a:spcAft>
                          <a:spcPts val="1000"/>
                        </a:spcAft>
                        <a:buNone/>
                      </a:pPr>
                      <a:r>
                        <a:rPr lang="en-US" sz="1100">
                          <a:effectLst/>
                        </a:rPr>
                        <a:t> </a:t>
                      </a:r>
                      <a:endParaRPr lang="en-US" sz="110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tc>
                  <a:txBody>
                    <a:bodyPr/>
                    <a:lstStyle/>
                    <a:p>
                      <a:pPr marL="0" marR="0">
                        <a:lnSpc>
                          <a:spcPct val="112000"/>
                        </a:lnSpc>
                        <a:spcAft>
                          <a:spcPts val="1000"/>
                        </a:spcAft>
                        <a:buNone/>
                      </a:pPr>
                      <a:r>
                        <a:rPr lang="en-US" sz="1100" dirty="0">
                          <a:effectLst/>
                        </a:rPr>
                        <a:t> </a:t>
                      </a:r>
                      <a:endParaRPr lang="en-US" sz="1100" dirty="0">
                        <a:effectLst/>
                        <a:latin typeface="Aptos" panose="020B0004020202020204" pitchFamily="34" charset="0"/>
                        <a:ea typeface="MS Mincho" panose="02020609040205080304" pitchFamily="49" charset="-128"/>
                        <a:cs typeface="Times New Roman" panose="02020603050405020304" pitchFamily="18" charset="0"/>
                      </a:endParaRPr>
                    </a:p>
                  </a:txBody>
                  <a:tcPr marL="63500" marR="63500" marT="69850" marB="69850" anchor="ctr"/>
                </a:tc>
                <a:extLst>
                  <a:ext uri="{0D108BD9-81ED-4DB2-BD59-A6C34878D82A}">
                    <a16:rowId xmlns:a16="http://schemas.microsoft.com/office/drawing/2014/main" val="3480316551"/>
                  </a:ext>
                </a:extLst>
              </a:tr>
            </a:tbl>
          </a:graphicData>
        </a:graphic>
      </p:graphicFrame>
    </p:spTree>
    <p:extLst>
      <p:ext uri="{BB962C8B-B14F-4D97-AF65-F5344CB8AC3E}">
        <p14:creationId xmlns:p14="http://schemas.microsoft.com/office/powerpoint/2010/main" val="3623027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53CC4-F53B-ABE6-DADF-4633BCA7A477}"/>
              </a:ext>
            </a:extLst>
          </p:cNvPr>
          <p:cNvSpPr>
            <a:spLocks noGrp="1"/>
          </p:cNvSpPr>
          <p:nvPr>
            <p:ph type="title"/>
          </p:nvPr>
        </p:nvSpPr>
        <p:spPr>
          <a:xfrm>
            <a:off x="836612" y="173631"/>
            <a:ext cx="10515600" cy="1325563"/>
          </a:xfrm>
        </p:spPr>
        <p:txBody>
          <a:bodyPr/>
          <a:lstStyle/>
          <a:p>
            <a:r>
              <a:rPr lang="en-US" dirty="0"/>
              <a:t>Activation Templates</a:t>
            </a:r>
          </a:p>
        </p:txBody>
      </p:sp>
      <p:sp>
        <p:nvSpPr>
          <p:cNvPr id="11" name="Text Placeholder 10">
            <a:extLst>
              <a:ext uri="{FF2B5EF4-FFF2-40B4-BE49-F238E27FC236}">
                <a16:creationId xmlns:a16="http://schemas.microsoft.com/office/drawing/2014/main" id="{AE171E01-F76A-AB65-54A1-F1007F878DC0}"/>
              </a:ext>
            </a:extLst>
          </p:cNvPr>
          <p:cNvSpPr>
            <a:spLocks noGrp="1"/>
          </p:cNvSpPr>
          <p:nvPr>
            <p:ph type="body" idx="1"/>
          </p:nvPr>
        </p:nvSpPr>
        <p:spPr>
          <a:xfrm>
            <a:off x="839788" y="1584960"/>
            <a:ext cx="5157787" cy="470529"/>
          </a:xfrm>
        </p:spPr>
        <p:txBody>
          <a:bodyPr>
            <a:normAutofit/>
          </a:bodyPr>
          <a:lstStyle/>
          <a:p>
            <a:r>
              <a:rPr lang="en-US" dirty="0"/>
              <a:t>12- Month Action Plan</a:t>
            </a:r>
          </a:p>
        </p:txBody>
      </p:sp>
      <p:sp>
        <p:nvSpPr>
          <p:cNvPr id="12" name="Content Placeholder 11">
            <a:extLst>
              <a:ext uri="{FF2B5EF4-FFF2-40B4-BE49-F238E27FC236}">
                <a16:creationId xmlns:a16="http://schemas.microsoft.com/office/drawing/2014/main" id="{5F3AD615-7654-CFD4-978A-BC85A7805FF1}"/>
              </a:ext>
            </a:extLst>
          </p:cNvPr>
          <p:cNvSpPr>
            <a:spLocks noGrp="1"/>
          </p:cNvSpPr>
          <p:nvPr>
            <p:ph sz="half" idx="2"/>
          </p:nvPr>
        </p:nvSpPr>
        <p:spPr>
          <a:xfrm>
            <a:off x="839787" y="2419309"/>
            <a:ext cx="5157787" cy="3684588"/>
          </a:xfrm>
          <a:solidFill>
            <a:schemeClr val="bg1"/>
          </a:solidFill>
        </p:spPr>
        <p:txBody>
          <a:bodyPr/>
          <a:lstStyle/>
          <a:p>
            <a:endParaRPr lang="en-US"/>
          </a:p>
        </p:txBody>
      </p:sp>
      <p:sp>
        <p:nvSpPr>
          <p:cNvPr id="13" name="Text Placeholder 12">
            <a:extLst>
              <a:ext uri="{FF2B5EF4-FFF2-40B4-BE49-F238E27FC236}">
                <a16:creationId xmlns:a16="http://schemas.microsoft.com/office/drawing/2014/main" id="{FD076B3E-2FEC-89C4-095B-C1E5FC9409FE}"/>
              </a:ext>
            </a:extLst>
          </p:cNvPr>
          <p:cNvSpPr>
            <a:spLocks noGrp="1"/>
          </p:cNvSpPr>
          <p:nvPr>
            <p:ph type="body" sz="quarter" idx="3"/>
          </p:nvPr>
        </p:nvSpPr>
        <p:spPr>
          <a:xfrm>
            <a:off x="6172200" y="1681163"/>
            <a:ext cx="5183188" cy="470529"/>
          </a:xfrm>
        </p:spPr>
        <p:txBody>
          <a:bodyPr>
            <a:normAutofit/>
          </a:bodyPr>
          <a:lstStyle/>
          <a:p>
            <a:r>
              <a:rPr lang="en-US" dirty="0"/>
              <a:t>90- Day Action Plan</a:t>
            </a:r>
          </a:p>
        </p:txBody>
      </p:sp>
      <p:graphicFrame>
        <p:nvGraphicFramePr>
          <p:cNvPr id="15" name="Content Placeholder 14">
            <a:extLst>
              <a:ext uri="{FF2B5EF4-FFF2-40B4-BE49-F238E27FC236}">
                <a16:creationId xmlns:a16="http://schemas.microsoft.com/office/drawing/2014/main" id="{C9733C17-70E5-96EB-99E2-F8EB017BDBB7}"/>
              </a:ext>
            </a:extLst>
          </p:cNvPr>
          <p:cNvGraphicFramePr>
            <a:graphicFrameLocks noGrp="1"/>
          </p:cNvGraphicFramePr>
          <p:nvPr>
            <p:ph sz="quarter" idx="4"/>
            <p:extLst>
              <p:ext uri="{D42A27DB-BD31-4B8C-83A1-F6EECF244321}">
                <p14:modId xmlns:p14="http://schemas.microsoft.com/office/powerpoint/2010/main" val="1550282747"/>
              </p:ext>
            </p:extLst>
          </p:nvPr>
        </p:nvGraphicFramePr>
        <p:xfrm>
          <a:off x="6172200" y="2151693"/>
          <a:ext cx="5183189" cy="4635685"/>
        </p:xfrm>
        <a:graphic>
          <a:graphicData uri="http://schemas.openxmlformats.org/drawingml/2006/table">
            <a:tbl>
              <a:tblPr firstRow="1" firstCol="1" bandRow="1">
                <a:tableStyleId>{5C22544A-7EE6-4342-B048-85BDC9FD1C3A}</a:tableStyleId>
              </a:tblPr>
              <a:tblGrid>
                <a:gridCol w="1733285">
                  <a:extLst>
                    <a:ext uri="{9D8B030D-6E8A-4147-A177-3AD203B41FA5}">
                      <a16:colId xmlns:a16="http://schemas.microsoft.com/office/drawing/2014/main" val="3556048049"/>
                    </a:ext>
                  </a:extLst>
                </a:gridCol>
                <a:gridCol w="1149968">
                  <a:extLst>
                    <a:ext uri="{9D8B030D-6E8A-4147-A177-3AD203B41FA5}">
                      <a16:colId xmlns:a16="http://schemas.microsoft.com/office/drawing/2014/main" val="893955018"/>
                    </a:ext>
                  </a:extLst>
                </a:gridCol>
                <a:gridCol w="1149968">
                  <a:extLst>
                    <a:ext uri="{9D8B030D-6E8A-4147-A177-3AD203B41FA5}">
                      <a16:colId xmlns:a16="http://schemas.microsoft.com/office/drawing/2014/main" val="1775138312"/>
                    </a:ext>
                  </a:extLst>
                </a:gridCol>
                <a:gridCol w="1149968">
                  <a:extLst>
                    <a:ext uri="{9D8B030D-6E8A-4147-A177-3AD203B41FA5}">
                      <a16:colId xmlns:a16="http://schemas.microsoft.com/office/drawing/2014/main" val="1570399259"/>
                    </a:ext>
                  </a:extLst>
                </a:gridCol>
              </a:tblGrid>
              <a:tr h="648600">
                <a:tc>
                  <a:txBody>
                    <a:bodyPr/>
                    <a:lstStyle/>
                    <a:p>
                      <a:pPr marL="0" marR="0" algn="ctr">
                        <a:lnSpc>
                          <a:spcPct val="115000"/>
                        </a:lnSpc>
                        <a:spcAft>
                          <a:spcPts val="1000"/>
                        </a:spcAft>
                        <a:buNone/>
                      </a:pPr>
                      <a:r>
                        <a:rPr lang="en-US" sz="1800" dirty="0">
                          <a:effectLst/>
                        </a:rPr>
                        <a:t>Immediate step</a:t>
                      </a:r>
                      <a:endParaRPr lang="en-US" sz="1800" dirty="0">
                        <a:effectLst/>
                        <a:latin typeface="Aptos" panose="020B0004020202020204" pitchFamily="34" charset="0"/>
                        <a:ea typeface="MS Mincho" panose="02020609040205080304" pitchFamily="49" charset="-128"/>
                        <a:cs typeface="Times New Roman" panose="02020603050405020304" pitchFamily="18" charset="0"/>
                      </a:endParaRPr>
                    </a:p>
                  </a:txBody>
                  <a:tcPr marL="49999" marR="49999" marT="0" marB="0" anchor="ctr"/>
                </a:tc>
                <a:tc>
                  <a:txBody>
                    <a:bodyPr/>
                    <a:lstStyle/>
                    <a:p>
                      <a:pPr marL="0" marR="0" algn="ctr">
                        <a:lnSpc>
                          <a:spcPct val="115000"/>
                        </a:lnSpc>
                        <a:spcAft>
                          <a:spcPts val="1000"/>
                        </a:spcAft>
                        <a:buNone/>
                      </a:pPr>
                      <a:r>
                        <a:rPr lang="en-US" sz="1800" dirty="0">
                          <a:effectLst/>
                        </a:rPr>
                        <a:t>Owner</a:t>
                      </a:r>
                      <a:endParaRPr lang="en-US" sz="1800" dirty="0">
                        <a:effectLst/>
                        <a:latin typeface="Aptos" panose="020B0004020202020204" pitchFamily="34" charset="0"/>
                        <a:ea typeface="MS Mincho" panose="02020609040205080304" pitchFamily="49" charset="-128"/>
                        <a:cs typeface="Times New Roman" panose="02020603050405020304" pitchFamily="18" charset="0"/>
                      </a:endParaRPr>
                    </a:p>
                  </a:txBody>
                  <a:tcPr marL="49999" marR="49999" marT="0" marB="0" anchor="ctr"/>
                </a:tc>
                <a:tc>
                  <a:txBody>
                    <a:bodyPr/>
                    <a:lstStyle/>
                    <a:p>
                      <a:pPr marL="0" marR="0" algn="ctr">
                        <a:lnSpc>
                          <a:spcPct val="115000"/>
                        </a:lnSpc>
                        <a:spcAft>
                          <a:spcPts val="1000"/>
                        </a:spcAft>
                        <a:buNone/>
                      </a:pPr>
                      <a:r>
                        <a:rPr lang="en-US" sz="1800" dirty="0">
                          <a:effectLst/>
                        </a:rPr>
                        <a:t>Deadline</a:t>
                      </a:r>
                      <a:endParaRPr lang="en-US" sz="1800" dirty="0">
                        <a:effectLst/>
                        <a:latin typeface="Aptos" panose="020B0004020202020204" pitchFamily="34" charset="0"/>
                        <a:ea typeface="MS Mincho" panose="02020609040205080304" pitchFamily="49" charset="-128"/>
                        <a:cs typeface="Times New Roman" panose="02020603050405020304" pitchFamily="18" charset="0"/>
                      </a:endParaRPr>
                    </a:p>
                  </a:txBody>
                  <a:tcPr marL="49999" marR="49999" marT="0" marB="0" anchor="ctr"/>
                </a:tc>
                <a:tc>
                  <a:txBody>
                    <a:bodyPr/>
                    <a:lstStyle/>
                    <a:p>
                      <a:pPr marL="0" marR="0" algn="ctr">
                        <a:lnSpc>
                          <a:spcPct val="115000"/>
                        </a:lnSpc>
                        <a:spcAft>
                          <a:spcPts val="1000"/>
                        </a:spcAft>
                        <a:buNone/>
                      </a:pPr>
                      <a:r>
                        <a:rPr lang="en-US" sz="1800" dirty="0">
                          <a:effectLst/>
                        </a:rPr>
                        <a:t>What completion looks like</a:t>
                      </a:r>
                      <a:endParaRPr lang="en-US" sz="1800" dirty="0">
                        <a:effectLst/>
                        <a:latin typeface="Aptos" panose="020B0004020202020204" pitchFamily="34" charset="0"/>
                        <a:ea typeface="MS Mincho" panose="02020609040205080304" pitchFamily="49" charset="-128"/>
                        <a:cs typeface="Times New Roman" panose="02020603050405020304" pitchFamily="18" charset="0"/>
                      </a:endParaRPr>
                    </a:p>
                  </a:txBody>
                  <a:tcPr marL="49999" marR="49999" marT="0" marB="0" anchor="ctr"/>
                </a:tc>
                <a:extLst>
                  <a:ext uri="{0D108BD9-81ED-4DB2-BD59-A6C34878D82A}">
                    <a16:rowId xmlns:a16="http://schemas.microsoft.com/office/drawing/2014/main" val="1351966728"/>
                  </a:ext>
                </a:extLst>
              </a:tr>
              <a:tr h="677874">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extLst>
                  <a:ext uri="{0D108BD9-81ED-4DB2-BD59-A6C34878D82A}">
                    <a16:rowId xmlns:a16="http://schemas.microsoft.com/office/drawing/2014/main" val="1683656722"/>
                  </a:ext>
                </a:extLst>
              </a:tr>
              <a:tr h="677874">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extLst>
                  <a:ext uri="{0D108BD9-81ED-4DB2-BD59-A6C34878D82A}">
                    <a16:rowId xmlns:a16="http://schemas.microsoft.com/office/drawing/2014/main" val="3936573914"/>
                  </a:ext>
                </a:extLst>
              </a:tr>
              <a:tr h="677874">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extLst>
                  <a:ext uri="{0D108BD9-81ED-4DB2-BD59-A6C34878D82A}">
                    <a16:rowId xmlns:a16="http://schemas.microsoft.com/office/drawing/2014/main" val="1858180948"/>
                  </a:ext>
                </a:extLst>
              </a:tr>
              <a:tr h="677874">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extLst>
                  <a:ext uri="{0D108BD9-81ED-4DB2-BD59-A6C34878D82A}">
                    <a16:rowId xmlns:a16="http://schemas.microsoft.com/office/drawing/2014/main" val="2480533682"/>
                  </a:ext>
                </a:extLst>
              </a:tr>
              <a:tr h="677874">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dirty="0">
                          <a:effectLst/>
                        </a:rPr>
                        <a:t> </a:t>
                      </a:r>
                      <a:endParaRPr lang="en-US" sz="800" dirty="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a:effectLst/>
                        </a:rPr>
                        <a:t> </a:t>
                      </a:r>
                      <a:endParaRPr lang="en-US" sz="80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tc>
                  <a:txBody>
                    <a:bodyPr/>
                    <a:lstStyle/>
                    <a:p>
                      <a:pPr marL="0" marR="0">
                        <a:lnSpc>
                          <a:spcPct val="112000"/>
                        </a:lnSpc>
                        <a:spcAft>
                          <a:spcPts val="1000"/>
                        </a:spcAft>
                        <a:buNone/>
                      </a:pPr>
                      <a:r>
                        <a:rPr lang="en-US" sz="800" dirty="0">
                          <a:effectLst/>
                        </a:rPr>
                        <a:t> </a:t>
                      </a:r>
                      <a:endParaRPr lang="en-US" sz="800" dirty="0">
                        <a:effectLst/>
                        <a:latin typeface="Aptos" panose="020B0004020202020204" pitchFamily="34" charset="0"/>
                        <a:ea typeface="MS Mincho" panose="02020609040205080304" pitchFamily="49" charset="-128"/>
                        <a:cs typeface="Times New Roman" panose="02020603050405020304" pitchFamily="18" charset="0"/>
                      </a:endParaRPr>
                    </a:p>
                  </a:txBody>
                  <a:tcPr marL="46295" marR="46295" marT="64813" marB="64813" anchor="ctr"/>
                </a:tc>
                <a:extLst>
                  <a:ext uri="{0D108BD9-81ED-4DB2-BD59-A6C34878D82A}">
                    <a16:rowId xmlns:a16="http://schemas.microsoft.com/office/drawing/2014/main" val="3789355161"/>
                  </a:ext>
                </a:extLst>
              </a:tr>
            </a:tbl>
          </a:graphicData>
        </a:graphic>
      </p:graphicFrame>
      <p:graphicFrame>
        <p:nvGraphicFramePr>
          <p:cNvPr id="5" name="Table 4">
            <a:extLst>
              <a:ext uri="{FF2B5EF4-FFF2-40B4-BE49-F238E27FC236}">
                <a16:creationId xmlns:a16="http://schemas.microsoft.com/office/drawing/2014/main" id="{ECCA7803-2192-EB87-4394-A6CDA5C4989A}"/>
              </a:ext>
            </a:extLst>
          </p:cNvPr>
          <p:cNvGraphicFramePr>
            <a:graphicFrameLocks noGrp="1"/>
          </p:cNvGraphicFramePr>
          <p:nvPr>
            <p:extLst>
              <p:ext uri="{D42A27DB-BD31-4B8C-83A1-F6EECF244321}">
                <p14:modId xmlns:p14="http://schemas.microsoft.com/office/powerpoint/2010/main" val="2228248965"/>
              </p:ext>
            </p:extLst>
          </p:nvPr>
        </p:nvGraphicFramePr>
        <p:xfrm>
          <a:off x="836611" y="2055489"/>
          <a:ext cx="5157787" cy="4857562"/>
        </p:xfrm>
        <a:graphic>
          <a:graphicData uri="http://schemas.openxmlformats.org/drawingml/2006/table">
            <a:tbl>
              <a:tblPr firstRow="1" firstCol="1" bandRow="1"/>
              <a:tblGrid>
                <a:gridCol w="1724791">
                  <a:extLst>
                    <a:ext uri="{9D8B030D-6E8A-4147-A177-3AD203B41FA5}">
                      <a16:colId xmlns:a16="http://schemas.microsoft.com/office/drawing/2014/main" val="2984434531"/>
                    </a:ext>
                  </a:extLst>
                </a:gridCol>
                <a:gridCol w="1144332">
                  <a:extLst>
                    <a:ext uri="{9D8B030D-6E8A-4147-A177-3AD203B41FA5}">
                      <a16:colId xmlns:a16="http://schemas.microsoft.com/office/drawing/2014/main" val="3872756534"/>
                    </a:ext>
                  </a:extLst>
                </a:gridCol>
                <a:gridCol w="1144332">
                  <a:extLst>
                    <a:ext uri="{9D8B030D-6E8A-4147-A177-3AD203B41FA5}">
                      <a16:colId xmlns:a16="http://schemas.microsoft.com/office/drawing/2014/main" val="4119058068"/>
                    </a:ext>
                  </a:extLst>
                </a:gridCol>
                <a:gridCol w="1144332">
                  <a:extLst>
                    <a:ext uri="{9D8B030D-6E8A-4147-A177-3AD203B41FA5}">
                      <a16:colId xmlns:a16="http://schemas.microsoft.com/office/drawing/2014/main" val="3087806996"/>
                    </a:ext>
                  </a:extLst>
                </a:gridCol>
              </a:tblGrid>
              <a:tr h="0">
                <a:tc>
                  <a:txBody>
                    <a:bodyPr/>
                    <a:lstStyle/>
                    <a:p>
                      <a:pPr marL="0" marR="0" algn="ctr">
                        <a:lnSpc>
                          <a:spcPct val="115000"/>
                        </a:lnSpc>
                        <a:spcAft>
                          <a:spcPts val="1000"/>
                        </a:spcAft>
                        <a:buNone/>
                      </a:pPr>
                      <a:r>
                        <a:rPr lang="en-US" sz="1800" b="1" dirty="0">
                          <a:solidFill>
                            <a:srgbClr val="000000"/>
                          </a:solidFill>
                          <a:effectLst/>
                          <a:latin typeface="Aptos" panose="020B0004020202020204" pitchFamily="34" charset="0"/>
                          <a:ea typeface="MS Mincho" panose="02020609040205080304" pitchFamily="49" charset="-128"/>
                          <a:cs typeface="Times New Roman" panose="02020603050405020304" pitchFamily="18" charset="0"/>
                        </a:rPr>
                        <a:t>Immediate step</a:t>
                      </a:r>
                      <a:endParaRPr lang="en-US" sz="1800" dirty="0">
                        <a:effectLst/>
                        <a:latin typeface="Aptos" panose="020B0004020202020204" pitchFamily="34" charset="0"/>
                        <a:ea typeface="MS Mincho" panose="02020609040205080304" pitchFamily="49" charset="-128"/>
                        <a:cs typeface="Times New Roman" panose="02020603050405020304" pitchFamily="18" charset="0"/>
                      </a:endParaRPr>
                    </a:p>
                    <a:p>
                      <a:pPr>
                        <a:buNone/>
                      </a:pPr>
                      <a:endParaRPr lang="en-US" sz="1100" dirty="0">
                        <a:effectLst/>
                        <a:latin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E6F5"/>
                    </a:solidFill>
                  </a:tcPr>
                </a:tc>
                <a:tc>
                  <a:txBody>
                    <a:bodyPr/>
                    <a:lstStyle/>
                    <a:p>
                      <a:pPr marL="0" marR="0" algn="ctr">
                        <a:lnSpc>
                          <a:spcPct val="115000"/>
                        </a:lnSpc>
                        <a:spcAft>
                          <a:spcPts val="1000"/>
                        </a:spcAft>
                        <a:buNone/>
                      </a:pPr>
                      <a:r>
                        <a:rPr lang="en-US" sz="1800" b="1" dirty="0">
                          <a:solidFill>
                            <a:srgbClr val="000000"/>
                          </a:solidFill>
                          <a:effectLst/>
                          <a:latin typeface="Aptos" panose="020B0004020202020204" pitchFamily="34" charset="0"/>
                          <a:ea typeface="MS Mincho" panose="02020609040205080304" pitchFamily="49" charset="-128"/>
                          <a:cs typeface="Times New Roman" panose="02020603050405020304" pitchFamily="18" charset="0"/>
                        </a:rPr>
                        <a:t>Owner</a:t>
                      </a:r>
                      <a:endParaRPr lang="en-US" sz="1800" dirty="0">
                        <a:effectLst/>
                        <a:latin typeface="Aptos" panose="020B0004020202020204" pitchFamily="34" charset="0"/>
                        <a:ea typeface="MS Mincho" panose="02020609040205080304" pitchFamily="49" charset="-128"/>
                        <a:cs typeface="Times New Roman" panose="02020603050405020304" pitchFamily="18" charset="0"/>
                      </a:endParaRPr>
                    </a:p>
                    <a:p>
                      <a:pPr>
                        <a:buNone/>
                      </a:pPr>
                      <a:endParaRPr lang="en-US" sz="1100" dirty="0">
                        <a:effectLst/>
                        <a:latin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E6F5"/>
                    </a:solidFill>
                  </a:tcPr>
                </a:tc>
                <a:tc>
                  <a:txBody>
                    <a:bodyPr/>
                    <a:lstStyle/>
                    <a:p>
                      <a:pPr marL="0" marR="0" algn="ctr">
                        <a:lnSpc>
                          <a:spcPct val="115000"/>
                        </a:lnSpc>
                        <a:spcAft>
                          <a:spcPts val="1000"/>
                        </a:spcAft>
                        <a:buNone/>
                      </a:pPr>
                      <a:r>
                        <a:rPr lang="en-US" sz="1800" b="1" dirty="0">
                          <a:solidFill>
                            <a:srgbClr val="000000"/>
                          </a:solidFill>
                          <a:effectLst/>
                          <a:latin typeface="Aptos" panose="020B0004020202020204" pitchFamily="34" charset="0"/>
                          <a:ea typeface="MS Mincho" panose="02020609040205080304" pitchFamily="49" charset="-128"/>
                          <a:cs typeface="Times New Roman" panose="02020603050405020304" pitchFamily="18" charset="0"/>
                        </a:rPr>
                        <a:t>Deadline</a:t>
                      </a:r>
                      <a:endParaRPr lang="en-US" sz="1800" dirty="0">
                        <a:effectLst/>
                        <a:latin typeface="Aptos" panose="020B0004020202020204" pitchFamily="34" charset="0"/>
                        <a:ea typeface="MS Mincho" panose="02020609040205080304" pitchFamily="49" charset="-128"/>
                        <a:cs typeface="Times New Roman" panose="02020603050405020304" pitchFamily="18" charset="0"/>
                      </a:endParaRPr>
                    </a:p>
                    <a:p>
                      <a:pPr>
                        <a:buNone/>
                      </a:pPr>
                      <a:endParaRPr lang="en-US" sz="1100" dirty="0">
                        <a:effectLst/>
                        <a:latin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E6F5"/>
                    </a:solidFill>
                  </a:tcPr>
                </a:tc>
                <a:tc>
                  <a:txBody>
                    <a:bodyPr/>
                    <a:lstStyle/>
                    <a:p>
                      <a:pPr marL="0" marR="0" algn="ctr">
                        <a:lnSpc>
                          <a:spcPct val="115000"/>
                        </a:lnSpc>
                        <a:spcAft>
                          <a:spcPts val="1000"/>
                        </a:spcAft>
                        <a:buNone/>
                      </a:pPr>
                      <a:r>
                        <a:rPr lang="en-US" sz="1800" b="1" dirty="0">
                          <a:solidFill>
                            <a:srgbClr val="000000"/>
                          </a:solidFill>
                          <a:effectLst/>
                          <a:latin typeface="Aptos" panose="020B0004020202020204" pitchFamily="34" charset="0"/>
                          <a:ea typeface="MS Mincho" panose="02020609040205080304" pitchFamily="49" charset="-128"/>
                          <a:cs typeface="Times New Roman" panose="02020603050405020304" pitchFamily="18" charset="0"/>
                        </a:rPr>
                        <a:t>What completion looks like</a:t>
                      </a:r>
                      <a:endParaRPr lang="en-US" sz="1800" dirty="0">
                        <a:effectLst/>
                        <a:latin typeface="Aptos" panose="020B0004020202020204" pitchFamily="34" charset="0"/>
                        <a:ea typeface="MS Mincho" panose="02020609040205080304" pitchFamily="49" charset="-128"/>
                        <a:cs typeface="Times New Roman" panose="02020603050405020304" pitchFamily="18" charset="0"/>
                      </a:endParaRPr>
                    </a:p>
                    <a:p>
                      <a:pPr>
                        <a:buNone/>
                      </a:pPr>
                      <a:endParaRPr lang="en-US" sz="1100" dirty="0">
                        <a:effectLst/>
                        <a:latin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E6F5"/>
                    </a:solidFill>
                  </a:tcPr>
                </a:tc>
                <a:extLst>
                  <a:ext uri="{0D108BD9-81ED-4DB2-BD59-A6C34878D82A}">
                    <a16:rowId xmlns:a16="http://schemas.microsoft.com/office/drawing/2014/main" val="3431379381"/>
                  </a:ext>
                </a:extLst>
              </a:tr>
              <a:tr h="0">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5295163"/>
                  </a:ext>
                </a:extLst>
              </a:tr>
              <a:tr h="0">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3121321"/>
                  </a:ext>
                </a:extLst>
              </a:tr>
              <a:tr h="0">
                <a:tc>
                  <a:txBody>
                    <a:bodyPr/>
                    <a:lstStyle/>
                    <a:p>
                      <a:pPr marL="0" marR="0">
                        <a:lnSpc>
                          <a:spcPct val="112000"/>
                        </a:lnSpc>
                        <a:spcAft>
                          <a:spcPts val="1000"/>
                        </a:spcAft>
                        <a:buNone/>
                      </a:pPr>
                      <a:r>
                        <a:rPr lang="en-US" sz="110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5018068"/>
                  </a:ext>
                </a:extLst>
              </a:tr>
              <a:tr h="0">
                <a:tc>
                  <a:txBody>
                    <a:bodyPr/>
                    <a:lstStyle/>
                    <a:p>
                      <a:pPr marL="0" marR="0">
                        <a:lnSpc>
                          <a:spcPct val="112000"/>
                        </a:lnSpc>
                        <a:spcAft>
                          <a:spcPts val="1000"/>
                        </a:spcAft>
                        <a:buNone/>
                      </a:pPr>
                      <a:r>
                        <a:rPr lang="en-US" sz="110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395884"/>
                  </a:ext>
                </a:extLst>
              </a:tr>
              <a:tr h="0">
                <a:tc>
                  <a:txBody>
                    <a:bodyPr/>
                    <a:lstStyle/>
                    <a:p>
                      <a:pPr marL="0" marR="0">
                        <a:lnSpc>
                          <a:spcPct val="112000"/>
                        </a:lnSpc>
                        <a:spcAft>
                          <a:spcPts val="1000"/>
                        </a:spcAft>
                        <a:buNone/>
                      </a:pPr>
                      <a:r>
                        <a:rPr lang="en-US" sz="110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2000"/>
                        </a:lnSpc>
                        <a:spcAft>
                          <a:spcPts val="1000"/>
                        </a:spcAft>
                        <a:buNone/>
                      </a:pPr>
                      <a:r>
                        <a:rPr lang="en-US" sz="1100" dirty="0">
                          <a:effectLst/>
                          <a:latin typeface="Aptos" panose="020B0004020202020204" pitchFamily="34" charset="0"/>
                          <a:ea typeface="MS Mincho" panose="02020609040205080304" pitchFamily="49" charset="-128"/>
                          <a:cs typeface="Times New Roman" panose="02020603050405020304" pitchFamily="18" charset="0"/>
                        </a:rPr>
                        <a:t> </a:t>
                      </a:r>
                    </a:p>
                    <a:p>
                      <a:pPr>
                        <a:buNone/>
                      </a:pPr>
                      <a:endParaRPr lang="en-US" sz="1100" dirty="0">
                        <a:effectLst/>
                        <a:latin typeface="Cambria" panose="02040503050406030204" pitchFamily="18" charset="0"/>
                      </a:endParaRPr>
                    </a:p>
                  </a:txBody>
                  <a:tcPr marL="63500" marR="63500" marT="88900" marB="889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4555741"/>
                  </a:ext>
                </a:extLst>
              </a:tr>
            </a:tbl>
          </a:graphicData>
        </a:graphic>
      </p:graphicFrame>
    </p:spTree>
    <p:extLst>
      <p:ext uri="{BB962C8B-B14F-4D97-AF65-F5344CB8AC3E}">
        <p14:creationId xmlns:p14="http://schemas.microsoft.com/office/powerpoint/2010/main" val="1643591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BA0392-626F-830B-D55D-C6C0EDCD37E9}"/>
              </a:ext>
            </a:extLst>
          </p:cNvPr>
          <p:cNvSpPr>
            <a:spLocks noGrp="1"/>
          </p:cNvSpPr>
          <p:nvPr>
            <p:ph type="title"/>
          </p:nvPr>
        </p:nvSpPr>
        <p:spPr>
          <a:xfrm>
            <a:off x="838200" y="365125"/>
            <a:ext cx="10515600" cy="1325563"/>
          </a:xfrm>
        </p:spPr>
        <p:txBody>
          <a:bodyPr>
            <a:normAutofit/>
          </a:bodyPr>
          <a:lstStyle/>
          <a:p>
            <a:r>
              <a:rPr lang="en-US" sz="5400" b="1"/>
              <a:t>Friday Presentation Format</a:t>
            </a:r>
          </a:p>
        </p:txBody>
      </p:sp>
      <p:sp>
        <p:nvSpPr>
          <p:cNvPr id="33"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Content Placeholder 2">
            <a:extLst>
              <a:ext uri="{FF2B5EF4-FFF2-40B4-BE49-F238E27FC236}">
                <a16:creationId xmlns:a16="http://schemas.microsoft.com/office/drawing/2014/main" id="{800F2DAF-798A-0BD4-E6D4-097A38368A4F}"/>
              </a:ext>
            </a:extLst>
          </p:cNvPr>
          <p:cNvGraphicFramePr>
            <a:graphicFrameLocks noGrp="1"/>
          </p:cNvGraphicFramePr>
          <p:nvPr>
            <p:ph idx="1"/>
            <p:extLst>
              <p:ext uri="{D42A27DB-BD31-4B8C-83A1-F6EECF244321}">
                <p14:modId xmlns:p14="http://schemas.microsoft.com/office/powerpoint/2010/main" val="516869021"/>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6694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FCDD23B-75C8-427B-BD08-53C8156CD7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6CF4FA5-C0EA-5F93-77F9-202FA83F3900}"/>
              </a:ext>
            </a:extLst>
          </p:cNvPr>
          <p:cNvPicPr>
            <a:picLocks noChangeAspect="1"/>
          </p:cNvPicPr>
          <p:nvPr/>
        </p:nvPicPr>
        <p:blipFill>
          <a:blip r:embed="rId3"/>
          <a:srcRect r="-2" b="2183"/>
          <a:stretch>
            <a:fillRect/>
          </a:stretch>
        </p:blipFill>
        <p:spPr>
          <a:xfrm>
            <a:off x="-1" y="190"/>
            <a:ext cx="8128855" cy="5291194"/>
          </a:xfrm>
          <a:prstGeom prst="rect">
            <a:avLst/>
          </a:prstGeom>
        </p:spPr>
      </p:pic>
      <p:sp>
        <p:nvSpPr>
          <p:cNvPr id="22" name="Rectangle 21">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64" y="5282206"/>
            <a:ext cx="12192264" cy="1163844"/>
          </a:xfrm>
          <a:prstGeom prst="rect">
            <a:avLst/>
          </a:prstGeom>
          <a:gradFill>
            <a:gsLst>
              <a:gs pos="28000">
                <a:schemeClr val="accent1">
                  <a:lumMod val="75000"/>
                  <a:alpha val="11000"/>
                </a:schemeClr>
              </a:gs>
              <a:gs pos="100000">
                <a:srgbClr val="000000">
                  <a:alpha val="77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5282206"/>
            <a:ext cx="12191998" cy="1586485"/>
          </a:xfrm>
          <a:prstGeom prst="rect">
            <a:avLst/>
          </a:prstGeom>
          <a:gradFill>
            <a:gsLst>
              <a:gs pos="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DE5DA9AF-5BF2-E4DC-1BE9-966D9E07FA9F}"/>
              </a:ext>
            </a:extLst>
          </p:cNvPr>
          <p:cNvSpPr>
            <a:spLocks noGrp="1"/>
          </p:cNvSpPr>
          <p:nvPr>
            <p:ph type="title"/>
          </p:nvPr>
        </p:nvSpPr>
        <p:spPr>
          <a:xfrm>
            <a:off x="699715" y="5635366"/>
            <a:ext cx="7091299" cy="898581"/>
          </a:xfrm>
        </p:spPr>
        <p:txBody>
          <a:bodyPr vert="horz" lIns="91440" tIns="45720" rIns="91440" bIns="45720" rtlCol="0" anchor="ctr">
            <a:normAutofit/>
          </a:bodyPr>
          <a:lstStyle/>
          <a:p>
            <a:r>
              <a:rPr lang="en-US" sz="3400" kern="1200">
                <a:solidFill>
                  <a:srgbClr val="FFFFFF"/>
                </a:solidFill>
                <a:latin typeface="+mj-lt"/>
                <a:ea typeface="+mj-ea"/>
                <a:cs typeface="+mj-cs"/>
              </a:rPr>
              <a:t>2026 Competitiveness Action Report</a:t>
            </a:r>
          </a:p>
        </p:txBody>
      </p:sp>
      <p:sp>
        <p:nvSpPr>
          <p:cNvPr id="26" name="Rectangle 2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5282206"/>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AF5B72-049E-A0AF-227B-CB2ACB940892}"/>
              </a:ext>
            </a:extLst>
          </p:cNvPr>
          <p:cNvSpPr>
            <a:spLocks noGrp="1"/>
          </p:cNvSpPr>
          <p:nvPr>
            <p:ph idx="4294967295"/>
          </p:nvPr>
        </p:nvSpPr>
        <p:spPr>
          <a:xfrm>
            <a:off x="8571507" y="5669430"/>
            <a:ext cx="3291839" cy="830453"/>
          </a:xfrm>
        </p:spPr>
        <p:txBody>
          <a:bodyPr vert="horz" lIns="91440" tIns="45720" rIns="91440" bIns="45720" rtlCol="0" anchor="ctr">
            <a:normAutofit/>
          </a:bodyPr>
          <a:lstStyle/>
          <a:p>
            <a:pPr marL="0" indent="0">
              <a:buNone/>
            </a:pPr>
            <a:r>
              <a:rPr lang="en-US" sz="2000" kern="1200">
                <a:solidFill>
                  <a:srgbClr val="FFFFFF"/>
                </a:solidFill>
                <a:latin typeface="+mn-lt"/>
                <a:ea typeface="+mn-ea"/>
                <a:cs typeface="+mn-cs"/>
              </a:rPr>
              <a:t>Celebrating and Supporting Your Work</a:t>
            </a:r>
          </a:p>
        </p:txBody>
      </p:sp>
      <p:pic>
        <p:nvPicPr>
          <p:cNvPr id="8" name="Picture 7">
            <a:extLst>
              <a:ext uri="{FF2B5EF4-FFF2-40B4-BE49-F238E27FC236}">
                <a16:creationId xmlns:a16="http://schemas.microsoft.com/office/drawing/2014/main" id="{B53D555F-322F-E64C-1D5D-27CEEB5FBC0A}"/>
              </a:ext>
            </a:extLst>
          </p:cNvPr>
          <p:cNvPicPr>
            <a:picLocks noChangeAspect="1"/>
          </p:cNvPicPr>
          <p:nvPr/>
        </p:nvPicPr>
        <p:blipFill>
          <a:blip r:embed="rId4"/>
          <a:srcRect l="34496" r="14406" b="1"/>
          <a:stretch>
            <a:fillRect/>
          </a:stretch>
        </p:blipFill>
        <p:spPr>
          <a:xfrm>
            <a:off x="8128856" y="1"/>
            <a:ext cx="4063143" cy="5291384"/>
          </a:xfrm>
          <a:prstGeom prst="rect">
            <a:avLst/>
          </a:prstGeom>
        </p:spPr>
      </p:pic>
    </p:spTree>
    <p:extLst>
      <p:ext uri="{BB962C8B-B14F-4D97-AF65-F5344CB8AC3E}">
        <p14:creationId xmlns:p14="http://schemas.microsoft.com/office/powerpoint/2010/main" val="3063228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923B8-5AAD-C315-23C5-9E86A9849E0C}"/>
              </a:ext>
            </a:extLst>
          </p:cNvPr>
          <p:cNvSpPr>
            <a:spLocks noGrp="1"/>
          </p:cNvSpPr>
          <p:nvPr>
            <p:ph type="title"/>
          </p:nvPr>
        </p:nvSpPr>
        <p:spPr>
          <a:xfrm>
            <a:off x="5868557" y="1048516"/>
            <a:ext cx="6006450" cy="1491990"/>
          </a:xfrm>
        </p:spPr>
        <p:txBody>
          <a:bodyPr anchor="t">
            <a:normAutofit/>
          </a:bodyPr>
          <a:lstStyle/>
          <a:p>
            <a:r>
              <a:rPr lang="en-US" sz="3600" dirty="0"/>
              <a:t>Our Future When We Are Successful</a:t>
            </a:r>
          </a:p>
        </p:txBody>
      </p:sp>
      <p:pic>
        <p:nvPicPr>
          <p:cNvPr id="5" name="Picture 4">
            <a:extLst>
              <a:ext uri="{FF2B5EF4-FFF2-40B4-BE49-F238E27FC236}">
                <a16:creationId xmlns:a16="http://schemas.microsoft.com/office/drawing/2014/main" id="{1016C29D-34DF-9E11-2A34-1E3A126F4E53}"/>
              </a:ext>
            </a:extLst>
          </p:cNvPr>
          <p:cNvPicPr>
            <a:picLocks noChangeAspect="1"/>
          </p:cNvPicPr>
          <p:nvPr/>
        </p:nvPicPr>
        <p:blipFill>
          <a:blip r:embed="rId3"/>
          <a:srcRect l="11995" r="13227"/>
          <a:stretch>
            <a:fillRect/>
          </a:stretch>
        </p:blipFill>
        <p:spPr>
          <a:xfrm>
            <a:off x="-1" y="10"/>
            <a:ext cx="5151179" cy="6857990"/>
          </a:xfrm>
          <a:prstGeom prst="rect">
            <a:avLst/>
          </a:prstGeom>
        </p:spPr>
      </p:pic>
      <p:cxnSp>
        <p:nvCxnSpPr>
          <p:cNvPr id="10" name="Straight Connector 9">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B991214-35E3-F96D-D6F4-6D6668B8F357}"/>
              </a:ext>
            </a:extLst>
          </p:cNvPr>
          <p:cNvSpPr>
            <a:spLocks noGrp="1"/>
          </p:cNvSpPr>
          <p:nvPr>
            <p:ph idx="1"/>
          </p:nvPr>
        </p:nvSpPr>
        <p:spPr>
          <a:xfrm>
            <a:off x="5868557" y="3002280"/>
            <a:ext cx="5444382" cy="3591207"/>
          </a:xfrm>
        </p:spPr>
        <p:txBody>
          <a:bodyPr>
            <a:normAutofit lnSpcReduction="10000"/>
          </a:bodyPr>
          <a:lstStyle/>
          <a:p>
            <a:pPr marL="0" indent="0">
              <a:buNone/>
            </a:pPr>
            <a:r>
              <a:rPr lang="en-US" sz="3200" kern="100" dirty="0">
                <a:latin typeface="Aptos" panose="020B0004020202020204" pitchFamily="34" charset="0"/>
                <a:ea typeface="Aptos" panose="020B0004020202020204" pitchFamily="34" charset="0"/>
                <a:cs typeface="Times New Roman" panose="02020603050405020304" pitchFamily="18" charset="0"/>
              </a:rPr>
              <a:t>Your Strategy, Collaboration and Action</a:t>
            </a:r>
          </a:p>
          <a:p>
            <a:pPr marL="0" indent="0">
              <a:buNone/>
            </a:pPr>
            <a:endParaRPr lang="en-US" sz="3200" kern="100" dirty="0">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US" sz="3200" kern="100" dirty="0">
                <a:latin typeface="Aptos" panose="020B0004020202020204" pitchFamily="34" charset="0"/>
                <a:ea typeface="Aptos" panose="020B0004020202020204" pitchFamily="34" charset="0"/>
                <a:cs typeface="Times New Roman" panose="02020603050405020304" pitchFamily="18" charset="0"/>
              </a:rPr>
              <a:t>Creates Sustainable</a:t>
            </a:r>
            <a:r>
              <a:rPr lang="en-US" sz="3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3200" kern="100" dirty="0">
                <a:latin typeface="Aptos" panose="020B0004020202020204" pitchFamily="34" charset="0"/>
                <a:ea typeface="Aptos" panose="020B0004020202020204" pitchFamily="34" charset="0"/>
                <a:cs typeface="Times New Roman" panose="02020603050405020304" pitchFamily="18" charset="0"/>
              </a:rPr>
              <a:t>G</a:t>
            </a:r>
            <a:r>
              <a:rPr lang="en-US" sz="3200" kern="100" dirty="0">
                <a:effectLst/>
                <a:latin typeface="Aptos" panose="020B0004020202020204" pitchFamily="34" charset="0"/>
                <a:ea typeface="Aptos" panose="020B0004020202020204" pitchFamily="34" charset="0"/>
                <a:cs typeface="Times New Roman" panose="02020603050405020304" pitchFamily="18" charset="0"/>
              </a:rPr>
              <a:t>lobally </a:t>
            </a:r>
            <a:r>
              <a:rPr lang="en-US" sz="3200" kern="100" dirty="0">
                <a:latin typeface="Aptos" panose="020B0004020202020204" pitchFamily="34" charset="0"/>
                <a:ea typeface="Aptos" panose="020B0004020202020204" pitchFamily="34" charset="0"/>
                <a:cs typeface="Times New Roman" panose="02020603050405020304" pitchFamily="18" charset="0"/>
              </a:rPr>
              <a:t>C</a:t>
            </a:r>
            <a:r>
              <a:rPr lang="en-US" sz="3200" kern="100" dirty="0">
                <a:effectLst/>
                <a:latin typeface="Aptos" panose="020B0004020202020204" pitchFamily="34" charset="0"/>
                <a:ea typeface="Aptos" panose="020B0004020202020204" pitchFamily="34" charset="0"/>
                <a:cs typeface="Times New Roman" panose="02020603050405020304" pitchFamily="18" charset="0"/>
              </a:rPr>
              <a:t>ompetitive </a:t>
            </a:r>
            <a:r>
              <a:rPr lang="en-US" sz="3200" kern="100" dirty="0">
                <a:latin typeface="Aptos" panose="020B0004020202020204" pitchFamily="34" charset="0"/>
                <a:ea typeface="Aptos" panose="020B0004020202020204" pitchFamily="34" charset="0"/>
                <a:cs typeface="Times New Roman" panose="02020603050405020304" pitchFamily="18" charset="0"/>
              </a:rPr>
              <a:t>I</a:t>
            </a:r>
            <a:r>
              <a:rPr lang="en-US" sz="3200" kern="100" dirty="0">
                <a:effectLst/>
                <a:latin typeface="Aptos" panose="020B0004020202020204" pitchFamily="34" charset="0"/>
                <a:ea typeface="Aptos" panose="020B0004020202020204" pitchFamily="34" charset="0"/>
                <a:cs typeface="Times New Roman" panose="02020603050405020304" pitchFamily="18" charset="0"/>
              </a:rPr>
              <a:t>nnovation </a:t>
            </a:r>
            <a:r>
              <a:rPr lang="en-US" sz="3200" kern="100" dirty="0">
                <a:latin typeface="Aptos" panose="020B0004020202020204" pitchFamily="34" charset="0"/>
                <a:ea typeface="Aptos" panose="020B0004020202020204" pitchFamily="34" charset="0"/>
                <a:cs typeface="Times New Roman" panose="02020603050405020304" pitchFamily="18" charset="0"/>
              </a:rPr>
              <a:t>H</a:t>
            </a:r>
            <a:r>
              <a:rPr lang="en-US" sz="3200" kern="100" dirty="0">
                <a:effectLst/>
                <a:latin typeface="Aptos" panose="020B0004020202020204" pitchFamily="34" charset="0"/>
                <a:ea typeface="Aptos" panose="020B0004020202020204" pitchFamily="34" charset="0"/>
                <a:cs typeface="Times New Roman" panose="02020603050405020304" pitchFamily="18" charset="0"/>
              </a:rPr>
              <a:t>ubs and Broadly </a:t>
            </a:r>
            <a:r>
              <a:rPr lang="en-US" sz="3200" kern="100" dirty="0">
                <a:latin typeface="Aptos" panose="020B0004020202020204" pitchFamily="34" charset="0"/>
                <a:ea typeface="Aptos" panose="020B0004020202020204" pitchFamily="34" charset="0"/>
                <a:cs typeface="Times New Roman" panose="02020603050405020304" pitchFamily="18" charset="0"/>
              </a:rPr>
              <a:t>S</a:t>
            </a:r>
            <a:r>
              <a:rPr lang="en-US" sz="3200" kern="100" dirty="0">
                <a:effectLst/>
                <a:latin typeface="Aptos" panose="020B0004020202020204" pitchFamily="34" charset="0"/>
                <a:ea typeface="Aptos" panose="020B0004020202020204" pitchFamily="34" charset="0"/>
                <a:cs typeface="Times New Roman" panose="02020603050405020304" pitchFamily="18" charset="0"/>
              </a:rPr>
              <a:t>hared </a:t>
            </a:r>
            <a:r>
              <a:rPr lang="en-US" sz="3200" kern="100" dirty="0">
                <a:latin typeface="Aptos" panose="020B0004020202020204" pitchFamily="34" charset="0"/>
                <a:ea typeface="Aptos" panose="020B0004020202020204" pitchFamily="34" charset="0"/>
                <a:cs typeface="Times New Roman" panose="02020603050405020304" pitchFamily="18" charset="0"/>
              </a:rPr>
              <a:t>P</a:t>
            </a:r>
            <a:r>
              <a:rPr lang="en-US" sz="3200" kern="100" dirty="0">
                <a:effectLst/>
                <a:latin typeface="Aptos" panose="020B0004020202020204" pitchFamily="34" charset="0"/>
                <a:ea typeface="Aptos" panose="020B0004020202020204" pitchFamily="34" charset="0"/>
                <a:cs typeface="Times New Roman" panose="02020603050405020304" pitchFamily="18" charset="0"/>
              </a:rPr>
              <a:t>rosperity</a:t>
            </a:r>
          </a:p>
          <a:p>
            <a:pPr marL="0" indent="0">
              <a:buNone/>
            </a:pPr>
            <a:r>
              <a:rPr lang="en-US" sz="2000" kern="100" dirty="0">
                <a:latin typeface="Aptos" panose="020B0004020202020204" pitchFamily="34" charset="0"/>
                <a:ea typeface="Aptos" panose="020B0004020202020204" pitchFamily="34" charset="0"/>
                <a:cs typeface="Times New Roman" panose="02020603050405020304" pitchFamily="18" charset="0"/>
              </a:rPr>
              <a:t> </a:t>
            </a:r>
          </a:p>
          <a:p>
            <a:endParaRPr lang="en-US" sz="2000" dirty="0"/>
          </a:p>
        </p:txBody>
      </p:sp>
    </p:spTree>
    <p:extLst>
      <p:ext uri="{BB962C8B-B14F-4D97-AF65-F5344CB8AC3E}">
        <p14:creationId xmlns:p14="http://schemas.microsoft.com/office/powerpoint/2010/main" val="18015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6907</TotalTime>
  <Words>1775</Words>
  <Application>Microsoft Macintosh PowerPoint</Application>
  <PresentationFormat>Widescreen</PresentationFormat>
  <Paragraphs>250</Paragraphs>
  <Slides>17</Slides>
  <Notes>14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Cambria</vt:lpstr>
      <vt:lpstr>Office Theme</vt:lpstr>
      <vt:lpstr>2026 Inaugural PDI Fellows Academy</vt:lpstr>
      <vt:lpstr>GREAT R EGIONS ARE  INTENTIONAL  NOT ACCIDENTAL</vt:lpstr>
      <vt:lpstr>Intentional Process</vt:lpstr>
      <vt:lpstr>PowerPoint Presentation</vt:lpstr>
      <vt:lpstr>Globally Competitive Innovation Hub Essentials</vt:lpstr>
      <vt:lpstr>PowerPoint Presentation</vt:lpstr>
      <vt:lpstr>Unleashing the Power of….</vt:lpstr>
      <vt:lpstr>PowerPoint Presentation</vt:lpstr>
      <vt:lpstr>The Four Working Templates</vt:lpstr>
      <vt:lpstr>Session 1—What You Have— Reference Regional Initiative Inventory</vt:lpstr>
      <vt:lpstr>Session 2—Your Regional Differentiation</vt:lpstr>
      <vt:lpstr>Session 3—Your Strategic Priority Choice</vt:lpstr>
      <vt:lpstr>Session 4—Action Planning</vt:lpstr>
      <vt:lpstr>Activation Templates</vt:lpstr>
      <vt:lpstr>Friday Presentation Format</vt:lpstr>
      <vt:lpstr>2026 Competitiveness Action Report</vt:lpstr>
      <vt:lpstr>Our Future When We Are Successful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Linda Peek Schacht</dc:creator>
  <cp:lastModifiedBy>Linda Peek Schacht</cp:lastModifiedBy>
  <cp:revision>7</cp:revision>
  <dcterms:created xsi:type="dcterms:W3CDTF">2026-06-09T18:24:06Z</dcterms:created>
  <dcterms:modified xsi:type="dcterms:W3CDTF">2026-06-24T12:46:29Z</dcterms:modified>
</cp:coreProperties>
</file>