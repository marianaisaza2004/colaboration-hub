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468357" y="2987497"/>
            <a:ext cx="2399029" cy="641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460" y="1722577"/>
            <a:ext cx="8669655" cy="3084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"/>
            <a:ext cx="12182603" cy="68515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58189" y="870838"/>
            <a:ext cx="10052685" cy="2011045"/>
          </a:xfrm>
          <a:prstGeom prst="rect"/>
        </p:spPr>
        <p:txBody>
          <a:bodyPr wrap="square" lIns="0" tIns="67945" rIns="0" bIns="0" rtlCol="0" vert="horz">
            <a:spAutoFit/>
          </a:bodyPr>
          <a:lstStyle/>
          <a:p>
            <a:pPr algn="ctr" marL="12065" marR="5080" indent="-10795">
              <a:lnSpc>
                <a:spcPct val="90400"/>
              </a:lnSpc>
              <a:spcBef>
                <a:spcPts val="535"/>
              </a:spcBef>
            </a:pPr>
            <a:r>
              <a:rPr dirty="0" sz="3500" spc="-240">
                <a:solidFill>
                  <a:srgbClr val="FFFFFF"/>
                </a:solidFill>
              </a:rPr>
              <a:t>The</a:t>
            </a:r>
            <a:r>
              <a:rPr dirty="0" sz="3500" spc="-390">
                <a:solidFill>
                  <a:srgbClr val="FFFFFF"/>
                </a:solidFill>
              </a:rPr>
              <a:t> </a:t>
            </a:r>
            <a:r>
              <a:rPr dirty="0" sz="3500" spc="-80">
                <a:solidFill>
                  <a:srgbClr val="FFFFFF"/>
                </a:solidFill>
              </a:rPr>
              <a:t>Mid-</a:t>
            </a:r>
            <a:r>
              <a:rPr dirty="0" sz="3500" spc="-105">
                <a:solidFill>
                  <a:srgbClr val="FFFFFF"/>
                </a:solidFill>
              </a:rPr>
              <a:t>South</a:t>
            </a:r>
            <a:r>
              <a:rPr dirty="0" sz="3500" spc="-355">
                <a:solidFill>
                  <a:srgbClr val="FFFFFF"/>
                </a:solidFill>
              </a:rPr>
              <a:t> </a:t>
            </a:r>
            <a:r>
              <a:rPr dirty="0" sz="3500" spc="-165">
                <a:solidFill>
                  <a:srgbClr val="FFFFFF"/>
                </a:solidFill>
              </a:rPr>
              <a:t>Delta</a:t>
            </a:r>
            <a:r>
              <a:rPr dirty="0" sz="3500" spc="-360">
                <a:solidFill>
                  <a:srgbClr val="FFFFFF"/>
                </a:solidFill>
              </a:rPr>
              <a:t> </a:t>
            </a:r>
            <a:r>
              <a:rPr dirty="0" sz="3500" spc="-200">
                <a:solidFill>
                  <a:srgbClr val="FFFFFF"/>
                </a:solidFill>
              </a:rPr>
              <a:t>will</a:t>
            </a:r>
            <a:r>
              <a:rPr dirty="0" sz="3500" spc="-355">
                <a:solidFill>
                  <a:srgbClr val="FFFFFF"/>
                </a:solidFill>
              </a:rPr>
              <a:t> </a:t>
            </a:r>
            <a:r>
              <a:rPr dirty="0" sz="3500" spc="-160">
                <a:solidFill>
                  <a:srgbClr val="FFFFFF"/>
                </a:solidFill>
              </a:rPr>
              <a:t>lead</a:t>
            </a:r>
            <a:r>
              <a:rPr dirty="0" sz="3500" spc="-400">
                <a:solidFill>
                  <a:srgbClr val="FFFFFF"/>
                </a:solidFill>
              </a:rPr>
              <a:t> </a:t>
            </a:r>
            <a:r>
              <a:rPr dirty="0" sz="3500" spc="-215">
                <a:solidFill>
                  <a:srgbClr val="FFFFFF"/>
                </a:solidFill>
              </a:rPr>
              <a:t>innovative</a:t>
            </a:r>
            <a:r>
              <a:rPr dirty="0" sz="3500" spc="-390">
                <a:solidFill>
                  <a:srgbClr val="FFFFFF"/>
                </a:solidFill>
              </a:rPr>
              <a:t> </a:t>
            </a:r>
            <a:r>
              <a:rPr dirty="0" sz="3500" spc="-90">
                <a:solidFill>
                  <a:srgbClr val="FFFFFF"/>
                </a:solidFill>
              </a:rPr>
              <a:t>agriculture </a:t>
            </a:r>
            <a:r>
              <a:rPr dirty="0" sz="3500" spc="-165">
                <a:solidFill>
                  <a:srgbClr val="FFFFFF"/>
                </a:solidFill>
              </a:rPr>
              <a:t>value-</a:t>
            </a:r>
            <a:r>
              <a:rPr dirty="0" sz="3500" spc="-140">
                <a:solidFill>
                  <a:srgbClr val="FFFFFF"/>
                </a:solidFill>
              </a:rPr>
              <a:t>chain</a:t>
            </a:r>
            <a:r>
              <a:rPr dirty="0" sz="3500" spc="-355">
                <a:solidFill>
                  <a:srgbClr val="FFFFFF"/>
                </a:solidFill>
              </a:rPr>
              <a:t> </a:t>
            </a:r>
            <a:r>
              <a:rPr dirty="0" sz="3500" spc="-190">
                <a:solidFill>
                  <a:srgbClr val="FFFFFF"/>
                </a:solidFill>
              </a:rPr>
              <a:t>development</a:t>
            </a:r>
            <a:r>
              <a:rPr dirty="0" sz="3500" spc="-355">
                <a:solidFill>
                  <a:srgbClr val="FFFFFF"/>
                </a:solidFill>
              </a:rPr>
              <a:t> </a:t>
            </a:r>
            <a:r>
              <a:rPr dirty="0" sz="3500" spc="-220">
                <a:solidFill>
                  <a:srgbClr val="FFFFFF"/>
                </a:solidFill>
              </a:rPr>
              <a:t>by</a:t>
            </a:r>
            <a:r>
              <a:rPr dirty="0" sz="3500" spc="-305">
                <a:solidFill>
                  <a:srgbClr val="FFFFFF"/>
                </a:solidFill>
              </a:rPr>
              <a:t> </a:t>
            </a:r>
            <a:r>
              <a:rPr dirty="0" sz="3500" spc="-225">
                <a:solidFill>
                  <a:srgbClr val="FFFFFF"/>
                </a:solidFill>
              </a:rPr>
              <a:t>leveraging</a:t>
            </a:r>
            <a:r>
              <a:rPr dirty="0" sz="3500" spc="-330">
                <a:solidFill>
                  <a:srgbClr val="FFFFFF"/>
                </a:solidFill>
              </a:rPr>
              <a:t> </a:t>
            </a:r>
            <a:r>
              <a:rPr dirty="0" sz="3500" spc="-190">
                <a:solidFill>
                  <a:srgbClr val="FFFFFF"/>
                </a:solidFill>
              </a:rPr>
              <a:t>our</a:t>
            </a:r>
            <a:r>
              <a:rPr dirty="0" sz="3500" spc="-305">
                <a:solidFill>
                  <a:srgbClr val="FFFFFF"/>
                </a:solidFill>
              </a:rPr>
              <a:t> </a:t>
            </a:r>
            <a:r>
              <a:rPr dirty="0" sz="3500" spc="-190">
                <a:solidFill>
                  <a:srgbClr val="FFFFFF"/>
                </a:solidFill>
              </a:rPr>
              <a:t>ideal</a:t>
            </a:r>
            <a:r>
              <a:rPr dirty="0" sz="3500" spc="-355">
                <a:solidFill>
                  <a:srgbClr val="FFFFFF"/>
                </a:solidFill>
              </a:rPr>
              <a:t> </a:t>
            </a:r>
            <a:r>
              <a:rPr dirty="0" sz="3500" spc="-150">
                <a:solidFill>
                  <a:srgbClr val="FFFFFF"/>
                </a:solidFill>
              </a:rPr>
              <a:t>growing </a:t>
            </a:r>
            <a:r>
              <a:rPr dirty="0" sz="3500" spc="-170">
                <a:solidFill>
                  <a:srgbClr val="FFFFFF"/>
                </a:solidFill>
              </a:rPr>
              <a:t>conditions,</a:t>
            </a:r>
            <a:r>
              <a:rPr dirty="0" sz="3500" spc="-355">
                <a:solidFill>
                  <a:srgbClr val="FFFFFF"/>
                </a:solidFill>
              </a:rPr>
              <a:t> </a:t>
            </a:r>
            <a:r>
              <a:rPr dirty="0" sz="3500" spc="-175">
                <a:solidFill>
                  <a:srgbClr val="FFFFFF"/>
                </a:solidFill>
              </a:rPr>
              <a:t>abundant</a:t>
            </a:r>
            <a:r>
              <a:rPr dirty="0" sz="3500" spc="-345">
                <a:solidFill>
                  <a:srgbClr val="FFFFFF"/>
                </a:solidFill>
              </a:rPr>
              <a:t> </a:t>
            </a:r>
            <a:r>
              <a:rPr dirty="0" sz="3500" spc="-215">
                <a:solidFill>
                  <a:srgbClr val="FFFFFF"/>
                </a:solidFill>
              </a:rPr>
              <a:t>natural</a:t>
            </a:r>
            <a:r>
              <a:rPr dirty="0" sz="3500" spc="-340">
                <a:solidFill>
                  <a:srgbClr val="FFFFFF"/>
                </a:solidFill>
              </a:rPr>
              <a:t> </a:t>
            </a:r>
            <a:r>
              <a:rPr dirty="0" sz="3500" spc="-145">
                <a:solidFill>
                  <a:srgbClr val="FFFFFF"/>
                </a:solidFill>
              </a:rPr>
              <a:t>resources,</a:t>
            </a:r>
            <a:r>
              <a:rPr dirty="0" sz="3500" spc="-355">
                <a:solidFill>
                  <a:srgbClr val="FFFFFF"/>
                </a:solidFill>
              </a:rPr>
              <a:t> </a:t>
            </a:r>
            <a:r>
              <a:rPr dirty="0" sz="3500" spc="-125">
                <a:solidFill>
                  <a:srgbClr val="FFFFFF"/>
                </a:solidFill>
              </a:rPr>
              <a:t>local</a:t>
            </a:r>
            <a:r>
              <a:rPr dirty="0" sz="3500" spc="-345">
                <a:solidFill>
                  <a:srgbClr val="FFFFFF"/>
                </a:solidFill>
              </a:rPr>
              <a:t> </a:t>
            </a:r>
            <a:r>
              <a:rPr dirty="0" sz="3500" spc="-100">
                <a:solidFill>
                  <a:srgbClr val="FFFFFF"/>
                </a:solidFill>
              </a:rPr>
              <a:t>expertise, </a:t>
            </a:r>
            <a:r>
              <a:rPr dirty="0" sz="3500" spc="-180">
                <a:solidFill>
                  <a:srgbClr val="FFFFFF"/>
                </a:solidFill>
              </a:rPr>
              <a:t>industrial</a:t>
            </a:r>
            <a:r>
              <a:rPr dirty="0" sz="3500" spc="-345">
                <a:solidFill>
                  <a:srgbClr val="FFFFFF"/>
                </a:solidFill>
              </a:rPr>
              <a:t> </a:t>
            </a:r>
            <a:r>
              <a:rPr dirty="0" sz="3500" spc="-90">
                <a:solidFill>
                  <a:srgbClr val="FFFFFF"/>
                </a:solidFill>
              </a:rPr>
              <a:t>assets,</a:t>
            </a:r>
            <a:r>
              <a:rPr dirty="0" sz="3500" spc="-275">
                <a:solidFill>
                  <a:srgbClr val="FFFFFF"/>
                </a:solidFill>
              </a:rPr>
              <a:t> </a:t>
            </a:r>
            <a:r>
              <a:rPr dirty="0" sz="3500" spc="-150">
                <a:solidFill>
                  <a:srgbClr val="FFFFFF"/>
                </a:solidFill>
              </a:rPr>
              <a:t>and</a:t>
            </a:r>
            <a:r>
              <a:rPr dirty="0" sz="3500" spc="-300">
                <a:solidFill>
                  <a:srgbClr val="FFFFFF"/>
                </a:solidFill>
              </a:rPr>
              <a:t> </a:t>
            </a:r>
            <a:r>
              <a:rPr dirty="0" sz="3500" spc="-165">
                <a:solidFill>
                  <a:srgbClr val="FFFFFF"/>
                </a:solidFill>
              </a:rPr>
              <a:t>world-</a:t>
            </a:r>
            <a:r>
              <a:rPr dirty="0" sz="3500">
                <a:solidFill>
                  <a:srgbClr val="FFFFFF"/>
                </a:solidFill>
              </a:rPr>
              <a:t>class</a:t>
            </a:r>
            <a:r>
              <a:rPr dirty="0" sz="3500" spc="-330">
                <a:solidFill>
                  <a:srgbClr val="FFFFFF"/>
                </a:solidFill>
              </a:rPr>
              <a:t> </a:t>
            </a:r>
            <a:r>
              <a:rPr dirty="0" sz="3500" spc="-120">
                <a:solidFill>
                  <a:srgbClr val="FFFFFF"/>
                </a:solidFill>
              </a:rPr>
              <a:t>distribution.</a:t>
            </a:r>
            <a:endParaRPr sz="3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62"/>
            <a:ext cx="12189460" cy="6859905"/>
            <a:chOff x="0" y="-62"/>
            <a:chExt cx="12189460" cy="68599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966508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39" y="-62"/>
              <a:ext cx="7068311" cy="685977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65"/>
              <a:t>The</a:t>
            </a:r>
            <a:r>
              <a:rPr dirty="0" spc="-470"/>
              <a:t> </a:t>
            </a:r>
            <a:r>
              <a:rPr dirty="0" spc="-204"/>
              <a:t>Region.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520431" y="3961372"/>
            <a:ext cx="4347210" cy="2764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L="1740535" marR="5080" indent="345440">
              <a:lnSpc>
                <a:spcPct val="127899"/>
              </a:lnSpc>
              <a:spcBef>
                <a:spcPts val="95"/>
              </a:spcBef>
            </a:pPr>
            <a:r>
              <a:rPr dirty="0" sz="2350" spc="100">
                <a:latin typeface="Trebuchet MS"/>
                <a:cs typeface="Trebuchet MS"/>
              </a:rPr>
              <a:t>16M</a:t>
            </a:r>
            <a:r>
              <a:rPr dirty="0" sz="2350" spc="-200">
                <a:latin typeface="Trebuchet MS"/>
                <a:cs typeface="Trebuchet MS"/>
              </a:rPr>
              <a:t> </a:t>
            </a:r>
            <a:r>
              <a:rPr dirty="0" sz="2350" spc="-40">
                <a:latin typeface="Trebuchet MS"/>
                <a:cs typeface="Trebuchet MS"/>
              </a:rPr>
              <a:t>arable</a:t>
            </a:r>
            <a:r>
              <a:rPr dirty="0" sz="2350" spc="-220">
                <a:latin typeface="Trebuchet MS"/>
                <a:cs typeface="Trebuchet MS"/>
              </a:rPr>
              <a:t> </a:t>
            </a:r>
            <a:r>
              <a:rPr dirty="0" sz="2350" spc="-20">
                <a:latin typeface="Trebuchet MS"/>
                <a:cs typeface="Trebuchet MS"/>
              </a:rPr>
              <a:t>acres </a:t>
            </a:r>
            <a:r>
              <a:rPr dirty="0" sz="2350" spc="90">
                <a:latin typeface="Trebuchet MS"/>
                <a:cs typeface="Trebuchet MS"/>
              </a:rPr>
              <a:t>Access</a:t>
            </a:r>
            <a:r>
              <a:rPr dirty="0" sz="2350" spc="-200">
                <a:latin typeface="Trebuchet MS"/>
                <a:cs typeface="Trebuchet MS"/>
              </a:rPr>
              <a:t> </a:t>
            </a:r>
            <a:r>
              <a:rPr dirty="0" sz="2350" spc="-65">
                <a:latin typeface="Trebuchet MS"/>
                <a:cs typeface="Trebuchet MS"/>
              </a:rPr>
              <a:t>to</a:t>
            </a:r>
            <a:r>
              <a:rPr dirty="0" sz="2350" spc="-204">
                <a:latin typeface="Trebuchet MS"/>
                <a:cs typeface="Trebuchet MS"/>
              </a:rPr>
              <a:t> </a:t>
            </a:r>
            <a:r>
              <a:rPr dirty="0" sz="2350" spc="-20">
                <a:latin typeface="Trebuchet MS"/>
                <a:cs typeface="Trebuchet MS"/>
              </a:rPr>
              <a:t>water </a:t>
            </a:r>
            <a:r>
              <a:rPr dirty="0" sz="2350" spc="-10">
                <a:latin typeface="Trebuchet MS"/>
                <a:cs typeface="Trebuchet MS"/>
              </a:rPr>
              <a:t>Public</a:t>
            </a:r>
            <a:r>
              <a:rPr dirty="0" sz="2350" spc="-105">
                <a:latin typeface="Trebuchet MS"/>
                <a:cs typeface="Trebuchet MS"/>
              </a:rPr>
              <a:t> </a:t>
            </a:r>
            <a:r>
              <a:rPr dirty="0" sz="2350">
                <a:latin typeface="Trebuchet MS"/>
                <a:cs typeface="Trebuchet MS"/>
              </a:rPr>
              <a:t>R1</a:t>
            </a:r>
            <a:r>
              <a:rPr dirty="0" sz="2350" spc="-204">
                <a:latin typeface="Trebuchet MS"/>
                <a:cs typeface="Trebuchet MS"/>
              </a:rPr>
              <a:t> </a:t>
            </a:r>
            <a:r>
              <a:rPr dirty="0" sz="2350" spc="-35">
                <a:latin typeface="Trebuchet MS"/>
                <a:cs typeface="Trebuchet MS"/>
              </a:rPr>
              <a:t>University</a:t>
            </a:r>
            <a:endParaRPr sz="2350">
              <a:latin typeface="Trebuchet MS"/>
              <a:cs typeface="Trebuchet MS"/>
            </a:endParaRPr>
          </a:p>
          <a:p>
            <a:pPr algn="r" marL="1634489" marR="5080" indent="-480059">
              <a:lnSpc>
                <a:spcPct val="127800"/>
              </a:lnSpc>
            </a:pPr>
            <a:r>
              <a:rPr dirty="0" sz="2350" spc="-10">
                <a:latin typeface="Trebuchet MS"/>
                <a:cs typeface="Trebuchet MS"/>
              </a:rPr>
              <a:t>Regional</a:t>
            </a:r>
            <a:r>
              <a:rPr dirty="0" sz="2350" spc="-145">
                <a:latin typeface="Trebuchet MS"/>
                <a:cs typeface="Trebuchet MS"/>
              </a:rPr>
              <a:t> </a:t>
            </a:r>
            <a:r>
              <a:rPr dirty="0" sz="2350" spc="-20">
                <a:latin typeface="Trebuchet MS"/>
                <a:cs typeface="Trebuchet MS"/>
              </a:rPr>
              <a:t>research</a:t>
            </a:r>
            <a:r>
              <a:rPr dirty="0" sz="2350" spc="-120">
                <a:latin typeface="Trebuchet MS"/>
                <a:cs typeface="Trebuchet MS"/>
              </a:rPr>
              <a:t> </a:t>
            </a:r>
            <a:r>
              <a:rPr dirty="0" sz="2350" spc="-20">
                <a:latin typeface="Trebuchet MS"/>
                <a:cs typeface="Trebuchet MS"/>
              </a:rPr>
              <a:t>farms </a:t>
            </a:r>
            <a:r>
              <a:rPr dirty="0" sz="2350" spc="-10">
                <a:latin typeface="Trebuchet MS"/>
                <a:cs typeface="Trebuchet MS"/>
              </a:rPr>
              <a:t>World</a:t>
            </a:r>
            <a:r>
              <a:rPr dirty="0" sz="2350" spc="-170">
                <a:latin typeface="Trebuchet MS"/>
                <a:cs typeface="Trebuchet MS"/>
              </a:rPr>
              <a:t> </a:t>
            </a:r>
            <a:r>
              <a:rPr dirty="0" sz="2350" spc="90">
                <a:latin typeface="Trebuchet MS"/>
                <a:cs typeface="Trebuchet MS"/>
              </a:rPr>
              <a:t>class</a:t>
            </a:r>
            <a:r>
              <a:rPr dirty="0" sz="2350" spc="-204">
                <a:latin typeface="Trebuchet MS"/>
                <a:cs typeface="Trebuchet MS"/>
              </a:rPr>
              <a:t> </a:t>
            </a:r>
            <a:r>
              <a:rPr dirty="0" sz="2350" spc="-10">
                <a:latin typeface="Trebuchet MS"/>
                <a:cs typeface="Trebuchet MS"/>
              </a:rPr>
              <a:t>logistics</a:t>
            </a:r>
            <a:endParaRPr sz="2350">
              <a:latin typeface="Trebuchet MS"/>
              <a:cs typeface="Trebuchet MS"/>
            </a:endParaRPr>
          </a:p>
          <a:p>
            <a:pPr algn="r" marR="13335">
              <a:lnSpc>
                <a:spcPct val="100000"/>
              </a:lnSpc>
              <a:spcBef>
                <a:spcPts val="720"/>
              </a:spcBef>
            </a:pPr>
            <a:r>
              <a:rPr dirty="0" sz="2350">
                <a:latin typeface="Trebuchet MS"/>
                <a:cs typeface="Trebuchet MS"/>
              </a:rPr>
              <a:t>250</a:t>
            </a:r>
            <a:r>
              <a:rPr dirty="0" sz="2350" spc="-195">
                <a:latin typeface="Trebuchet MS"/>
                <a:cs typeface="Trebuchet MS"/>
              </a:rPr>
              <a:t> </a:t>
            </a:r>
            <a:r>
              <a:rPr dirty="0" sz="2350">
                <a:latin typeface="Trebuchet MS"/>
                <a:cs typeface="Trebuchet MS"/>
              </a:rPr>
              <a:t>Food</a:t>
            </a:r>
            <a:r>
              <a:rPr dirty="0" sz="2350" spc="-105">
                <a:latin typeface="Trebuchet MS"/>
                <a:cs typeface="Trebuchet MS"/>
              </a:rPr>
              <a:t> </a:t>
            </a:r>
            <a:r>
              <a:rPr dirty="0" sz="2350" spc="125">
                <a:latin typeface="Trebuchet MS"/>
                <a:cs typeface="Trebuchet MS"/>
              </a:rPr>
              <a:t>C</a:t>
            </a:r>
            <a:r>
              <a:rPr dirty="0" sz="2350" spc="-160">
                <a:latin typeface="Trebuchet MS"/>
                <a:cs typeface="Trebuchet MS"/>
              </a:rPr>
              <a:t> </a:t>
            </a:r>
            <a:r>
              <a:rPr dirty="0" sz="2350" spc="-40">
                <a:latin typeface="Trebuchet MS"/>
                <a:cs typeface="Trebuchet MS"/>
              </a:rPr>
              <a:t>Beverage</a:t>
            </a:r>
            <a:r>
              <a:rPr dirty="0" sz="2350" spc="-175">
                <a:latin typeface="Trebuchet MS"/>
                <a:cs typeface="Trebuchet MS"/>
              </a:rPr>
              <a:t> </a:t>
            </a:r>
            <a:r>
              <a:rPr dirty="0" sz="2350" spc="45">
                <a:latin typeface="Trebuchet MS"/>
                <a:cs typeface="Trebuchet MS"/>
              </a:rPr>
              <a:t>Companies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5673" y="768680"/>
            <a:ext cx="3698875" cy="1300480"/>
          </a:xfrm>
          <a:prstGeom prst="rect"/>
        </p:spPr>
        <p:txBody>
          <a:bodyPr wrap="square" lIns="0" tIns="87630" rIns="0" bIns="0" rtlCol="0" vert="horz">
            <a:spAutoFit/>
          </a:bodyPr>
          <a:lstStyle/>
          <a:p>
            <a:pPr marL="12700" marR="5080">
              <a:lnSpc>
                <a:spcPts val="4760"/>
              </a:lnSpc>
              <a:spcBef>
                <a:spcPts val="690"/>
              </a:spcBef>
            </a:pPr>
            <a:r>
              <a:rPr dirty="0" sz="4400" spc="-245"/>
              <a:t>Strategic</a:t>
            </a:r>
            <a:r>
              <a:rPr dirty="0" sz="4400" spc="-430"/>
              <a:t> </a:t>
            </a:r>
            <a:r>
              <a:rPr dirty="0" sz="4400" spc="-305"/>
              <a:t>Priority for</a:t>
            </a:r>
            <a:r>
              <a:rPr dirty="0" sz="4400" spc="-450"/>
              <a:t> </a:t>
            </a:r>
            <a:r>
              <a:rPr dirty="0" sz="4400" spc="-235"/>
              <a:t>our</a:t>
            </a:r>
            <a:r>
              <a:rPr dirty="0" sz="4400" spc="-520"/>
              <a:t> </a:t>
            </a:r>
            <a:r>
              <a:rPr dirty="0" sz="4400" spc="-10"/>
              <a:t>Cluster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35673" y="2335402"/>
            <a:ext cx="3792220" cy="1993264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84"/>
              </a:spcBef>
            </a:pPr>
            <a:r>
              <a:rPr dirty="0" sz="2800" spc="-10">
                <a:latin typeface="Trebuchet MS"/>
                <a:cs typeface="Trebuchet MS"/>
              </a:rPr>
              <a:t>Establish</a:t>
            </a:r>
            <a:r>
              <a:rPr dirty="0" sz="2800" spc="-18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</a:t>
            </a:r>
            <a:r>
              <a:rPr dirty="0" sz="2800" spc="-270">
                <a:latin typeface="Trebuchet MS"/>
                <a:cs typeface="Trebuchet MS"/>
              </a:rPr>
              <a:t> </a:t>
            </a:r>
            <a:r>
              <a:rPr dirty="0" sz="2800" spc="-85">
                <a:latin typeface="Trebuchet MS"/>
                <a:cs typeface="Trebuchet MS"/>
              </a:rPr>
              <a:t>framework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45">
                <a:latin typeface="Trebuchet MS"/>
                <a:cs typeface="Trebuchet MS"/>
              </a:rPr>
              <a:t>to </a:t>
            </a:r>
            <a:r>
              <a:rPr dirty="0" sz="2800" spc="-114">
                <a:latin typeface="Trebuchet MS"/>
                <a:cs typeface="Trebuchet MS"/>
              </a:rPr>
              <a:t>efficiently</a:t>
            </a:r>
            <a:r>
              <a:rPr dirty="0" sz="2800" spc="-175">
                <a:latin typeface="Trebuchet MS"/>
                <a:cs typeface="Trebuchet MS"/>
              </a:rPr>
              <a:t> </a:t>
            </a:r>
            <a:r>
              <a:rPr dirty="0" sz="2800" spc="114">
                <a:latin typeface="Trebuchet MS"/>
                <a:cs typeface="Trebuchet MS"/>
              </a:rPr>
              <a:t>assess </a:t>
            </a:r>
            <a:r>
              <a:rPr dirty="0" sz="2800" spc="-25">
                <a:latin typeface="Trebuchet MS"/>
                <a:cs typeface="Trebuchet MS"/>
              </a:rPr>
              <a:t>agronomic</a:t>
            </a:r>
            <a:r>
              <a:rPr dirty="0" sz="2800" spc="-275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and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market </a:t>
            </a:r>
            <a:r>
              <a:rPr dirty="0" sz="2800" spc="-50">
                <a:latin typeface="Trebuchet MS"/>
                <a:cs typeface="Trebuchet MS"/>
              </a:rPr>
              <a:t>opportunities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140">
                <a:latin typeface="Trebuchet MS"/>
                <a:cs typeface="Trebuchet MS"/>
              </a:rPr>
              <a:t>for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25">
                <a:latin typeface="Trebuchet MS"/>
                <a:cs typeface="Trebuchet MS"/>
              </a:rPr>
              <a:t>new </a:t>
            </a:r>
            <a:r>
              <a:rPr dirty="0" sz="2800">
                <a:latin typeface="Trebuchet MS"/>
                <a:cs typeface="Trebuchet MS"/>
              </a:rPr>
              <a:t>crops</a:t>
            </a:r>
            <a:r>
              <a:rPr dirty="0" sz="2800" spc="-19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and</a:t>
            </a:r>
            <a:r>
              <a:rPr dirty="0" sz="2800" spc="-18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products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4825" y="812067"/>
            <a:ext cx="6771884" cy="50852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9086" y="5933414"/>
            <a:ext cx="10161905" cy="575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800" spc="-80">
                <a:latin typeface="Trebuchet MS"/>
                <a:cs typeface="Trebuchet MS"/>
              </a:rPr>
              <a:t>The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gap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50">
                <a:latin typeface="Trebuchet MS"/>
                <a:cs typeface="Trebuchet MS"/>
              </a:rPr>
              <a:t>between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70">
                <a:latin typeface="Trebuchet MS"/>
                <a:cs typeface="Trebuchet MS"/>
              </a:rPr>
              <a:t>raw</a:t>
            </a:r>
            <a:r>
              <a:rPr dirty="0" sz="1800" spc="-155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grain</a:t>
            </a:r>
            <a:r>
              <a:rPr dirty="0" sz="1800" spc="-200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and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isolate</a:t>
            </a:r>
            <a:r>
              <a:rPr dirty="0" sz="1800" spc="-165">
                <a:latin typeface="Trebuchet MS"/>
                <a:cs typeface="Trebuchet MS"/>
              </a:rPr>
              <a:t> </a:t>
            </a:r>
            <a:r>
              <a:rPr dirty="0" sz="1800" spc="-25">
                <a:latin typeface="Trebuchet MS"/>
                <a:cs typeface="Trebuchet MS"/>
              </a:rPr>
              <a:t>represents</a:t>
            </a:r>
            <a:r>
              <a:rPr dirty="0" sz="1800" spc="-254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~8×</a:t>
            </a:r>
            <a:r>
              <a:rPr dirty="0" sz="1800" spc="-15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more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 spc="-40">
                <a:latin typeface="Trebuchet MS"/>
                <a:cs typeface="Trebuchet MS"/>
              </a:rPr>
              <a:t>value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35">
                <a:latin typeface="Trebuchet MS"/>
                <a:cs typeface="Trebuchet MS"/>
              </a:rPr>
              <a:t>per</a:t>
            </a:r>
            <a:r>
              <a:rPr dirty="0" sz="1800" spc="-180">
                <a:latin typeface="Trebuchet MS"/>
                <a:cs typeface="Trebuchet MS"/>
              </a:rPr>
              <a:t> </a:t>
            </a:r>
            <a:r>
              <a:rPr dirty="0" sz="1800" spc="-80">
                <a:latin typeface="Trebuchet MS"/>
                <a:cs typeface="Trebuchet MS"/>
              </a:rPr>
              <a:t>ton:</a:t>
            </a:r>
            <a:r>
              <a:rPr dirty="0" sz="1800" spc="-85">
                <a:latin typeface="Trebuchet MS"/>
                <a:cs typeface="Trebuchet MS"/>
              </a:rPr>
              <a:t> </a:t>
            </a:r>
            <a:r>
              <a:rPr dirty="0" sz="1800" spc="-45">
                <a:latin typeface="Trebuchet MS"/>
                <a:cs typeface="Trebuchet MS"/>
              </a:rPr>
              <a:t>margin</a:t>
            </a:r>
            <a:r>
              <a:rPr dirty="0" sz="1800" spc="-135">
                <a:latin typeface="Trebuchet MS"/>
                <a:cs typeface="Trebuchet MS"/>
              </a:rPr>
              <a:t> </a:t>
            </a:r>
            <a:r>
              <a:rPr dirty="0" sz="1800" spc="-80">
                <a:latin typeface="Trebuchet MS"/>
                <a:cs typeface="Trebuchet MS"/>
              </a:rPr>
              <a:t>that</a:t>
            </a:r>
            <a:r>
              <a:rPr dirty="0" sz="1800" spc="-160">
                <a:latin typeface="Trebuchet MS"/>
                <a:cs typeface="Trebuchet MS"/>
              </a:rPr>
              <a:t> </a:t>
            </a:r>
            <a:r>
              <a:rPr dirty="0" sz="1800" spc="-60">
                <a:latin typeface="Trebuchet MS"/>
                <a:cs typeface="Trebuchet MS"/>
              </a:rPr>
              <a:t>currently</a:t>
            </a:r>
            <a:r>
              <a:rPr dirty="0" sz="1800" spc="-17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accrues</a:t>
            </a:r>
            <a:endParaRPr sz="1800">
              <a:latin typeface="Trebuchet MS"/>
              <a:cs typeface="Trebuchet MS"/>
            </a:endParaRPr>
          </a:p>
          <a:p>
            <a:pPr algn="ctr" marR="3810">
              <a:lnSpc>
                <a:spcPct val="100000"/>
              </a:lnSpc>
              <a:spcBef>
                <a:spcPts val="5"/>
              </a:spcBef>
            </a:pPr>
            <a:r>
              <a:rPr dirty="0" sz="1800" spc="-65">
                <a:latin typeface="Trebuchet MS"/>
                <a:cs typeface="Trebuchet MS"/>
              </a:rPr>
              <a:t>to</a:t>
            </a:r>
            <a:r>
              <a:rPr dirty="0" sz="1800" spc="-105">
                <a:latin typeface="Trebuchet MS"/>
                <a:cs typeface="Trebuchet MS"/>
              </a:rPr>
              <a:t> </a:t>
            </a:r>
            <a:r>
              <a:rPr dirty="0" sz="1800">
                <a:latin typeface="Trebuchet MS"/>
                <a:cs typeface="Trebuchet MS"/>
              </a:rPr>
              <a:t>processors</a:t>
            </a:r>
            <a:r>
              <a:rPr dirty="0" sz="1800" spc="-120">
                <a:latin typeface="Trebuchet MS"/>
                <a:cs typeface="Trebuchet MS"/>
              </a:rPr>
              <a:t> </a:t>
            </a:r>
            <a:r>
              <a:rPr dirty="0" sz="1800" spc="-20">
                <a:latin typeface="Trebuchet MS"/>
                <a:cs typeface="Trebuchet MS"/>
              </a:rPr>
              <a:t>outside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65">
                <a:latin typeface="Trebuchet MS"/>
                <a:cs typeface="Trebuchet MS"/>
              </a:rPr>
              <a:t>the</a:t>
            </a:r>
            <a:r>
              <a:rPr dirty="0" sz="1800" spc="-130">
                <a:latin typeface="Trebuchet MS"/>
                <a:cs typeface="Trebuchet MS"/>
              </a:rPr>
              <a:t> </a:t>
            </a:r>
            <a:r>
              <a:rPr dirty="0" sz="1800" spc="-10">
                <a:latin typeface="Trebuchet MS"/>
                <a:cs typeface="Trebuchet MS"/>
              </a:rPr>
              <a:t>region.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4904" y="493852"/>
            <a:ext cx="11741150" cy="5414645"/>
            <a:chOff x="374904" y="493852"/>
            <a:chExt cx="11741150" cy="54146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04" y="493852"/>
              <a:ext cx="11649456" cy="54146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72799" y="777367"/>
              <a:ext cx="1143000" cy="18475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8820" y="1534794"/>
            <a:ext cx="4642485" cy="3399790"/>
            <a:chOff x="1988820" y="1534794"/>
            <a:chExt cx="4642485" cy="3399790"/>
          </a:xfrm>
        </p:grpSpPr>
        <p:sp>
          <p:nvSpPr>
            <p:cNvPr id="3" name="object 3"/>
            <p:cNvSpPr/>
            <p:nvPr/>
          </p:nvSpPr>
          <p:spPr>
            <a:xfrm>
              <a:off x="2802509" y="1541144"/>
              <a:ext cx="3822700" cy="3366135"/>
            </a:xfrm>
            <a:custGeom>
              <a:avLst/>
              <a:gdLst/>
              <a:ahLst/>
              <a:cxnLst/>
              <a:rect l="l" t="t" r="r" b="b"/>
              <a:pathLst>
                <a:path w="3822700" h="3366135">
                  <a:moveTo>
                    <a:pt x="0" y="1431416"/>
                  </a:moveTo>
                  <a:lnTo>
                    <a:pt x="0" y="1934502"/>
                  </a:lnTo>
                </a:path>
                <a:path w="3822700" h="3366135">
                  <a:moveTo>
                    <a:pt x="0" y="0"/>
                  </a:moveTo>
                  <a:lnTo>
                    <a:pt x="0" y="1093000"/>
                  </a:lnTo>
                </a:path>
                <a:path w="3822700" h="3366135">
                  <a:moveTo>
                    <a:pt x="0" y="3105149"/>
                  </a:moveTo>
                  <a:lnTo>
                    <a:pt x="0" y="3365880"/>
                  </a:lnTo>
                </a:path>
                <a:path w="3822700" h="3366135">
                  <a:moveTo>
                    <a:pt x="0" y="2272918"/>
                  </a:moveTo>
                  <a:lnTo>
                    <a:pt x="0" y="2775877"/>
                  </a:lnTo>
                </a:path>
                <a:path w="3822700" h="3366135">
                  <a:moveTo>
                    <a:pt x="758952" y="3105149"/>
                  </a:moveTo>
                  <a:lnTo>
                    <a:pt x="758952" y="3365880"/>
                  </a:lnTo>
                </a:path>
                <a:path w="3822700" h="3366135">
                  <a:moveTo>
                    <a:pt x="758952" y="2272918"/>
                  </a:moveTo>
                  <a:lnTo>
                    <a:pt x="758952" y="2775877"/>
                  </a:lnTo>
                </a:path>
                <a:path w="3822700" h="3366135">
                  <a:moveTo>
                    <a:pt x="758952" y="1431416"/>
                  </a:moveTo>
                  <a:lnTo>
                    <a:pt x="758952" y="1934502"/>
                  </a:lnTo>
                </a:path>
                <a:path w="3822700" h="3366135">
                  <a:moveTo>
                    <a:pt x="758952" y="0"/>
                  </a:moveTo>
                  <a:lnTo>
                    <a:pt x="758952" y="1093000"/>
                  </a:lnTo>
                </a:path>
                <a:path w="3822700" h="3366135">
                  <a:moveTo>
                    <a:pt x="1527048" y="3105149"/>
                  </a:moveTo>
                  <a:lnTo>
                    <a:pt x="1527048" y="3365880"/>
                  </a:lnTo>
                </a:path>
                <a:path w="3822700" h="3366135">
                  <a:moveTo>
                    <a:pt x="1527048" y="1431416"/>
                  </a:moveTo>
                  <a:lnTo>
                    <a:pt x="1527048" y="2775877"/>
                  </a:lnTo>
                </a:path>
                <a:path w="3822700" h="3366135">
                  <a:moveTo>
                    <a:pt x="1527048" y="0"/>
                  </a:moveTo>
                  <a:lnTo>
                    <a:pt x="1527048" y="1093000"/>
                  </a:lnTo>
                </a:path>
                <a:path w="3822700" h="3366135">
                  <a:moveTo>
                    <a:pt x="2295144" y="3105149"/>
                  </a:moveTo>
                  <a:lnTo>
                    <a:pt x="2295144" y="3365880"/>
                  </a:lnTo>
                </a:path>
                <a:path w="3822700" h="3366135">
                  <a:moveTo>
                    <a:pt x="2295144" y="0"/>
                  </a:moveTo>
                  <a:lnTo>
                    <a:pt x="2295144" y="2775877"/>
                  </a:lnTo>
                </a:path>
                <a:path w="3822700" h="3366135">
                  <a:moveTo>
                    <a:pt x="3054096" y="3105149"/>
                  </a:moveTo>
                  <a:lnTo>
                    <a:pt x="3054096" y="3365880"/>
                  </a:lnTo>
                </a:path>
                <a:path w="3822700" h="3366135">
                  <a:moveTo>
                    <a:pt x="3054096" y="0"/>
                  </a:moveTo>
                  <a:lnTo>
                    <a:pt x="3054096" y="2775877"/>
                  </a:lnTo>
                </a:path>
                <a:path w="3822700" h="3366135">
                  <a:moveTo>
                    <a:pt x="3822319" y="0"/>
                  </a:moveTo>
                  <a:lnTo>
                    <a:pt x="3822319" y="3365880"/>
                  </a:lnTo>
                </a:path>
              </a:pathLst>
            </a:custGeom>
            <a:ln w="6350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039112" y="4317022"/>
              <a:ext cx="3822700" cy="329565"/>
            </a:xfrm>
            <a:custGeom>
              <a:avLst/>
              <a:gdLst/>
              <a:ahLst/>
              <a:cxnLst/>
              <a:rect l="l" t="t" r="r" b="b"/>
              <a:pathLst>
                <a:path w="3822700" h="329564">
                  <a:moveTo>
                    <a:pt x="3822191" y="0"/>
                  </a:moveTo>
                  <a:lnTo>
                    <a:pt x="0" y="0"/>
                  </a:lnTo>
                  <a:lnTo>
                    <a:pt x="0" y="329272"/>
                  </a:lnTo>
                  <a:lnTo>
                    <a:pt x="3822191" y="329272"/>
                  </a:lnTo>
                  <a:lnTo>
                    <a:pt x="3822191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039112" y="3475647"/>
              <a:ext cx="1527175" cy="338455"/>
            </a:xfrm>
            <a:custGeom>
              <a:avLst/>
              <a:gdLst/>
              <a:ahLst/>
              <a:cxnLst/>
              <a:rect l="l" t="t" r="r" b="b"/>
              <a:pathLst>
                <a:path w="1527175" h="338454">
                  <a:moveTo>
                    <a:pt x="1527048" y="0"/>
                  </a:moveTo>
                  <a:lnTo>
                    <a:pt x="0" y="0"/>
                  </a:lnTo>
                  <a:lnTo>
                    <a:pt x="0" y="338416"/>
                  </a:lnTo>
                  <a:lnTo>
                    <a:pt x="1527048" y="338416"/>
                  </a:lnTo>
                  <a:lnTo>
                    <a:pt x="1527048" y="0"/>
                  </a:lnTo>
                  <a:close/>
                </a:path>
              </a:pathLst>
            </a:custGeom>
            <a:solidFill>
              <a:srgbClr val="3A82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039112" y="2634145"/>
              <a:ext cx="3054350" cy="338455"/>
            </a:xfrm>
            <a:custGeom>
              <a:avLst/>
              <a:gdLst/>
              <a:ahLst/>
              <a:cxnLst/>
              <a:rect l="l" t="t" r="r" b="b"/>
              <a:pathLst>
                <a:path w="3054350" h="338455">
                  <a:moveTo>
                    <a:pt x="3054095" y="0"/>
                  </a:moveTo>
                  <a:lnTo>
                    <a:pt x="0" y="0"/>
                  </a:lnTo>
                  <a:lnTo>
                    <a:pt x="0" y="338416"/>
                  </a:lnTo>
                  <a:lnTo>
                    <a:pt x="3054095" y="338416"/>
                  </a:lnTo>
                  <a:lnTo>
                    <a:pt x="3054095" y="0"/>
                  </a:lnTo>
                  <a:close/>
                </a:path>
              </a:pathLst>
            </a:custGeom>
            <a:solidFill>
              <a:srgbClr val="E6920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39112" y="1792643"/>
              <a:ext cx="603885" cy="338455"/>
            </a:xfrm>
            <a:custGeom>
              <a:avLst/>
              <a:gdLst/>
              <a:ahLst/>
              <a:cxnLst/>
              <a:rect l="l" t="t" r="r" b="b"/>
              <a:pathLst>
                <a:path w="603885" h="338455">
                  <a:moveTo>
                    <a:pt x="603504" y="0"/>
                  </a:moveTo>
                  <a:lnTo>
                    <a:pt x="0" y="0"/>
                  </a:lnTo>
                  <a:lnTo>
                    <a:pt x="0" y="338416"/>
                  </a:lnTo>
                  <a:lnTo>
                    <a:pt x="603504" y="338416"/>
                  </a:lnTo>
                  <a:lnTo>
                    <a:pt x="603504" y="0"/>
                  </a:lnTo>
                  <a:close/>
                </a:path>
              </a:pathLst>
            </a:custGeom>
            <a:solidFill>
              <a:srgbClr val="6C5B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88820" y="1541144"/>
              <a:ext cx="4636135" cy="3393440"/>
            </a:xfrm>
            <a:custGeom>
              <a:avLst/>
              <a:gdLst/>
              <a:ahLst/>
              <a:cxnLst/>
              <a:rect l="l" t="t" r="r" b="b"/>
              <a:pathLst>
                <a:path w="4636134" h="3393440">
                  <a:moveTo>
                    <a:pt x="45719" y="3365880"/>
                  </a:moveTo>
                  <a:lnTo>
                    <a:pt x="4636008" y="3365880"/>
                  </a:lnTo>
                </a:path>
                <a:path w="4636134" h="3393440">
                  <a:moveTo>
                    <a:pt x="45719" y="3365880"/>
                  </a:moveTo>
                  <a:lnTo>
                    <a:pt x="45719" y="3393312"/>
                  </a:lnTo>
                </a:path>
                <a:path w="4636134" h="3393440">
                  <a:moveTo>
                    <a:pt x="813688" y="3365880"/>
                  </a:moveTo>
                  <a:lnTo>
                    <a:pt x="813688" y="3393312"/>
                  </a:lnTo>
                </a:path>
                <a:path w="4636134" h="3393440">
                  <a:moveTo>
                    <a:pt x="1572641" y="3365880"/>
                  </a:moveTo>
                  <a:lnTo>
                    <a:pt x="1572641" y="3393312"/>
                  </a:lnTo>
                </a:path>
                <a:path w="4636134" h="3393440">
                  <a:moveTo>
                    <a:pt x="2340737" y="3365880"/>
                  </a:moveTo>
                  <a:lnTo>
                    <a:pt x="2340737" y="3393312"/>
                  </a:lnTo>
                </a:path>
                <a:path w="4636134" h="3393440">
                  <a:moveTo>
                    <a:pt x="3108833" y="3365880"/>
                  </a:moveTo>
                  <a:lnTo>
                    <a:pt x="3108833" y="3393312"/>
                  </a:lnTo>
                </a:path>
                <a:path w="4636134" h="3393440">
                  <a:moveTo>
                    <a:pt x="3867784" y="3365880"/>
                  </a:moveTo>
                  <a:lnTo>
                    <a:pt x="3867784" y="3393312"/>
                  </a:lnTo>
                </a:path>
                <a:path w="4636134" h="3393440">
                  <a:moveTo>
                    <a:pt x="4636008" y="3365880"/>
                  </a:moveTo>
                  <a:lnTo>
                    <a:pt x="4636008" y="3393312"/>
                  </a:lnTo>
                </a:path>
                <a:path w="4636134" h="3393440">
                  <a:moveTo>
                    <a:pt x="45719" y="3365880"/>
                  </a:moveTo>
                  <a:lnTo>
                    <a:pt x="45719" y="0"/>
                  </a:lnTo>
                </a:path>
                <a:path w="4636134" h="3393440">
                  <a:moveTo>
                    <a:pt x="0" y="3365880"/>
                  </a:moveTo>
                  <a:lnTo>
                    <a:pt x="45719" y="3365880"/>
                  </a:lnTo>
                </a:path>
                <a:path w="4636134" h="3393440">
                  <a:moveTo>
                    <a:pt x="0" y="2524252"/>
                  </a:moveTo>
                  <a:lnTo>
                    <a:pt x="45719" y="2524252"/>
                  </a:lnTo>
                </a:path>
                <a:path w="4636134" h="3393440">
                  <a:moveTo>
                    <a:pt x="0" y="1682877"/>
                  </a:moveTo>
                  <a:lnTo>
                    <a:pt x="45719" y="1682877"/>
                  </a:lnTo>
                </a:path>
                <a:path w="4636134" h="3393440">
                  <a:moveTo>
                    <a:pt x="0" y="841375"/>
                  </a:moveTo>
                  <a:lnTo>
                    <a:pt x="45719" y="841375"/>
                  </a:lnTo>
                </a:path>
                <a:path w="4636134" h="3393440">
                  <a:moveTo>
                    <a:pt x="0" y="0"/>
                  </a:moveTo>
                  <a:lnTo>
                    <a:pt x="45719" y="0"/>
                  </a:lnTo>
                </a:path>
              </a:pathLst>
            </a:custGeom>
            <a:ln w="12700">
              <a:solidFill>
                <a:srgbClr val="87878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26201" y="4387469"/>
            <a:ext cx="1720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494949"/>
                </a:solidFill>
                <a:latin typeface="Arial"/>
                <a:cs typeface="Arial"/>
              </a:rPr>
              <a:t>25</a:t>
            </a:r>
            <a:endParaRPr sz="10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0676" y="3545522"/>
            <a:ext cx="1720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494949"/>
                </a:solidFill>
                <a:latin typeface="Arial"/>
                <a:cs typeface="Arial"/>
              </a:rPr>
              <a:t>10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60898" y="2704020"/>
            <a:ext cx="1720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494949"/>
                </a:solidFill>
                <a:latin typeface="Arial"/>
                <a:cs typeface="Arial"/>
              </a:rPr>
              <a:t>20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2466" y="1862391"/>
            <a:ext cx="10223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50" b="1">
                <a:solidFill>
                  <a:srgbClr val="494949"/>
                </a:solidFill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2376" y="4948113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6B7180"/>
                </a:solidFill>
                <a:latin typeface="Arial MT"/>
                <a:cs typeface="Arial MT"/>
              </a:rPr>
              <a:t>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7677" y="4948113"/>
            <a:ext cx="9207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0">
                <a:solidFill>
                  <a:srgbClr val="6B7180"/>
                </a:solidFill>
                <a:latin typeface="Arial MT"/>
                <a:cs typeface="Arial MT"/>
              </a:rPr>
              <a:t>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90721" y="4948113"/>
            <a:ext cx="153670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6B7180"/>
                </a:solidFill>
                <a:latin typeface="Arial MT"/>
                <a:cs typeface="Arial MT"/>
              </a:rPr>
              <a:t>10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56023" y="4948113"/>
            <a:ext cx="153670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6B7180"/>
                </a:solidFill>
                <a:latin typeface="Arial MT"/>
                <a:cs typeface="Arial MT"/>
              </a:rPr>
              <a:t>15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20945" y="4948113"/>
            <a:ext cx="154305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6B7180"/>
                </a:solidFill>
                <a:latin typeface="Arial MT"/>
                <a:cs typeface="Arial MT"/>
              </a:rPr>
              <a:t>20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86120" y="4948113"/>
            <a:ext cx="153670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6B7180"/>
                </a:solidFill>
                <a:latin typeface="Arial MT"/>
                <a:cs typeface="Arial MT"/>
              </a:rPr>
              <a:t>25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1421" y="4948113"/>
            <a:ext cx="153670" cy="1689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25">
                <a:solidFill>
                  <a:srgbClr val="6B7180"/>
                </a:solidFill>
                <a:latin typeface="Arial MT"/>
                <a:cs typeface="Arial MT"/>
              </a:rPr>
              <a:t>30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66241" y="4385246"/>
            <a:ext cx="75882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 b="1">
                <a:solidFill>
                  <a:srgbClr val="494949"/>
                </a:solidFill>
                <a:latin typeface="Arial"/>
                <a:cs typeface="Arial"/>
              </a:rPr>
              <a:t>Production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0162" y="3543744"/>
            <a:ext cx="77914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 b="1">
                <a:solidFill>
                  <a:srgbClr val="494949"/>
                </a:solidFill>
                <a:latin typeface="Arial"/>
                <a:cs typeface="Arial"/>
              </a:rPr>
              <a:t>Processing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5991" y="2702115"/>
            <a:ext cx="149161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solidFill>
                  <a:srgbClr val="494949"/>
                </a:solidFill>
                <a:latin typeface="Arial"/>
                <a:cs typeface="Arial"/>
              </a:rPr>
              <a:t>Value-added</a:t>
            </a:r>
            <a:r>
              <a:rPr dirty="0" sz="1050" spc="235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494949"/>
                </a:solidFill>
                <a:latin typeface="Arial"/>
                <a:cs typeface="Arial"/>
              </a:rPr>
              <a:t>products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90192" y="1861185"/>
            <a:ext cx="64135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 b="1">
                <a:solidFill>
                  <a:srgbClr val="494949"/>
                </a:solidFill>
                <a:latin typeface="Arial"/>
                <a:cs typeface="Arial"/>
              </a:rPr>
              <a:t>Logistics</a:t>
            </a:r>
            <a:endParaRPr sz="10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87183" y="1399413"/>
            <a:ext cx="4636135" cy="3786504"/>
          </a:xfrm>
          <a:custGeom>
            <a:avLst/>
            <a:gdLst/>
            <a:ahLst/>
            <a:cxnLst/>
            <a:rect l="l" t="t" r="r" b="b"/>
            <a:pathLst>
              <a:path w="4636134" h="3786504">
                <a:moveTo>
                  <a:pt x="4489450" y="0"/>
                </a:moveTo>
                <a:lnTo>
                  <a:pt x="146558" y="0"/>
                </a:lnTo>
                <a:lnTo>
                  <a:pt x="100250" y="7463"/>
                </a:lnTo>
                <a:lnTo>
                  <a:pt x="60021" y="28252"/>
                </a:lnTo>
                <a:lnTo>
                  <a:pt x="28289" y="59966"/>
                </a:lnTo>
                <a:lnTo>
                  <a:pt x="7475" y="100201"/>
                </a:lnTo>
                <a:lnTo>
                  <a:pt x="0" y="146558"/>
                </a:lnTo>
                <a:lnTo>
                  <a:pt x="0" y="3639947"/>
                </a:lnTo>
                <a:lnTo>
                  <a:pt x="7475" y="3686254"/>
                </a:lnTo>
                <a:lnTo>
                  <a:pt x="28289" y="3726483"/>
                </a:lnTo>
                <a:lnTo>
                  <a:pt x="60021" y="3758215"/>
                </a:lnTo>
                <a:lnTo>
                  <a:pt x="100250" y="3779029"/>
                </a:lnTo>
                <a:lnTo>
                  <a:pt x="146558" y="3786504"/>
                </a:lnTo>
                <a:lnTo>
                  <a:pt x="4489450" y="3786504"/>
                </a:lnTo>
                <a:lnTo>
                  <a:pt x="4535757" y="3779029"/>
                </a:lnTo>
                <a:lnTo>
                  <a:pt x="4575986" y="3758215"/>
                </a:lnTo>
                <a:lnTo>
                  <a:pt x="4607718" y="3726483"/>
                </a:lnTo>
                <a:lnTo>
                  <a:pt x="4628532" y="3686254"/>
                </a:lnTo>
                <a:lnTo>
                  <a:pt x="4636008" y="3639947"/>
                </a:lnTo>
                <a:lnTo>
                  <a:pt x="4636008" y="146558"/>
                </a:lnTo>
                <a:lnTo>
                  <a:pt x="4628532" y="100201"/>
                </a:lnTo>
                <a:lnTo>
                  <a:pt x="4607718" y="59966"/>
                </a:lnTo>
                <a:lnTo>
                  <a:pt x="4575986" y="28252"/>
                </a:lnTo>
                <a:lnTo>
                  <a:pt x="4535757" y="7463"/>
                </a:lnTo>
                <a:lnTo>
                  <a:pt x="4489450" y="0"/>
                </a:lnTo>
                <a:close/>
              </a:path>
            </a:pathLst>
          </a:custGeom>
          <a:solidFill>
            <a:srgbClr val="1B39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19137" y="188311"/>
            <a:ext cx="9097010" cy="1750695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z="2950" b="1">
                <a:solidFill>
                  <a:srgbClr val="1B392C"/>
                </a:solidFill>
                <a:latin typeface="Cambria"/>
                <a:cs typeface="Cambria"/>
              </a:rPr>
              <a:t>Jobs</a:t>
            </a:r>
            <a:r>
              <a:rPr dirty="0" sz="2950" spc="-75" b="1">
                <a:solidFill>
                  <a:srgbClr val="1B392C"/>
                </a:solidFill>
                <a:latin typeface="Cambria"/>
                <a:cs typeface="Cambria"/>
              </a:rPr>
              <a:t> </a:t>
            </a:r>
            <a:r>
              <a:rPr dirty="0" sz="2950" spc="-10" b="1">
                <a:solidFill>
                  <a:srgbClr val="1B392C"/>
                </a:solidFill>
                <a:latin typeface="Cambria"/>
                <a:cs typeface="Cambria"/>
              </a:rPr>
              <a:t>created</a:t>
            </a:r>
            <a:r>
              <a:rPr dirty="0" sz="2950" spc="-110" b="1">
                <a:solidFill>
                  <a:srgbClr val="1B392C"/>
                </a:solidFill>
                <a:latin typeface="Cambria"/>
                <a:cs typeface="Cambria"/>
              </a:rPr>
              <a:t> </a:t>
            </a:r>
            <a:r>
              <a:rPr dirty="0" sz="2950" b="1">
                <a:solidFill>
                  <a:srgbClr val="1B392C"/>
                </a:solidFill>
                <a:latin typeface="Cambria"/>
                <a:cs typeface="Cambria"/>
              </a:rPr>
              <a:t>per</a:t>
            </a:r>
            <a:r>
              <a:rPr dirty="0" sz="2950" spc="-75" b="1">
                <a:solidFill>
                  <a:srgbClr val="1B392C"/>
                </a:solidFill>
                <a:latin typeface="Cambria"/>
                <a:cs typeface="Cambria"/>
              </a:rPr>
              <a:t> </a:t>
            </a:r>
            <a:r>
              <a:rPr dirty="0" sz="2950" b="1">
                <a:solidFill>
                  <a:srgbClr val="1B392C"/>
                </a:solidFill>
                <a:latin typeface="Cambria"/>
                <a:cs typeface="Cambria"/>
              </a:rPr>
              <a:t>ton:</a:t>
            </a:r>
            <a:r>
              <a:rPr dirty="0" sz="2950" spc="-50" b="1">
                <a:solidFill>
                  <a:srgbClr val="1B392C"/>
                </a:solidFill>
                <a:latin typeface="Cambria"/>
                <a:cs typeface="Cambria"/>
              </a:rPr>
              <a:t> </a:t>
            </a:r>
            <a:r>
              <a:rPr dirty="0" sz="2950" b="1">
                <a:solidFill>
                  <a:srgbClr val="1B392C"/>
                </a:solidFill>
                <a:latin typeface="Cambria"/>
                <a:cs typeface="Cambria"/>
              </a:rPr>
              <a:t>specialty</a:t>
            </a:r>
            <a:r>
              <a:rPr dirty="0" sz="2950" spc="-125" b="1">
                <a:solidFill>
                  <a:srgbClr val="1B392C"/>
                </a:solidFill>
                <a:latin typeface="Cambria"/>
                <a:cs typeface="Cambria"/>
              </a:rPr>
              <a:t> </a:t>
            </a:r>
            <a:r>
              <a:rPr dirty="0" sz="2950" spc="-10" b="1">
                <a:solidFill>
                  <a:srgbClr val="1B392C"/>
                </a:solidFill>
                <a:latin typeface="Cambria"/>
                <a:cs typeface="Cambria"/>
              </a:rPr>
              <a:t>tomatoes</a:t>
            </a:r>
            <a:endParaRPr sz="29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Labor</a:t>
            </a:r>
            <a:r>
              <a:rPr dirty="0" sz="145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hours</a:t>
            </a:r>
            <a:r>
              <a:rPr dirty="0" sz="1450" spc="-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per</a:t>
            </a:r>
            <a:r>
              <a:rPr dirty="0" sz="1450" spc="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ton</a:t>
            </a:r>
            <a:r>
              <a:rPr dirty="0" sz="1450" spc="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of</a:t>
            </a:r>
            <a:r>
              <a:rPr dirty="0" sz="1450" spc="1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raw</a:t>
            </a:r>
            <a:r>
              <a:rPr dirty="0" sz="145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production</a:t>
            </a:r>
            <a:r>
              <a:rPr dirty="0" sz="1450" spc="3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|</a:t>
            </a:r>
            <a:r>
              <a:rPr dirty="0" sz="1450" spc="34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Small-</a:t>
            </a:r>
            <a:r>
              <a:rPr dirty="0" sz="1450" spc="-10">
                <a:solidFill>
                  <a:srgbClr val="6B7180"/>
                </a:solidFill>
                <a:latin typeface="Calibri"/>
                <a:cs typeface="Calibri"/>
              </a:rPr>
              <a:t>to-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mid</a:t>
            </a:r>
            <a:r>
              <a:rPr dirty="0" sz="1450" spc="-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scale,</a:t>
            </a:r>
            <a:r>
              <a:rPr dirty="0" sz="1450" spc="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hand-harvested</a:t>
            </a:r>
            <a:r>
              <a:rPr dirty="0" sz="1450" spc="5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6B7180"/>
                </a:solidFill>
                <a:latin typeface="Calibri"/>
                <a:cs typeface="Calibri"/>
              </a:rPr>
              <a:t>fresh</a:t>
            </a:r>
            <a:r>
              <a:rPr dirty="0" sz="1450" spc="-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6B7180"/>
                </a:solidFill>
                <a:latin typeface="Calibri"/>
                <a:cs typeface="Calibri"/>
              </a:rPr>
              <a:t>market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35"/>
              </a:spcBef>
            </a:pPr>
            <a:endParaRPr sz="1450">
              <a:latin typeface="Calibri"/>
              <a:cs typeface="Calibri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850" b="1">
                <a:solidFill>
                  <a:srgbClr val="96BB61"/>
                </a:solidFill>
                <a:latin typeface="Cambria"/>
                <a:cs typeface="Cambria"/>
              </a:rPr>
              <a:t>The</a:t>
            </a:r>
            <a:r>
              <a:rPr dirty="0" sz="1850" spc="-25" b="1">
                <a:solidFill>
                  <a:srgbClr val="96BB61"/>
                </a:solidFill>
                <a:latin typeface="Cambria"/>
                <a:cs typeface="Cambria"/>
              </a:rPr>
              <a:t> </a:t>
            </a:r>
            <a:r>
              <a:rPr dirty="0" sz="1850" b="1">
                <a:solidFill>
                  <a:srgbClr val="96BB61"/>
                </a:solidFill>
                <a:latin typeface="Cambria"/>
                <a:cs typeface="Cambria"/>
              </a:rPr>
              <a:t>multiplier</a:t>
            </a:r>
            <a:r>
              <a:rPr dirty="0" sz="1850" spc="40" b="1">
                <a:solidFill>
                  <a:srgbClr val="96BB61"/>
                </a:solidFill>
                <a:latin typeface="Cambria"/>
                <a:cs typeface="Cambria"/>
              </a:rPr>
              <a:t> </a:t>
            </a:r>
            <a:r>
              <a:rPr dirty="0" sz="1850" spc="-10" b="1">
                <a:solidFill>
                  <a:srgbClr val="96BB61"/>
                </a:solidFill>
                <a:latin typeface="Cambria"/>
                <a:cs typeface="Cambria"/>
              </a:rPr>
              <a:t>effect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50022" y="2167381"/>
            <a:ext cx="94043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>
                <a:solidFill>
                  <a:srgbClr val="89AD8B"/>
                </a:solidFill>
                <a:latin typeface="Calibri"/>
                <a:cs typeface="Calibri"/>
              </a:rPr>
              <a:t>Farm</a:t>
            </a:r>
            <a:r>
              <a:rPr dirty="0" sz="1200" spc="-50">
                <a:solidFill>
                  <a:srgbClr val="89AD8B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89AD8B"/>
                </a:solidFill>
                <a:latin typeface="Calibri"/>
                <a:cs typeface="Calibri"/>
              </a:rPr>
              <a:t>gate</a:t>
            </a:r>
            <a:r>
              <a:rPr dirty="0" sz="1200" spc="-40">
                <a:solidFill>
                  <a:srgbClr val="89AD8B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89AD8B"/>
                </a:solidFill>
                <a:latin typeface="Calibri"/>
                <a:cs typeface="Calibri"/>
              </a:rPr>
              <a:t>only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69984" y="2712529"/>
            <a:ext cx="61087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>
                <a:solidFill>
                  <a:srgbClr val="89AD8B"/>
                </a:solidFill>
                <a:latin typeface="Calibri"/>
                <a:cs typeface="Calibri"/>
              </a:rPr>
              <a:t>hrs</a:t>
            </a:r>
            <a:r>
              <a:rPr dirty="0" sz="1350" spc="-55">
                <a:solidFill>
                  <a:srgbClr val="89AD8B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89AD8B"/>
                </a:solidFill>
                <a:latin typeface="Calibri"/>
                <a:cs typeface="Calibri"/>
              </a:rPr>
              <a:t>/</a:t>
            </a:r>
            <a:r>
              <a:rPr dirty="0" sz="1350" spc="25">
                <a:solidFill>
                  <a:srgbClr val="89AD8B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89AD8B"/>
                </a:solidFill>
                <a:latin typeface="Calibri"/>
                <a:cs typeface="Calibri"/>
              </a:rPr>
              <a:t>ton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50022" y="2292172"/>
            <a:ext cx="980440" cy="1308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5750"/>
              </a:lnSpc>
              <a:spcBef>
                <a:spcPts val="130"/>
              </a:spcBef>
            </a:pPr>
            <a:r>
              <a:rPr dirty="0" sz="4800" spc="-25" b="1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endParaRPr sz="4800">
              <a:latin typeface="Cambria"/>
              <a:cs typeface="Cambria"/>
            </a:endParaRPr>
          </a:p>
          <a:p>
            <a:pPr marL="12700">
              <a:lnSpc>
                <a:spcPts val="2810"/>
              </a:lnSpc>
            </a:pPr>
            <a:r>
              <a:rPr dirty="0" sz="2350" spc="-50">
                <a:solidFill>
                  <a:srgbClr val="96BB61"/>
                </a:solidFill>
                <a:latin typeface="Microsoft Sans Serif"/>
                <a:cs typeface="Microsoft Sans Serif"/>
              </a:rPr>
              <a:t>→</a:t>
            </a:r>
            <a:endParaRPr sz="23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1200">
                <a:solidFill>
                  <a:srgbClr val="96BB61"/>
                </a:solidFill>
                <a:latin typeface="Calibri"/>
                <a:cs typeface="Calibri"/>
              </a:rPr>
              <a:t>Full</a:t>
            </a:r>
            <a:r>
              <a:rPr dirty="0" sz="1200" spc="-15">
                <a:solidFill>
                  <a:srgbClr val="96BB61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96BB61"/>
                </a:solidFill>
                <a:latin typeface="Calibri"/>
                <a:cs typeface="Calibri"/>
              </a:rPr>
              <a:t>value</a:t>
            </a:r>
            <a:r>
              <a:rPr dirty="0" sz="1200" spc="10">
                <a:solidFill>
                  <a:srgbClr val="96BB61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96BB61"/>
                </a:solidFill>
                <a:latin typeface="Calibri"/>
                <a:cs typeface="Calibri"/>
              </a:rPr>
              <a:t>chain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50022" y="3513404"/>
            <a:ext cx="739775" cy="762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800" spc="-25" b="1">
                <a:solidFill>
                  <a:srgbClr val="96BB61"/>
                </a:solidFill>
                <a:latin typeface="Cambria"/>
                <a:cs typeface="Cambria"/>
              </a:rPr>
              <a:t>59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69984" y="3933380"/>
            <a:ext cx="61087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>
                <a:solidFill>
                  <a:srgbClr val="96BB61"/>
                </a:solidFill>
                <a:latin typeface="Calibri"/>
                <a:cs typeface="Calibri"/>
              </a:rPr>
              <a:t>hrs</a:t>
            </a:r>
            <a:r>
              <a:rPr dirty="0" sz="1350" spc="-55">
                <a:solidFill>
                  <a:srgbClr val="96BB61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96BB61"/>
                </a:solidFill>
                <a:latin typeface="Calibri"/>
                <a:cs typeface="Calibri"/>
              </a:rPr>
              <a:t>/</a:t>
            </a:r>
            <a:r>
              <a:rPr dirty="0" sz="1350" spc="25">
                <a:solidFill>
                  <a:srgbClr val="96BB61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96BB61"/>
                </a:solidFill>
                <a:latin typeface="Calibri"/>
                <a:cs typeface="Calibri"/>
              </a:rPr>
              <a:t>ton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749281" y="2003257"/>
            <a:ext cx="1604645" cy="2260600"/>
          </a:xfrm>
          <a:prstGeom prst="rect">
            <a:avLst/>
          </a:prstGeom>
        </p:spPr>
        <p:txBody>
          <a:bodyPr wrap="square" lIns="0" tIns="5086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4"/>
              </a:spcBef>
            </a:pPr>
            <a:r>
              <a:rPr dirty="0" sz="6400" spc="-20" b="1">
                <a:solidFill>
                  <a:srgbClr val="96BB61"/>
                </a:solidFill>
                <a:latin typeface="Cambria"/>
                <a:cs typeface="Cambria"/>
              </a:rPr>
              <a:t>2.4x</a:t>
            </a:r>
            <a:endParaRPr sz="6400">
              <a:latin typeface="Cambria"/>
              <a:cs typeface="Cambria"/>
            </a:endParaRPr>
          </a:p>
          <a:p>
            <a:pPr algn="just" marL="436880" marR="427990" indent="20320">
              <a:lnSpc>
                <a:spcPct val="109100"/>
              </a:lnSpc>
              <a:spcBef>
                <a:spcPts val="705"/>
              </a:spcBef>
            </a:pPr>
            <a:r>
              <a:rPr dirty="0" sz="1350" spc="-10">
                <a:solidFill>
                  <a:srgbClr val="89AD8B"/>
                </a:solidFill>
                <a:latin typeface="Calibri"/>
                <a:cs typeface="Calibri"/>
              </a:rPr>
              <a:t>more</a:t>
            </a:r>
            <a:r>
              <a:rPr dirty="0" sz="1350" spc="-60">
                <a:solidFill>
                  <a:srgbClr val="89AD8B"/>
                </a:solidFill>
                <a:latin typeface="Calibri"/>
                <a:cs typeface="Calibri"/>
              </a:rPr>
              <a:t> </a:t>
            </a:r>
            <a:r>
              <a:rPr dirty="0" sz="1350" spc="-20">
                <a:solidFill>
                  <a:srgbClr val="89AD8B"/>
                </a:solidFill>
                <a:latin typeface="Calibri"/>
                <a:cs typeface="Calibri"/>
              </a:rPr>
              <a:t>jobs with</a:t>
            </a:r>
            <a:r>
              <a:rPr dirty="0" sz="1350" spc="-35">
                <a:solidFill>
                  <a:srgbClr val="89AD8B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89AD8B"/>
                </a:solidFill>
                <a:latin typeface="Calibri"/>
                <a:cs typeface="Calibri"/>
              </a:rPr>
              <a:t>local </a:t>
            </a:r>
            <a:r>
              <a:rPr dirty="0" sz="1350" spc="-20">
                <a:solidFill>
                  <a:srgbClr val="89AD8B"/>
                </a:solidFill>
                <a:latin typeface="Calibri"/>
                <a:cs typeface="Calibri"/>
              </a:rPr>
              <a:t>processing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569195" y="2199639"/>
            <a:ext cx="0" cy="2314575"/>
          </a:xfrm>
          <a:custGeom>
            <a:avLst/>
            <a:gdLst/>
            <a:ahLst/>
            <a:cxnLst/>
            <a:rect l="l" t="t" r="r" b="b"/>
            <a:pathLst>
              <a:path w="0" h="2314575">
                <a:moveTo>
                  <a:pt x="0" y="0"/>
                </a:moveTo>
                <a:lnTo>
                  <a:pt x="0" y="2314067"/>
                </a:lnTo>
              </a:path>
            </a:pathLst>
          </a:custGeom>
          <a:ln w="6350">
            <a:solidFill>
              <a:srgbClr val="2C5F2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731519" y="5368925"/>
            <a:ext cx="11092180" cy="786765"/>
            <a:chOff x="731519" y="5368925"/>
            <a:chExt cx="11092180" cy="786765"/>
          </a:xfrm>
        </p:grpSpPr>
        <p:sp>
          <p:nvSpPr>
            <p:cNvPr id="34" name="object 34"/>
            <p:cNvSpPr/>
            <p:nvPr/>
          </p:nvSpPr>
          <p:spPr>
            <a:xfrm>
              <a:off x="731519" y="5368925"/>
              <a:ext cx="11092180" cy="786765"/>
            </a:xfrm>
            <a:custGeom>
              <a:avLst/>
              <a:gdLst/>
              <a:ahLst/>
              <a:cxnLst/>
              <a:rect l="l" t="t" r="r" b="b"/>
              <a:pathLst>
                <a:path w="11092180" h="786764">
                  <a:moveTo>
                    <a:pt x="10994898" y="0"/>
                  </a:moveTo>
                  <a:lnTo>
                    <a:pt x="96786" y="0"/>
                  </a:lnTo>
                  <a:lnTo>
                    <a:pt x="59112" y="7602"/>
                  </a:lnTo>
                  <a:lnTo>
                    <a:pt x="28347" y="28336"/>
                  </a:lnTo>
                  <a:lnTo>
                    <a:pt x="7605" y="59096"/>
                  </a:lnTo>
                  <a:lnTo>
                    <a:pt x="0" y="96774"/>
                  </a:lnTo>
                  <a:lnTo>
                    <a:pt x="0" y="689711"/>
                  </a:lnTo>
                  <a:lnTo>
                    <a:pt x="7605" y="727394"/>
                  </a:lnTo>
                  <a:lnTo>
                    <a:pt x="28347" y="758167"/>
                  </a:lnTo>
                  <a:lnTo>
                    <a:pt x="59112" y="778915"/>
                  </a:lnTo>
                  <a:lnTo>
                    <a:pt x="96786" y="786523"/>
                  </a:lnTo>
                  <a:lnTo>
                    <a:pt x="10994898" y="786523"/>
                  </a:lnTo>
                  <a:lnTo>
                    <a:pt x="11032575" y="778915"/>
                  </a:lnTo>
                  <a:lnTo>
                    <a:pt x="11063335" y="758167"/>
                  </a:lnTo>
                  <a:lnTo>
                    <a:pt x="11084069" y="727394"/>
                  </a:lnTo>
                  <a:lnTo>
                    <a:pt x="11091672" y="689711"/>
                  </a:lnTo>
                  <a:lnTo>
                    <a:pt x="11091672" y="96774"/>
                  </a:lnTo>
                  <a:lnTo>
                    <a:pt x="11084069" y="59096"/>
                  </a:lnTo>
                  <a:lnTo>
                    <a:pt x="11063335" y="28336"/>
                  </a:lnTo>
                  <a:lnTo>
                    <a:pt x="11032575" y="7602"/>
                  </a:lnTo>
                  <a:lnTo>
                    <a:pt x="10994898" y="0"/>
                  </a:lnTo>
                  <a:close/>
                </a:path>
              </a:pathLst>
            </a:custGeom>
            <a:solidFill>
              <a:srgbClr val="EF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78407" y="5588381"/>
              <a:ext cx="338455" cy="347980"/>
            </a:xfrm>
            <a:custGeom>
              <a:avLst/>
              <a:gdLst/>
              <a:ahLst/>
              <a:cxnLst/>
              <a:rect l="l" t="t" r="r" b="b"/>
              <a:pathLst>
                <a:path w="338455" h="347979">
                  <a:moveTo>
                    <a:pt x="169163" y="0"/>
                  </a:moveTo>
                  <a:lnTo>
                    <a:pt x="124195" y="6207"/>
                  </a:lnTo>
                  <a:lnTo>
                    <a:pt x="83786" y="23725"/>
                  </a:lnTo>
                  <a:lnTo>
                    <a:pt x="49549" y="50896"/>
                  </a:lnTo>
                  <a:lnTo>
                    <a:pt x="23097" y="86066"/>
                  </a:lnTo>
                  <a:lnTo>
                    <a:pt x="6043" y="127577"/>
                  </a:lnTo>
                  <a:lnTo>
                    <a:pt x="0" y="173774"/>
                  </a:lnTo>
                  <a:lnTo>
                    <a:pt x="6043" y="219975"/>
                  </a:lnTo>
                  <a:lnTo>
                    <a:pt x="23097" y="261490"/>
                  </a:lnTo>
                  <a:lnTo>
                    <a:pt x="49549" y="296662"/>
                  </a:lnTo>
                  <a:lnTo>
                    <a:pt x="83786" y="323835"/>
                  </a:lnTo>
                  <a:lnTo>
                    <a:pt x="124195" y="341353"/>
                  </a:lnTo>
                  <a:lnTo>
                    <a:pt x="169163" y="347560"/>
                  </a:lnTo>
                  <a:lnTo>
                    <a:pt x="214132" y="341353"/>
                  </a:lnTo>
                  <a:lnTo>
                    <a:pt x="254541" y="323835"/>
                  </a:lnTo>
                  <a:lnTo>
                    <a:pt x="288778" y="296662"/>
                  </a:lnTo>
                  <a:lnTo>
                    <a:pt x="315230" y="261490"/>
                  </a:lnTo>
                  <a:lnTo>
                    <a:pt x="332284" y="219975"/>
                  </a:lnTo>
                  <a:lnTo>
                    <a:pt x="338328" y="173774"/>
                  </a:lnTo>
                  <a:lnTo>
                    <a:pt x="332284" y="127577"/>
                  </a:lnTo>
                  <a:lnTo>
                    <a:pt x="315230" y="86066"/>
                  </a:lnTo>
                  <a:lnTo>
                    <a:pt x="288778" y="50896"/>
                  </a:lnTo>
                  <a:lnTo>
                    <a:pt x="254541" y="23725"/>
                  </a:lnTo>
                  <a:lnTo>
                    <a:pt x="214132" y="6207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2C5F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271" y="5652414"/>
              <a:ext cx="219456" cy="21949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426717" y="5637034"/>
            <a:ext cx="128206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>
                <a:solidFill>
                  <a:srgbClr val="3C5A3E"/>
                </a:solidFill>
                <a:latin typeface="Calibri"/>
                <a:cs typeface="Calibri"/>
              </a:rPr>
              <a:t>Production:</a:t>
            </a:r>
            <a:r>
              <a:rPr dirty="0" sz="1350" spc="-25">
                <a:solidFill>
                  <a:srgbClr val="3C5A3E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C5A3E"/>
                </a:solidFill>
                <a:latin typeface="Calibri"/>
                <a:cs typeface="Calibri"/>
              </a:rPr>
              <a:t>25</a:t>
            </a:r>
            <a:r>
              <a:rPr dirty="0" sz="1350" spc="-55">
                <a:solidFill>
                  <a:srgbClr val="3C5A3E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3C5A3E"/>
                </a:solidFill>
                <a:latin typeface="Calibri"/>
                <a:cs typeface="Calibri"/>
              </a:rPr>
              <a:t>hrs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721608" y="5588380"/>
            <a:ext cx="5824855" cy="347980"/>
            <a:chOff x="3721608" y="5588380"/>
            <a:chExt cx="5824855" cy="347980"/>
          </a:xfrm>
        </p:grpSpPr>
        <p:sp>
          <p:nvSpPr>
            <p:cNvPr id="39" name="object 39"/>
            <p:cNvSpPr/>
            <p:nvPr/>
          </p:nvSpPr>
          <p:spPr>
            <a:xfrm>
              <a:off x="3721608" y="5588380"/>
              <a:ext cx="338455" cy="347980"/>
            </a:xfrm>
            <a:custGeom>
              <a:avLst/>
              <a:gdLst/>
              <a:ahLst/>
              <a:cxnLst/>
              <a:rect l="l" t="t" r="r" b="b"/>
              <a:pathLst>
                <a:path w="338454" h="347979">
                  <a:moveTo>
                    <a:pt x="169163" y="0"/>
                  </a:moveTo>
                  <a:lnTo>
                    <a:pt x="124177" y="6207"/>
                  </a:lnTo>
                  <a:lnTo>
                    <a:pt x="83763" y="23725"/>
                  </a:lnTo>
                  <a:lnTo>
                    <a:pt x="49530" y="50896"/>
                  </a:lnTo>
                  <a:lnTo>
                    <a:pt x="23085" y="86066"/>
                  </a:lnTo>
                  <a:lnTo>
                    <a:pt x="6039" y="127577"/>
                  </a:lnTo>
                  <a:lnTo>
                    <a:pt x="0" y="173774"/>
                  </a:lnTo>
                  <a:lnTo>
                    <a:pt x="6039" y="219975"/>
                  </a:lnTo>
                  <a:lnTo>
                    <a:pt x="23085" y="261490"/>
                  </a:lnTo>
                  <a:lnTo>
                    <a:pt x="49530" y="296662"/>
                  </a:lnTo>
                  <a:lnTo>
                    <a:pt x="83763" y="323835"/>
                  </a:lnTo>
                  <a:lnTo>
                    <a:pt x="124177" y="341353"/>
                  </a:lnTo>
                  <a:lnTo>
                    <a:pt x="169163" y="347560"/>
                  </a:lnTo>
                  <a:lnTo>
                    <a:pt x="214150" y="341353"/>
                  </a:lnTo>
                  <a:lnTo>
                    <a:pt x="254564" y="323835"/>
                  </a:lnTo>
                  <a:lnTo>
                    <a:pt x="288797" y="296662"/>
                  </a:lnTo>
                  <a:lnTo>
                    <a:pt x="315242" y="261490"/>
                  </a:lnTo>
                  <a:lnTo>
                    <a:pt x="332288" y="219975"/>
                  </a:lnTo>
                  <a:lnTo>
                    <a:pt x="338327" y="173774"/>
                  </a:lnTo>
                  <a:lnTo>
                    <a:pt x="332288" y="127577"/>
                  </a:lnTo>
                  <a:lnTo>
                    <a:pt x="315242" y="86066"/>
                  </a:lnTo>
                  <a:lnTo>
                    <a:pt x="288797" y="50896"/>
                  </a:lnTo>
                  <a:lnTo>
                    <a:pt x="254564" y="23725"/>
                  </a:lnTo>
                  <a:lnTo>
                    <a:pt x="214150" y="6207"/>
                  </a:lnTo>
                  <a:lnTo>
                    <a:pt x="169163" y="0"/>
                  </a:lnTo>
                  <a:close/>
                </a:path>
              </a:pathLst>
            </a:custGeom>
            <a:solidFill>
              <a:srgbClr val="3A82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6472" y="5652414"/>
              <a:ext cx="219455" cy="21949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455664" y="558838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736" y="0"/>
                  </a:moveTo>
                  <a:lnTo>
                    <a:pt x="127529" y="6207"/>
                  </a:lnTo>
                  <a:lnTo>
                    <a:pt x="86021" y="23725"/>
                  </a:lnTo>
                  <a:lnTo>
                    <a:pt x="50863" y="50896"/>
                  </a:lnTo>
                  <a:lnTo>
                    <a:pt x="23706" y="86066"/>
                  </a:lnTo>
                  <a:lnTo>
                    <a:pt x="6201" y="127577"/>
                  </a:lnTo>
                  <a:lnTo>
                    <a:pt x="0" y="173774"/>
                  </a:lnTo>
                  <a:lnTo>
                    <a:pt x="6201" y="219975"/>
                  </a:lnTo>
                  <a:lnTo>
                    <a:pt x="23706" y="261490"/>
                  </a:lnTo>
                  <a:lnTo>
                    <a:pt x="50863" y="296662"/>
                  </a:lnTo>
                  <a:lnTo>
                    <a:pt x="86021" y="323835"/>
                  </a:lnTo>
                  <a:lnTo>
                    <a:pt x="127529" y="341353"/>
                  </a:lnTo>
                  <a:lnTo>
                    <a:pt x="173736" y="347560"/>
                  </a:lnTo>
                  <a:lnTo>
                    <a:pt x="219942" y="341353"/>
                  </a:lnTo>
                  <a:lnTo>
                    <a:pt x="261450" y="323835"/>
                  </a:lnTo>
                  <a:lnTo>
                    <a:pt x="296608" y="296662"/>
                  </a:lnTo>
                  <a:lnTo>
                    <a:pt x="323765" y="261490"/>
                  </a:lnTo>
                  <a:lnTo>
                    <a:pt x="341270" y="219975"/>
                  </a:lnTo>
                  <a:lnTo>
                    <a:pt x="347471" y="173774"/>
                  </a:lnTo>
                  <a:lnTo>
                    <a:pt x="341270" y="127577"/>
                  </a:lnTo>
                  <a:lnTo>
                    <a:pt x="323765" y="86066"/>
                  </a:lnTo>
                  <a:lnTo>
                    <a:pt x="296608" y="50896"/>
                  </a:lnTo>
                  <a:lnTo>
                    <a:pt x="261450" y="23725"/>
                  </a:lnTo>
                  <a:lnTo>
                    <a:pt x="219942" y="6207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E692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preencoded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9672" y="5652414"/>
              <a:ext cx="219455" cy="21949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198864" y="558838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173735" y="0"/>
                  </a:moveTo>
                  <a:lnTo>
                    <a:pt x="127529" y="6207"/>
                  </a:lnTo>
                  <a:lnTo>
                    <a:pt x="86021" y="23725"/>
                  </a:lnTo>
                  <a:lnTo>
                    <a:pt x="50863" y="50896"/>
                  </a:lnTo>
                  <a:lnTo>
                    <a:pt x="23706" y="86066"/>
                  </a:lnTo>
                  <a:lnTo>
                    <a:pt x="6201" y="127577"/>
                  </a:lnTo>
                  <a:lnTo>
                    <a:pt x="0" y="173774"/>
                  </a:lnTo>
                  <a:lnTo>
                    <a:pt x="6201" y="219975"/>
                  </a:lnTo>
                  <a:lnTo>
                    <a:pt x="23706" y="261490"/>
                  </a:lnTo>
                  <a:lnTo>
                    <a:pt x="50863" y="296662"/>
                  </a:lnTo>
                  <a:lnTo>
                    <a:pt x="86021" y="323835"/>
                  </a:lnTo>
                  <a:lnTo>
                    <a:pt x="127529" y="341353"/>
                  </a:lnTo>
                  <a:lnTo>
                    <a:pt x="173735" y="347560"/>
                  </a:lnTo>
                  <a:lnTo>
                    <a:pt x="219942" y="341353"/>
                  </a:lnTo>
                  <a:lnTo>
                    <a:pt x="261450" y="323835"/>
                  </a:lnTo>
                  <a:lnTo>
                    <a:pt x="296608" y="296662"/>
                  </a:lnTo>
                  <a:lnTo>
                    <a:pt x="323765" y="261490"/>
                  </a:lnTo>
                  <a:lnTo>
                    <a:pt x="341270" y="219975"/>
                  </a:lnTo>
                  <a:lnTo>
                    <a:pt x="347471" y="173774"/>
                  </a:lnTo>
                  <a:lnTo>
                    <a:pt x="341270" y="127577"/>
                  </a:lnTo>
                  <a:lnTo>
                    <a:pt x="323765" y="86066"/>
                  </a:lnTo>
                  <a:lnTo>
                    <a:pt x="296608" y="50896"/>
                  </a:lnTo>
                  <a:lnTo>
                    <a:pt x="261450" y="23725"/>
                  </a:lnTo>
                  <a:lnTo>
                    <a:pt x="219942" y="6207"/>
                  </a:lnTo>
                  <a:lnTo>
                    <a:pt x="173735" y="0"/>
                  </a:lnTo>
                  <a:close/>
                </a:path>
              </a:pathLst>
            </a:custGeom>
            <a:solidFill>
              <a:srgbClr val="6C5BA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preencoded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62872" y="5652414"/>
              <a:ext cx="219455" cy="21949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4171188" y="5637034"/>
            <a:ext cx="125920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>
                <a:solidFill>
                  <a:srgbClr val="3C5A3E"/>
                </a:solidFill>
                <a:latin typeface="Calibri"/>
                <a:cs typeface="Calibri"/>
              </a:rPr>
              <a:t>Processing:</a:t>
            </a:r>
            <a:r>
              <a:rPr dirty="0" sz="1350" spc="-40">
                <a:solidFill>
                  <a:srgbClr val="3C5A3E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C5A3E"/>
                </a:solidFill>
                <a:latin typeface="Calibri"/>
                <a:cs typeface="Calibri"/>
              </a:rPr>
              <a:t>10</a:t>
            </a:r>
            <a:r>
              <a:rPr dirty="0" sz="1350" spc="-5">
                <a:solidFill>
                  <a:srgbClr val="3C5A3E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3C5A3E"/>
                </a:solidFill>
                <a:latin typeface="Calibri"/>
                <a:cs typeface="Calibri"/>
              </a:rPr>
              <a:t>hrs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915911" y="5637034"/>
            <a:ext cx="139700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35">
                <a:solidFill>
                  <a:srgbClr val="3C5A3E"/>
                </a:solidFill>
                <a:latin typeface="Calibri"/>
                <a:cs typeface="Calibri"/>
              </a:rPr>
              <a:t>Value-</a:t>
            </a:r>
            <a:r>
              <a:rPr dirty="0" sz="1350" spc="-10">
                <a:solidFill>
                  <a:srgbClr val="3C5A3E"/>
                </a:solidFill>
                <a:latin typeface="Calibri"/>
                <a:cs typeface="Calibri"/>
              </a:rPr>
              <a:t>added:</a:t>
            </a:r>
            <a:r>
              <a:rPr dirty="0" sz="1350" spc="5">
                <a:solidFill>
                  <a:srgbClr val="3C5A3E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C5A3E"/>
                </a:solidFill>
                <a:latin typeface="Calibri"/>
                <a:cs typeface="Calibri"/>
              </a:rPr>
              <a:t>20</a:t>
            </a:r>
            <a:r>
              <a:rPr dirty="0" sz="1350" spc="-40">
                <a:solidFill>
                  <a:srgbClr val="3C5A3E"/>
                </a:solidFill>
                <a:latin typeface="Calibri"/>
                <a:cs typeface="Calibri"/>
              </a:rPr>
              <a:t> </a:t>
            </a:r>
            <a:r>
              <a:rPr dirty="0" sz="1350" spc="-25">
                <a:solidFill>
                  <a:srgbClr val="3C5A3E"/>
                </a:solidFill>
                <a:latin typeface="Calibri"/>
                <a:cs typeface="Calibri"/>
              </a:rPr>
              <a:t>hrs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660381" y="5637034"/>
            <a:ext cx="102616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0">
                <a:solidFill>
                  <a:srgbClr val="3C5A3E"/>
                </a:solidFill>
                <a:latin typeface="Calibri"/>
                <a:cs typeface="Calibri"/>
              </a:rPr>
              <a:t>Logistics:</a:t>
            </a:r>
            <a:r>
              <a:rPr dirty="0" sz="1350" spc="-35">
                <a:solidFill>
                  <a:srgbClr val="3C5A3E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3C5A3E"/>
                </a:solidFill>
                <a:latin typeface="Calibri"/>
                <a:cs typeface="Calibri"/>
              </a:rPr>
              <a:t>4 </a:t>
            </a:r>
            <a:r>
              <a:rPr dirty="0" sz="1350" spc="-25">
                <a:solidFill>
                  <a:srgbClr val="3C5A3E"/>
                </a:solidFill>
                <a:latin typeface="Calibri"/>
                <a:cs typeface="Calibri"/>
              </a:rPr>
              <a:t>hrs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9137" y="6337960"/>
            <a:ext cx="7411720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Sources:</a:t>
            </a:r>
            <a:r>
              <a:rPr dirty="0" sz="105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UC</a:t>
            </a:r>
            <a:r>
              <a:rPr dirty="0" sz="1050" spc="-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Davis,</a:t>
            </a:r>
            <a:r>
              <a:rPr dirty="0" sz="1050" spc="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UF</a:t>
            </a:r>
            <a:r>
              <a:rPr dirty="0" sz="1050" spc="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IFAS,</a:t>
            </a:r>
            <a:r>
              <a:rPr dirty="0" sz="1050" spc="2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Univ.</a:t>
            </a:r>
            <a:r>
              <a:rPr dirty="0" sz="105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of</a:t>
            </a:r>
            <a:r>
              <a:rPr dirty="0" sz="1050" spc="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Missouri</a:t>
            </a:r>
            <a:r>
              <a:rPr dirty="0" sz="1050" spc="4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Extension,</a:t>
            </a:r>
            <a:r>
              <a:rPr dirty="0" sz="105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USDA</a:t>
            </a:r>
            <a:r>
              <a:rPr dirty="0" sz="1050" spc="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ERS.</a:t>
            </a:r>
            <a:r>
              <a:rPr dirty="0" sz="105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Fresh</a:t>
            </a:r>
            <a:r>
              <a:rPr dirty="0" sz="1050" spc="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market,</a:t>
            </a:r>
            <a:r>
              <a:rPr dirty="0" sz="1050" spc="1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hand-harvested</a:t>
            </a:r>
            <a:r>
              <a:rPr dirty="0" sz="1050" spc="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at</a:t>
            </a:r>
            <a:r>
              <a:rPr dirty="0" sz="1050" spc="7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~15</a:t>
            </a:r>
            <a:r>
              <a:rPr dirty="0" sz="1050" spc="-5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tons/acre.</a:t>
            </a:r>
            <a:r>
              <a:rPr dirty="0" sz="1050" spc="9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FTE</a:t>
            </a:r>
            <a:r>
              <a:rPr dirty="0" sz="1050" spc="-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=</a:t>
            </a:r>
            <a:r>
              <a:rPr dirty="0" sz="1050" spc="3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6B7180"/>
                </a:solidFill>
                <a:latin typeface="Calibri"/>
                <a:cs typeface="Calibri"/>
              </a:rPr>
              <a:t>2,000</a:t>
            </a:r>
            <a:r>
              <a:rPr dirty="0" sz="1050" spc="30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6B7180"/>
                </a:solidFill>
                <a:latin typeface="Calibri"/>
                <a:cs typeface="Calibri"/>
              </a:rPr>
              <a:t>hrs/yr.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119" y="18284"/>
            <a:ext cx="10396728" cy="68397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5432" y="4292934"/>
            <a:ext cx="2532533" cy="256506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1858" y="4616155"/>
            <a:ext cx="2755733" cy="224184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6570" y="326262"/>
            <a:ext cx="10238105" cy="64071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14"/>
              <a:t>Why</a:t>
            </a:r>
            <a:r>
              <a:rPr dirty="0" spc="-415"/>
              <a:t> </a:t>
            </a:r>
            <a:r>
              <a:rPr dirty="0" spc="-160"/>
              <a:t>this</a:t>
            </a:r>
            <a:r>
              <a:rPr dirty="0" spc="-465"/>
              <a:t> </a:t>
            </a:r>
            <a:r>
              <a:rPr dirty="0" spc="-300"/>
              <a:t>priority:</a:t>
            </a:r>
            <a:r>
              <a:rPr dirty="0" spc="-450"/>
              <a:t> </a:t>
            </a:r>
            <a:r>
              <a:rPr dirty="0" spc="-85"/>
              <a:t>Memphis</a:t>
            </a:r>
            <a:r>
              <a:rPr dirty="0" spc="-390"/>
              <a:t> </a:t>
            </a:r>
            <a:r>
              <a:rPr dirty="0" spc="-70"/>
              <a:t>is</a:t>
            </a:r>
            <a:r>
              <a:rPr dirty="0" spc="-385"/>
              <a:t> </a:t>
            </a:r>
            <a:r>
              <a:rPr dirty="0" spc="-235"/>
              <a:t>ready</a:t>
            </a:r>
            <a:r>
              <a:rPr dirty="0" spc="-490"/>
              <a:t> </a:t>
            </a:r>
            <a:r>
              <a:rPr dirty="0" spc="-229"/>
              <a:t>to</a:t>
            </a:r>
            <a:r>
              <a:rPr dirty="0" spc="-450"/>
              <a:t> </a:t>
            </a:r>
            <a:r>
              <a:rPr dirty="0" spc="-195"/>
              <a:t>rock</a:t>
            </a:r>
            <a:r>
              <a:rPr dirty="0" spc="-405"/>
              <a:t> </a:t>
            </a:r>
            <a:r>
              <a:rPr dirty="0" spc="-165"/>
              <a:t>and</a:t>
            </a:r>
            <a:r>
              <a:rPr dirty="0" spc="-400"/>
              <a:t> </a:t>
            </a:r>
            <a:r>
              <a:rPr dirty="0" spc="-100"/>
              <a:t>roll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7460" y="1314459"/>
            <a:ext cx="9841230" cy="279654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800">
                <a:latin typeface="Trebuchet MS"/>
                <a:cs typeface="Trebuchet MS"/>
              </a:rPr>
              <a:t>Anchors</a:t>
            </a:r>
            <a:r>
              <a:rPr dirty="0" sz="2800" spc="-195">
                <a:latin typeface="Trebuchet MS"/>
                <a:cs typeface="Trebuchet MS"/>
              </a:rPr>
              <a:t> </a:t>
            </a:r>
            <a:r>
              <a:rPr dirty="0" sz="2800" spc="-75">
                <a:latin typeface="Trebuchet MS"/>
                <a:cs typeface="Trebuchet MS"/>
              </a:rPr>
              <a:t>already</a:t>
            </a:r>
            <a:r>
              <a:rPr dirty="0" sz="2800" spc="-175">
                <a:latin typeface="Trebuchet MS"/>
                <a:cs typeface="Trebuchet MS"/>
              </a:rPr>
              <a:t> </a:t>
            </a:r>
            <a:r>
              <a:rPr dirty="0" sz="2800" spc="-75">
                <a:latin typeface="Trebuchet MS"/>
                <a:cs typeface="Trebuchet MS"/>
              </a:rPr>
              <a:t>working</a:t>
            </a:r>
            <a:r>
              <a:rPr dirty="0" sz="2800" spc="-20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on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 spc="-30">
                <a:latin typeface="Trebuchet MS"/>
                <a:cs typeface="Trebuchet MS"/>
              </a:rPr>
              <a:t>these</a:t>
            </a:r>
            <a:r>
              <a:rPr dirty="0" sz="2800" spc="-17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initiatives</a:t>
            </a:r>
            <a:endParaRPr sz="2800">
              <a:latin typeface="Trebuchet MS"/>
              <a:cs typeface="Trebuchet MS"/>
            </a:endParaRPr>
          </a:p>
          <a:p>
            <a:pPr lvl="1" marL="697865" indent="-227965">
              <a:lnSpc>
                <a:spcPct val="100000"/>
              </a:lnSpc>
              <a:spcBef>
                <a:spcPts val="265"/>
              </a:spcBef>
              <a:buFont typeface="Microsoft Sans Serif"/>
              <a:buChar char="•"/>
              <a:tabLst>
                <a:tab pos="697865" algn="l"/>
              </a:tabLst>
            </a:pPr>
            <a:r>
              <a:rPr dirty="0" sz="2350">
                <a:latin typeface="Trebuchet MS"/>
                <a:cs typeface="Trebuchet MS"/>
              </a:rPr>
              <a:t>Stress</a:t>
            </a:r>
            <a:r>
              <a:rPr dirty="0" sz="2350" spc="-125">
                <a:latin typeface="Trebuchet MS"/>
                <a:cs typeface="Trebuchet MS"/>
              </a:rPr>
              <a:t> </a:t>
            </a:r>
            <a:r>
              <a:rPr dirty="0" sz="2350" spc="-60">
                <a:latin typeface="Trebuchet MS"/>
                <a:cs typeface="Trebuchet MS"/>
              </a:rPr>
              <a:t>test</a:t>
            </a:r>
            <a:r>
              <a:rPr dirty="0" sz="2350" spc="-105">
                <a:latin typeface="Trebuchet MS"/>
                <a:cs typeface="Trebuchet MS"/>
              </a:rPr>
              <a:t> </a:t>
            </a:r>
            <a:r>
              <a:rPr dirty="0" sz="2350" spc="-70">
                <a:latin typeface="Trebuchet MS"/>
                <a:cs typeface="Trebuchet MS"/>
              </a:rPr>
              <a:t>-</a:t>
            </a:r>
            <a:r>
              <a:rPr dirty="0" sz="2350">
                <a:latin typeface="Trebuchet MS"/>
                <a:cs typeface="Trebuchet MS"/>
              </a:rPr>
              <a:t>&gt;</a:t>
            </a:r>
            <a:r>
              <a:rPr dirty="0" sz="2350" spc="-85">
                <a:latin typeface="Trebuchet MS"/>
                <a:cs typeface="Trebuchet MS"/>
              </a:rPr>
              <a:t> </a:t>
            </a:r>
            <a:r>
              <a:rPr dirty="0" sz="2350" spc="-60">
                <a:latin typeface="Trebuchet MS"/>
                <a:cs typeface="Trebuchet MS"/>
              </a:rPr>
              <a:t>sunflower,</a:t>
            </a:r>
            <a:r>
              <a:rPr dirty="0" sz="2350" spc="-155">
                <a:latin typeface="Trebuchet MS"/>
                <a:cs typeface="Trebuchet MS"/>
              </a:rPr>
              <a:t> </a:t>
            </a:r>
            <a:r>
              <a:rPr dirty="0" sz="2350" spc="-75">
                <a:latin typeface="Trebuchet MS"/>
                <a:cs typeface="Trebuchet MS"/>
              </a:rPr>
              <a:t>garlic,</a:t>
            </a:r>
            <a:r>
              <a:rPr dirty="0" sz="2350" spc="-70">
                <a:latin typeface="Trebuchet MS"/>
                <a:cs typeface="Trebuchet MS"/>
              </a:rPr>
              <a:t> </a:t>
            </a:r>
            <a:r>
              <a:rPr dirty="0" sz="2350" spc="-10">
                <a:latin typeface="Trebuchet MS"/>
                <a:cs typeface="Trebuchet MS"/>
              </a:rPr>
              <a:t>tomato</a:t>
            </a:r>
            <a:endParaRPr sz="2350">
              <a:latin typeface="Trebuchet MS"/>
              <a:cs typeface="Trebuchet MS"/>
            </a:endParaRPr>
          </a:p>
          <a:p>
            <a:pPr marL="241300" marR="5080" indent="-228600">
              <a:lnSpc>
                <a:spcPts val="3030"/>
              </a:lnSpc>
              <a:spcBef>
                <a:spcPts val="100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800">
                <a:latin typeface="Trebuchet MS"/>
                <a:cs typeface="Trebuchet MS"/>
              </a:rPr>
              <a:t>We</a:t>
            </a:r>
            <a:r>
              <a:rPr dirty="0" sz="2800" spc="-285">
                <a:latin typeface="Trebuchet MS"/>
                <a:cs typeface="Trebuchet MS"/>
              </a:rPr>
              <a:t> </a:t>
            </a:r>
            <a:r>
              <a:rPr dirty="0" sz="2800" spc="-55">
                <a:latin typeface="Trebuchet MS"/>
                <a:cs typeface="Trebuchet MS"/>
              </a:rPr>
              <a:t>have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95">
                <a:latin typeface="Trebuchet MS"/>
                <a:cs typeface="Trebuchet MS"/>
              </a:rPr>
              <a:t>the</a:t>
            </a:r>
            <a:r>
              <a:rPr dirty="0" sz="2800" spc="-280">
                <a:latin typeface="Trebuchet MS"/>
                <a:cs typeface="Trebuchet MS"/>
              </a:rPr>
              <a:t> </a:t>
            </a:r>
            <a:r>
              <a:rPr dirty="0" sz="2800" spc="-75">
                <a:latin typeface="Trebuchet MS"/>
                <a:cs typeface="Trebuchet MS"/>
              </a:rPr>
              <a:t>agricultural</a:t>
            </a:r>
            <a:r>
              <a:rPr dirty="0" sz="2800" spc="-245">
                <a:latin typeface="Trebuchet MS"/>
                <a:cs typeface="Trebuchet MS"/>
              </a:rPr>
              <a:t> </a:t>
            </a:r>
            <a:r>
              <a:rPr dirty="0" sz="2800" spc="-100">
                <a:latin typeface="Trebuchet MS"/>
                <a:cs typeface="Trebuchet MS"/>
              </a:rPr>
              <a:t>infrastructure,</a:t>
            </a:r>
            <a:r>
              <a:rPr dirty="0" sz="2800" spc="-250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but</a:t>
            </a:r>
            <a:r>
              <a:rPr dirty="0" sz="2800" spc="-285">
                <a:latin typeface="Trebuchet MS"/>
                <a:cs typeface="Trebuchet MS"/>
              </a:rPr>
              <a:t> </a:t>
            </a:r>
            <a:r>
              <a:rPr dirty="0" sz="2800" spc="-60">
                <a:latin typeface="Trebuchet MS"/>
                <a:cs typeface="Trebuchet MS"/>
              </a:rPr>
              <a:t>we</a:t>
            </a:r>
            <a:r>
              <a:rPr dirty="0" sz="2800" spc="-285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are</a:t>
            </a:r>
            <a:r>
              <a:rPr dirty="0" sz="2800" spc="-204">
                <a:latin typeface="Trebuchet MS"/>
                <a:cs typeface="Trebuchet MS"/>
              </a:rPr>
              <a:t> </a:t>
            </a:r>
            <a:r>
              <a:rPr dirty="0" sz="2800" spc="-60">
                <a:latin typeface="Trebuchet MS"/>
                <a:cs typeface="Trebuchet MS"/>
              </a:rPr>
              <a:t>not</a:t>
            </a:r>
            <a:r>
              <a:rPr dirty="0" sz="2800" spc="-285">
                <a:latin typeface="Trebuchet MS"/>
                <a:cs typeface="Trebuchet MS"/>
              </a:rPr>
              <a:t> </a:t>
            </a:r>
            <a:r>
              <a:rPr dirty="0" sz="2800" spc="-50">
                <a:latin typeface="Trebuchet MS"/>
                <a:cs typeface="Trebuchet MS"/>
              </a:rPr>
              <a:t>retaining </a:t>
            </a:r>
            <a:r>
              <a:rPr dirty="0" sz="2800" spc="-95">
                <a:latin typeface="Trebuchet MS"/>
                <a:cs typeface="Trebuchet MS"/>
              </a:rPr>
              <a:t>the</a:t>
            </a:r>
            <a:r>
              <a:rPr dirty="0" sz="2800" spc="-290">
                <a:latin typeface="Trebuchet MS"/>
                <a:cs typeface="Trebuchet MS"/>
              </a:rPr>
              <a:t> </a:t>
            </a:r>
            <a:r>
              <a:rPr dirty="0" sz="2800" spc="-55">
                <a:latin typeface="Trebuchet MS"/>
                <a:cs typeface="Trebuchet MS"/>
              </a:rPr>
              <a:t>value</a:t>
            </a:r>
            <a:r>
              <a:rPr dirty="0" sz="2800" spc="-220">
                <a:latin typeface="Trebuchet MS"/>
                <a:cs typeface="Trebuchet MS"/>
              </a:rPr>
              <a:t> </a:t>
            </a:r>
            <a:r>
              <a:rPr dirty="0" sz="2800" spc="-80">
                <a:latin typeface="Trebuchet MS"/>
                <a:cs typeface="Trebuchet MS"/>
              </a:rPr>
              <a:t>in</a:t>
            </a:r>
            <a:r>
              <a:rPr dirty="0" sz="2800" spc="-280">
                <a:latin typeface="Trebuchet MS"/>
                <a:cs typeface="Trebuchet MS"/>
              </a:rPr>
              <a:t> </a:t>
            </a:r>
            <a:r>
              <a:rPr dirty="0" sz="2800" spc="-90">
                <a:latin typeface="Trebuchet MS"/>
                <a:cs typeface="Trebuchet MS"/>
              </a:rPr>
              <a:t>the</a:t>
            </a:r>
            <a:r>
              <a:rPr dirty="0" sz="2800" spc="-29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region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800" spc="75">
                <a:latin typeface="Trebuchet MS"/>
                <a:cs typeface="Trebuchet MS"/>
              </a:rPr>
              <a:t>Cross-</a:t>
            </a:r>
            <a:r>
              <a:rPr dirty="0" sz="2800" spc="-25">
                <a:latin typeface="Trebuchet MS"/>
                <a:cs typeface="Trebuchet MS"/>
              </a:rPr>
              <a:t>sector</a:t>
            </a:r>
            <a:r>
              <a:rPr dirty="0" sz="2800" spc="-215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collaboration</a:t>
            </a:r>
            <a:endParaRPr sz="28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680"/>
              </a:spcBef>
              <a:buFont typeface="Microsoft Sans Serif"/>
              <a:buChar char="•"/>
              <a:tabLst>
                <a:tab pos="241300" algn="l"/>
              </a:tabLst>
            </a:pPr>
            <a:r>
              <a:rPr dirty="0" sz="2800" spc="-35">
                <a:latin typeface="Trebuchet MS"/>
                <a:cs typeface="Trebuchet MS"/>
              </a:rPr>
              <a:t>Coordinated</a:t>
            </a:r>
            <a:r>
              <a:rPr dirty="0" sz="2800" spc="-225">
                <a:latin typeface="Trebuchet MS"/>
                <a:cs typeface="Trebuchet MS"/>
              </a:rPr>
              <a:t> </a:t>
            </a:r>
            <a:r>
              <a:rPr dirty="0" sz="2800" spc="-140">
                <a:latin typeface="Trebuchet MS"/>
                <a:cs typeface="Trebuchet MS"/>
              </a:rPr>
              <a:t>effort</a:t>
            </a:r>
            <a:r>
              <a:rPr dirty="0" sz="2800" spc="-285">
                <a:latin typeface="Trebuchet MS"/>
                <a:cs typeface="Trebuchet MS"/>
              </a:rPr>
              <a:t> </a:t>
            </a:r>
            <a:r>
              <a:rPr dirty="0" sz="2800" spc="-120">
                <a:latin typeface="Trebuchet MS"/>
                <a:cs typeface="Trebuchet MS"/>
              </a:rPr>
              <a:t>that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builds</a:t>
            </a:r>
            <a:r>
              <a:rPr dirty="0" sz="2800" spc="-240">
                <a:latin typeface="Trebuchet MS"/>
                <a:cs typeface="Trebuchet MS"/>
              </a:rPr>
              <a:t> </a:t>
            </a:r>
            <a:r>
              <a:rPr dirty="0" sz="2800">
                <a:latin typeface="Trebuchet MS"/>
                <a:cs typeface="Trebuchet MS"/>
              </a:rPr>
              <a:t>a</a:t>
            </a:r>
            <a:r>
              <a:rPr dirty="0" sz="2800" spc="-210">
                <a:latin typeface="Trebuchet MS"/>
                <a:cs typeface="Trebuchet MS"/>
              </a:rPr>
              <a:t> </a:t>
            </a:r>
            <a:r>
              <a:rPr dirty="0" sz="2800" spc="-45">
                <a:latin typeface="Trebuchet MS"/>
                <a:cs typeface="Trebuchet MS"/>
              </a:rPr>
              <a:t>strong</a:t>
            </a:r>
            <a:r>
              <a:rPr dirty="0" sz="2800" spc="-229">
                <a:latin typeface="Trebuchet MS"/>
                <a:cs typeface="Trebuchet MS"/>
              </a:rPr>
              <a:t> </a:t>
            </a:r>
            <a:r>
              <a:rPr dirty="0" sz="2800" spc="-10">
                <a:latin typeface="Trebuchet MS"/>
                <a:cs typeface="Trebuchet MS"/>
              </a:rPr>
              <a:t>ecosystem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3400" y="4289628"/>
            <a:ext cx="3712463" cy="2568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905750" cy="6859905"/>
            <a:chOff x="0" y="0"/>
            <a:chExt cx="7905750" cy="68599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79053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7571740" cy="6859905"/>
            </a:xfrm>
            <a:custGeom>
              <a:avLst/>
              <a:gdLst/>
              <a:ahLst/>
              <a:cxnLst/>
              <a:rect l="l" t="t" r="r" b="b"/>
              <a:pathLst>
                <a:path w="7571740" h="6859905">
                  <a:moveTo>
                    <a:pt x="7571232" y="0"/>
                  </a:moveTo>
                  <a:lnTo>
                    <a:pt x="0" y="0"/>
                  </a:lnTo>
                  <a:lnTo>
                    <a:pt x="0" y="6859714"/>
                  </a:lnTo>
                  <a:lnTo>
                    <a:pt x="7571232" y="6859714"/>
                  </a:lnTo>
                  <a:lnTo>
                    <a:pt x="7571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02780" y="5642698"/>
            <a:ext cx="4623435" cy="640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000" spc="-75">
                <a:latin typeface="Trebuchet MS"/>
                <a:cs typeface="Trebuchet MS"/>
              </a:rPr>
              <a:t>How</a:t>
            </a:r>
            <a:r>
              <a:rPr dirty="0" sz="4000" spc="-480">
                <a:latin typeface="Trebuchet MS"/>
                <a:cs typeface="Trebuchet MS"/>
              </a:rPr>
              <a:t> </a:t>
            </a:r>
            <a:r>
              <a:rPr dirty="0" sz="4000" spc="-210">
                <a:latin typeface="Trebuchet MS"/>
                <a:cs typeface="Trebuchet MS"/>
              </a:rPr>
              <a:t>will</a:t>
            </a:r>
            <a:r>
              <a:rPr dirty="0" sz="4000" spc="-450">
                <a:latin typeface="Trebuchet MS"/>
                <a:cs typeface="Trebuchet MS"/>
              </a:rPr>
              <a:t> </a:t>
            </a:r>
            <a:r>
              <a:rPr dirty="0" sz="4000" spc="-165">
                <a:latin typeface="Trebuchet MS"/>
                <a:cs typeface="Trebuchet MS"/>
              </a:rPr>
              <a:t>we</a:t>
            </a:r>
            <a:r>
              <a:rPr dirty="0" sz="4000" spc="-455">
                <a:latin typeface="Trebuchet MS"/>
                <a:cs typeface="Trebuchet MS"/>
              </a:rPr>
              <a:t> </a:t>
            </a:r>
            <a:r>
              <a:rPr dirty="0" sz="4000" spc="-300">
                <a:latin typeface="Trebuchet MS"/>
                <a:cs typeface="Trebuchet MS"/>
              </a:rPr>
              <a:t>get</a:t>
            </a:r>
            <a:r>
              <a:rPr dirty="0" sz="4000" spc="-400">
                <a:latin typeface="Trebuchet MS"/>
                <a:cs typeface="Trebuchet MS"/>
              </a:rPr>
              <a:t> </a:t>
            </a:r>
            <a:r>
              <a:rPr dirty="0" sz="4000" spc="-140">
                <a:latin typeface="Trebuchet MS"/>
                <a:cs typeface="Trebuchet MS"/>
              </a:rPr>
              <a:t>there?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7571231" cy="51584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792211" y="1124369"/>
            <a:ext cx="4198620" cy="452247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dirty="0" sz="1550">
                <a:latin typeface="Trebuchet MS"/>
                <a:cs typeface="Trebuchet MS"/>
              </a:rPr>
              <a:t>12-month</a:t>
            </a:r>
            <a:r>
              <a:rPr dirty="0" sz="1550" spc="-1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plan</a:t>
            </a:r>
            <a:endParaRPr sz="1550">
              <a:latin typeface="Trebuchet MS"/>
              <a:cs typeface="Trebuchet MS"/>
            </a:endParaRPr>
          </a:p>
          <a:p>
            <a:pPr marL="698500" indent="-228600">
              <a:lnSpc>
                <a:spcPct val="100000"/>
              </a:lnSpc>
              <a:spcBef>
                <a:spcPts val="37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 spc="-35">
                <a:latin typeface="Trebuchet MS"/>
                <a:cs typeface="Trebuchet MS"/>
              </a:rPr>
              <a:t>Identify</a:t>
            </a:r>
            <a:r>
              <a:rPr dirty="0" sz="1550" spc="-15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</a:t>
            </a:r>
            <a:r>
              <a:rPr dirty="0" sz="1550" spc="-8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individual</a:t>
            </a:r>
            <a:r>
              <a:rPr dirty="0" sz="1550" spc="-130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to</a:t>
            </a:r>
            <a:r>
              <a:rPr dirty="0" sz="1550" spc="-80">
                <a:latin typeface="Trebuchet MS"/>
                <a:cs typeface="Trebuchet MS"/>
              </a:rPr>
              <a:t> </a:t>
            </a:r>
            <a:r>
              <a:rPr dirty="0" sz="1550" spc="-20">
                <a:latin typeface="Trebuchet MS"/>
                <a:cs typeface="Trebuchet MS"/>
              </a:rPr>
              <a:t>lead</a:t>
            </a:r>
            <a:endParaRPr sz="1550">
              <a:latin typeface="Trebuchet MS"/>
              <a:cs typeface="Trebuchet MS"/>
            </a:endParaRPr>
          </a:p>
          <a:p>
            <a:pPr marL="698500" marR="295910" indent="-229235">
              <a:lnSpc>
                <a:spcPts val="1730"/>
              </a:lnSpc>
              <a:spcBef>
                <a:spcPts val="54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 spc="-35">
                <a:latin typeface="Trebuchet MS"/>
                <a:cs typeface="Trebuchet MS"/>
              </a:rPr>
              <a:t>Identify</a:t>
            </a:r>
            <a:r>
              <a:rPr dirty="0" sz="1550" spc="-114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anchor</a:t>
            </a:r>
            <a:r>
              <a:rPr dirty="0" sz="1550" spc="-6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institutions</a:t>
            </a:r>
            <a:r>
              <a:rPr dirty="0" sz="155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including farmers</a:t>
            </a:r>
            <a:endParaRPr sz="1550">
              <a:latin typeface="Trebuchet MS"/>
              <a:cs typeface="Trebuchet MS"/>
            </a:endParaRPr>
          </a:p>
          <a:p>
            <a:pPr marL="698500" indent="-228600">
              <a:lnSpc>
                <a:spcPct val="100000"/>
              </a:lnSpc>
              <a:spcBef>
                <a:spcPts val="34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 spc="-35">
                <a:latin typeface="Trebuchet MS"/>
                <a:cs typeface="Trebuchet MS"/>
              </a:rPr>
              <a:t>Identify</a:t>
            </a:r>
            <a:r>
              <a:rPr dirty="0" sz="1550" spc="-13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food</a:t>
            </a:r>
            <a:r>
              <a:rPr dirty="0" sz="1550" spc="-70">
                <a:latin typeface="Trebuchet MS"/>
                <a:cs typeface="Trebuchet MS"/>
              </a:rPr>
              <a:t> </a:t>
            </a:r>
            <a:r>
              <a:rPr dirty="0" sz="1550" spc="90">
                <a:latin typeface="Trebuchet MS"/>
                <a:cs typeface="Trebuchet MS"/>
              </a:rPr>
              <a:t>C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beverage</a:t>
            </a:r>
            <a:r>
              <a:rPr dirty="0" sz="1550" spc="-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sourcing</a:t>
            </a:r>
            <a:r>
              <a:rPr dirty="0" sz="1550" spc="-2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needs</a:t>
            </a:r>
            <a:endParaRPr sz="1550">
              <a:latin typeface="Trebuchet MS"/>
              <a:cs typeface="Trebuchet MS"/>
            </a:endParaRPr>
          </a:p>
          <a:p>
            <a:pPr marL="698500" indent="-228600">
              <a:lnSpc>
                <a:spcPct val="100000"/>
              </a:lnSpc>
              <a:spcBef>
                <a:spcPts val="38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 spc="-30">
                <a:latin typeface="Trebuchet MS"/>
                <a:cs typeface="Trebuchet MS"/>
              </a:rPr>
              <a:t>Inventory</a:t>
            </a:r>
            <a:r>
              <a:rPr dirty="0" sz="1550" spc="-1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industrial</a:t>
            </a:r>
            <a:r>
              <a:rPr dirty="0" sz="1550" spc="-135">
                <a:latin typeface="Trebuchet MS"/>
                <a:cs typeface="Trebuchet MS"/>
              </a:rPr>
              <a:t> </a:t>
            </a:r>
            <a:r>
              <a:rPr dirty="0" sz="1550" spc="40">
                <a:latin typeface="Trebuchet MS"/>
                <a:cs typeface="Trebuchet MS"/>
              </a:rPr>
              <a:t>assets</a:t>
            </a:r>
            <a:endParaRPr sz="1550">
              <a:latin typeface="Trebuchet MS"/>
              <a:cs typeface="Trebuchet MS"/>
            </a:endParaRPr>
          </a:p>
          <a:p>
            <a:pPr marL="698500" indent="-228600">
              <a:lnSpc>
                <a:spcPct val="100000"/>
              </a:lnSpc>
              <a:spcBef>
                <a:spcPts val="37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>
                <a:latin typeface="Trebuchet MS"/>
                <a:cs typeface="Trebuchet MS"/>
              </a:rPr>
              <a:t>Enhance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on-</a:t>
            </a:r>
            <a:r>
              <a:rPr dirty="0" sz="1550" spc="-25">
                <a:latin typeface="Trebuchet MS"/>
                <a:cs typeface="Trebuchet MS"/>
              </a:rPr>
              <a:t>farm</a:t>
            </a:r>
            <a:r>
              <a:rPr dirty="0" sz="1550" spc="-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research</a:t>
            </a:r>
            <a:r>
              <a:rPr dirty="0" sz="1550" spc="1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capacity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550">
                <a:latin typeface="Trebuchet MS"/>
                <a:cs typeface="Trebuchet MS"/>
              </a:rPr>
              <a:t>90-day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activation</a:t>
            </a:r>
            <a:r>
              <a:rPr dirty="0" sz="1550" spc="-6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agenda</a:t>
            </a:r>
            <a:endParaRPr sz="1550">
              <a:latin typeface="Trebuchet MS"/>
              <a:cs typeface="Trebuchet MS"/>
            </a:endParaRPr>
          </a:p>
          <a:p>
            <a:pPr marL="698500" marR="923925" indent="-229235">
              <a:lnSpc>
                <a:spcPts val="1730"/>
              </a:lnSpc>
              <a:spcBef>
                <a:spcPts val="540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>
                <a:latin typeface="Trebuchet MS"/>
                <a:cs typeface="Trebuchet MS"/>
              </a:rPr>
              <a:t>Launch</a:t>
            </a:r>
            <a:r>
              <a:rPr dirty="0" sz="1550" spc="-11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new crop</a:t>
            </a:r>
            <a:r>
              <a:rPr dirty="0" sz="1550" spc="-4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opportunity </a:t>
            </a:r>
            <a:r>
              <a:rPr dirty="0" sz="1550" spc="50">
                <a:latin typeface="Trebuchet MS"/>
                <a:cs typeface="Trebuchet MS"/>
              </a:rPr>
              <a:t>assessment</a:t>
            </a:r>
            <a:r>
              <a:rPr dirty="0" sz="1550" spc="-100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tool,</a:t>
            </a:r>
            <a:r>
              <a:rPr dirty="0" sz="1550" spc="-7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AgLaunch</a:t>
            </a:r>
            <a:endParaRPr sz="1550">
              <a:latin typeface="Trebuchet MS"/>
              <a:cs typeface="Trebuchet MS"/>
            </a:endParaRPr>
          </a:p>
          <a:p>
            <a:pPr marL="698500" marR="311785" indent="-229235">
              <a:lnSpc>
                <a:spcPts val="1730"/>
              </a:lnSpc>
              <a:spcBef>
                <a:spcPts val="50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 spc="-20">
                <a:latin typeface="Trebuchet MS"/>
                <a:cs typeface="Trebuchet MS"/>
              </a:rPr>
              <a:t>Explore</a:t>
            </a:r>
            <a:r>
              <a:rPr dirty="0" sz="1550" spc="-9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-10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host</a:t>
            </a:r>
            <a:r>
              <a:rPr dirty="0" sz="1550" spc="-140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institution</a:t>
            </a:r>
            <a:r>
              <a:rPr dirty="0" sz="1550" spc="-135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for</a:t>
            </a:r>
            <a:r>
              <a:rPr dirty="0" sz="1550" spc="-70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the</a:t>
            </a:r>
            <a:r>
              <a:rPr dirty="0" sz="1550" spc="-9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new </a:t>
            </a:r>
            <a:r>
              <a:rPr dirty="0" sz="1550" spc="-40">
                <a:latin typeface="Trebuchet MS"/>
                <a:cs typeface="Trebuchet MS"/>
              </a:rPr>
              <a:t>cluster,</a:t>
            </a:r>
            <a:r>
              <a:rPr dirty="0" sz="1550" spc="-60">
                <a:latin typeface="Trebuchet MS"/>
                <a:cs typeface="Trebuchet MS"/>
              </a:rPr>
              <a:t> </a:t>
            </a:r>
            <a:r>
              <a:rPr dirty="0" sz="1550" spc="120">
                <a:latin typeface="Trebuchet MS"/>
                <a:cs typeface="Trebuchet MS"/>
              </a:rPr>
              <a:t>MDD</a:t>
            </a:r>
            <a:endParaRPr sz="1550">
              <a:latin typeface="Trebuchet MS"/>
              <a:cs typeface="Trebuchet MS"/>
            </a:endParaRPr>
          </a:p>
          <a:p>
            <a:pPr marL="698500" marR="5080" indent="-229235">
              <a:lnSpc>
                <a:spcPts val="1730"/>
              </a:lnSpc>
              <a:spcBef>
                <a:spcPts val="434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 spc="-35">
                <a:latin typeface="Trebuchet MS"/>
                <a:cs typeface="Trebuchet MS"/>
              </a:rPr>
              <a:t>Identify</a:t>
            </a:r>
            <a:r>
              <a:rPr dirty="0" sz="1550" spc="-155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funding</a:t>
            </a:r>
            <a:r>
              <a:rPr dirty="0" sz="1550" spc="-130">
                <a:latin typeface="Trebuchet MS"/>
                <a:cs typeface="Trebuchet MS"/>
              </a:rPr>
              <a:t> </a:t>
            </a:r>
            <a:r>
              <a:rPr dirty="0" sz="1550" spc="45">
                <a:latin typeface="Trebuchet MS"/>
                <a:cs typeface="Trebuchet MS"/>
              </a:rPr>
              <a:t>sources</a:t>
            </a:r>
            <a:r>
              <a:rPr dirty="0" sz="1550" spc="-50">
                <a:latin typeface="Trebuchet MS"/>
                <a:cs typeface="Trebuchet MS"/>
              </a:rPr>
              <a:t> to</a:t>
            </a:r>
            <a:r>
              <a:rPr dirty="0" sz="1550" spc="-9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establish</a:t>
            </a:r>
            <a:r>
              <a:rPr dirty="0" sz="1550" spc="-8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the </a:t>
            </a:r>
            <a:r>
              <a:rPr dirty="0" sz="1550">
                <a:latin typeface="Trebuchet MS"/>
                <a:cs typeface="Trebuchet MS"/>
              </a:rPr>
              <a:t>new</a:t>
            </a:r>
            <a:r>
              <a:rPr dirty="0" sz="1550" spc="-1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cluster</a:t>
            </a:r>
            <a:r>
              <a:rPr dirty="0" sz="1550" spc="-80">
                <a:latin typeface="Trebuchet MS"/>
                <a:cs typeface="Trebuchet MS"/>
              </a:rPr>
              <a:t> </a:t>
            </a:r>
            <a:r>
              <a:rPr dirty="0" sz="1550" spc="-40">
                <a:latin typeface="Trebuchet MS"/>
                <a:cs typeface="Trebuchet MS"/>
              </a:rPr>
              <a:t>organization,</a:t>
            </a:r>
            <a:r>
              <a:rPr dirty="0" sz="1550" spc="-75">
                <a:latin typeface="Trebuchet MS"/>
                <a:cs typeface="Trebuchet MS"/>
              </a:rPr>
              <a:t> </a:t>
            </a:r>
            <a:r>
              <a:rPr dirty="0" sz="1550" spc="-50">
                <a:latin typeface="Trebuchet MS"/>
                <a:cs typeface="Trebuchet MS"/>
              </a:rPr>
              <a:t>The</a:t>
            </a:r>
            <a:r>
              <a:rPr dirty="0" sz="1550" spc="-105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Cluster</a:t>
            </a:r>
            <a:endParaRPr sz="1550">
              <a:latin typeface="Trebuchet MS"/>
              <a:cs typeface="Trebuchet MS"/>
            </a:endParaRPr>
          </a:p>
          <a:p>
            <a:pPr marL="698500" marR="447040" indent="-229235">
              <a:lnSpc>
                <a:spcPts val="1730"/>
              </a:lnSpc>
              <a:spcBef>
                <a:spcPts val="505"/>
              </a:spcBef>
              <a:buFont typeface="Microsoft Sans Serif"/>
              <a:buChar char="•"/>
              <a:tabLst>
                <a:tab pos="698500" algn="l"/>
              </a:tabLst>
            </a:pPr>
            <a:r>
              <a:rPr dirty="0" sz="1550">
                <a:latin typeface="Trebuchet MS"/>
                <a:cs typeface="Trebuchet MS"/>
              </a:rPr>
              <a:t>Establish</a:t>
            </a:r>
            <a:r>
              <a:rPr dirty="0" sz="1550" spc="-30">
                <a:latin typeface="Trebuchet MS"/>
                <a:cs typeface="Trebuchet MS"/>
              </a:rPr>
              <a:t> </a:t>
            </a:r>
            <a:r>
              <a:rPr dirty="0" sz="1550">
                <a:latin typeface="Trebuchet MS"/>
                <a:cs typeface="Trebuchet MS"/>
              </a:rPr>
              <a:t>a</a:t>
            </a:r>
            <a:r>
              <a:rPr dirty="0" sz="1550" spc="-80">
                <a:latin typeface="Trebuchet MS"/>
                <a:cs typeface="Trebuchet MS"/>
              </a:rPr>
              <a:t> </a:t>
            </a:r>
            <a:r>
              <a:rPr dirty="0" sz="1550" spc="-30">
                <a:latin typeface="Trebuchet MS"/>
                <a:cs typeface="Trebuchet MS"/>
              </a:rPr>
              <a:t>follow-</a:t>
            </a:r>
            <a:r>
              <a:rPr dirty="0" sz="1550">
                <a:latin typeface="Trebuchet MS"/>
                <a:cs typeface="Trebuchet MS"/>
              </a:rPr>
              <a:t>up</a:t>
            </a:r>
            <a:r>
              <a:rPr dirty="0" sz="1550" spc="40">
                <a:latin typeface="Trebuchet MS"/>
                <a:cs typeface="Trebuchet MS"/>
              </a:rPr>
              <a:t> </a:t>
            </a:r>
            <a:r>
              <a:rPr dirty="0" sz="1550" spc="-10">
                <a:latin typeface="Trebuchet MS"/>
                <a:cs typeface="Trebuchet MS"/>
              </a:rPr>
              <a:t>cadence,</a:t>
            </a:r>
            <a:r>
              <a:rPr dirty="0" sz="1550" spc="-45">
                <a:latin typeface="Trebuchet MS"/>
                <a:cs typeface="Trebuchet MS"/>
              </a:rPr>
              <a:t> </a:t>
            </a:r>
            <a:r>
              <a:rPr dirty="0" sz="1550" spc="-25">
                <a:latin typeface="Trebuchet MS"/>
                <a:cs typeface="Trebuchet MS"/>
              </a:rPr>
              <a:t>The </a:t>
            </a:r>
            <a:r>
              <a:rPr dirty="0" sz="1550" spc="-10">
                <a:latin typeface="Trebuchet MS"/>
                <a:cs typeface="Trebuchet MS"/>
              </a:rPr>
              <a:t>Cluster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460" y="611962"/>
            <a:ext cx="348551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55"/>
              <a:t>Cluster</a:t>
            </a:r>
            <a:r>
              <a:rPr dirty="0" sz="4400" spc="-430"/>
              <a:t> </a:t>
            </a:r>
            <a:r>
              <a:rPr dirty="0" sz="4400" spc="-105"/>
              <a:t>Metrics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pc="-25"/>
              <a:t>Size</a:t>
            </a:r>
            <a:r>
              <a:rPr dirty="0" spc="-305"/>
              <a:t> </a:t>
            </a:r>
            <a:r>
              <a:rPr dirty="0" spc="-70"/>
              <a:t>of</a:t>
            </a:r>
            <a:r>
              <a:rPr dirty="0" spc="-305"/>
              <a:t> </a:t>
            </a:r>
            <a:r>
              <a:rPr dirty="0" spc="-90"/>
              <a:t>the</a:t>
            </a:r>
            <a:r>
              <a:rPr dirty="0" spc="-220"/>
              <a:t> </a:t>
            </a:r>
            <a:r>
              <a:rPr dirty="0" spc="-70"/>
              <a:t>cluster;</a:t>
            </a:r>
            <a:r>
              <a:rPr dirty="0" spc="-265"/>
              <a:t> </a:t>
            </a:r>
            <a:r>
              <a:rPr dirty="0" spc="-40"/>
              <a:t>new</a:t>
            </a:r>
            <a:r>
              <a:rPr dirty="0" spc="-260"/>
              <a:t> </a:t>
            </a:r>
            <a:r>
              <a:rPr dirty="0" spc="-10"/>
              <a:t>partners</a:t>
            </a: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pc="-40"/>
              <a:t>Employment</a:t>
            </a:r>
            <a:r>
              <a:rPr dirty="0" spc="-210"/>
              <a:t> </a:t>
            </a:r>
            <a:r>
              <a:rPr dirty="0" spc="-80"/>
              <a:t>in</a:t>
            </a:r>
            <a:r>
              <a:rPr dirty="0" spc="-275"/>
              <a:t> </a:t>
            </a:r>
            <a:r>
              <a:rPr dirty="0" spc="-90"/>
              <a:t>the</a:t>
            </a:r>
            <a:r>
              <a:rPr dirty="0" spc="-204"/>
              <a:t> </a:t>
            </a:r>
            <a:r>
              <a:rPr dirty="0" spc="-65"/>
              <a:t>cluster;</a:t>
            </a:r>
            <a:r>
              <a:rPr dirty="0" spc="-245"/>
              <a:t> </a:t>
            </a:r>
            <a:r>
              <a:rPr dirty="0" spc="-105"/>
              <a:t>direct</a:t>
            </a:r>
            <a:r>
              <a:rPr dirty="0" spc="-210"/>
              <a:t> </a:t>
            </a:r>
            <a:r>
              <a:rPr dirty="0"/>
              <a:t>and</a:t>
            </a:r>
            <a:r>
              <a:rPr dirty="0" spc="-305"/>
              <a:t> </a:t>
            </a:r>
            <a:r>
              <a:rPr dirty="0" spc="-10"/>
              <a:t>indirect</a:t>
            </a:r>
          </a:p>
          <a:p>
            <a:pPr marL="12700" marR="5080">
              <a:lnSpc>
                <a:spcPct val="120100"/>
              </a:lnSpc>
              <a:spcBef>
                <a:spcPts val="5"/>
              </a:spcBef>
            </a:pPr>
            <a:r>
              <a:rPr dirty="0"/>
              <a:t>#</a:t>
            </a:r>
            <a:r>
              <a:rPr dirty="0" spc="-225"/>
              <a:t> </a:t>
            </a:r>
            <a:r>
              <a:rPr dirty="0"/>
              <a:t>New</a:t>
            </a:r>
            <a:r>
              <a:rPr dirty="0" spc="-229"/>
              <a:t> </a:t>
            </a:r>
            <a:r>
              <a:rPr dirty="0"/>
              <a:t>and</a:t>
            </a:r>
            <a:r>
              <a:rPr dirty="0" spc="-290"/>
              <a:t> </a:t>
            </a:r>
            <a:r>
              <a:rPr dirty="0" spc="-85"/>
              <a:t>activated</a:t>
            </a:r>
            <a:r>
              <a:rPr dirty="0" spc="-210"/>
              <a:t> </a:t>
            </a:r>
            <a:r>
              <a:rPr dirty="0"/>
              <a:t>processing</a:t>
            </a:r>
            <a:r>
              <a:rPr dirty="0" spc="-220"/>
              <a:t> </a:t>
            </a:r>
            <a:r>
              <a:rPr dirty="0"/>
              <a:t>and</a:t>
            </a:r>
            <a:r>
              <a:rPr dirty="0" spc="-210"/>
              <a:t> </a:t>
            </a:r>
            <a:r>
              <a:rPr dirty="0" spc="-45"/>
              <a:t>production</a:t>
            </a:r>
            <a:r>
              <a:rPr dirty="0" spc="-254"/>
              <a:t> </a:t>
            </a:r>
            <a:r>
              <a:rPr dirty="0" spc="-40"/>
              <a:t>facilities </a:t>
            </a:r>
            <a:r>
              <a:rPr dirty="0"/>
              <a:t>#</a:t>
            </a:r>
            <a:r>
              <a:rPr dirty="0" spc="-220"/>
              <a:t> </a:t>
            </a:r>
            <a:r>
              <a:rPr dirty="0"/>
              <a:t>New</a:t>
            </a:r>
            <a:r>
              <a:rPr dirty="0" spc="-225"/>
              <a:t> </a:t>
            </a:r>
            <a:r>
              <a:rPr dirty="0" spc="-30"/>
              <a:t>research</a:t>
            </a:r>
            <a:r>
              <a:rPr dirty="0" spc="-254"/>
              <a:t> </a:t>
            </a:r>
            <a:r>
              <a:rPr dirty="0" spc="-10"/>
              <a:t>projects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/>
              <a:t>#</a:t>
            </a:r>
            <a:r>
              <a:rPr dirty="0" spc="-195"/>
              <a:t> </a:t>
            </a:r>
            <a:r>
              <a:rPr dirty="0"/>
              <a:t>New</a:t>
            </a:r>
            <a:r>
              <a:rPr dirty="0" spc="-204"/>
              <a:t> </a:t>
            </a:r>
            <a:r>
              <a:rPr dirty="0" spc="-60"/>
              <a:t>opportunities</a:t>
            </a:r>
            <a:r>
              <a:rPr dirty="0" spc="-190"/>
              <a:t> </a:t>
            </a:r>
            <a:r>
              <a:rPr dirty="0" spc="-10"/>
              <a:t>evaluated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pc="635"/>
              <a:t>%</a:t>
            </a:r>
            <a:r>
              <a:rPr dirty="0" spc="-260"/>
              <a:t> </a:t>
            </a:r>
            <a:r>
              <a:rPr dirty="0"/>
              <a:t>Acres</a:t>
            </a:r>
            <a:r>
              <a:rPr dirty="0" spc="-245"/>
              <a:t> </a:t>
            </a:r>
            <a:r>
              <a:rPr dirty="0" spc="-65"/>
              <a:t>converted</a:t>
            </a:r>
            <a:r>
              <a:rPr dirty="0" spc="-229"/>
              <a:t> </a:t>
            </a:r>
            <a:r>
              <a:rPr dirty="0" spc="-95"/>
              <a:t>by</a:t>
            </a:r>
            <a:r>
              <a:rPr dirty="0" spc="-220"/>
              <a:t> </a:t>
            </a:r>
            <a:r>
              <a:rPr dirty="0" spc="-20"/>
              <a:t>2031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5935934"/>
            <a:ext cx="12189460" cy="922655"/>
          </a:xfrm>
          <a:custGeom>
            <a:avLst/>
            <a:gdLst/>
            <a:ahLst/>
            <a:cxnLst/>
            <a:rect l="l" t="t" r="r" b="b"/>
            <a:pathLst>
              <a:path w="12189460" h="922654">
                <a:moveTo>
                  <a:pt x="12188952" y="922065"/>
                </a:moveTo>
                <a:lnTo>
                  <a:pt x="12188952" y="0"/>
                </a:lnTo>
                <a:lnTo>
                  <a:pt x="0" y="0"/>
                </a:lnTo>
                <a:lnTo>
                  <a:pt x="0" y="922065"/>
                </a:lnTo>
                <a:lnTo>
                  <a:pt x="12188952" y="92206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2"/>
            <a:ext cx="12189460" cy="6858000"/>
            <a:chOff x="0" y="62"/>
            <a:chExt cx="12189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"/>
              <a:ext cx="12188952" cy="685793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5323141"/>
              <a:ext cx="12189460" cy="732155"/>
            </a:xfrm>
            <a:custGeom>
              <a:avLst/>
              <a:gdLst/>
              <a:ahLst/>
              <a:cxnLst/>
              <a:rect l="l" t="t" r="r" b="b"/>
              <a:pathLst>
                <a:path w="12189460" h="732154">
                  <a:moveTo>
                    <a:pt x="12188952" y="0"/>
                  </a:moveTo>
                  <a:lnTo>
                    <a:pt x="0" y="0"/>
                  </a:lnTo>
                  <a:lnTo>
                    <a:pt x="0" y="731697"/>
                  </a:lnTo>
                  <a:lnTo>
                    <a:pt x="12188952" y="731697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FFFFFF">
                <a:alpha val="929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642230" y="5354828"/>
            <a:ext cx="2982595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265">
                <a:solidFill>
                  <a:srgbClr val="252525"/>
                </a:solidFill>
              </a:rPr>
              <a:t>It’s</a:t>
            </a:r>
            <a:r>
              <a:rPr dirty="0" sz="3600" spc="-365">
                <a:solidFill>
                  <a:srgbClr val="252525"/>
                </a:solidFill>
              </a:rPr>
              <a:t> </a:t>
            </a:r>
            <a:r>
              <a:rPr dirty="0" sz="3600" spc="-140">
                <a:solidFill>
                  <a:srgbClr val="252525"/>
                </a:solidFill>
              </a:rPr>
              <a:t>a</a:t>
            </a:r>
            <a:r>
              <a:rPr dirty="0" sz="3600" spc="-390">
                <a:solidFill>
                  <a:srgbClr val="252525"/>
                </a:solidFill>
              </a:rPr>
              <a:t> </a:t>
            </a:r>
            <a:r>
              <a:rPr dirty="0" sz="3600" spc="-70">
                <a:solidFill>
                  <a:srgbClr val="252525"/>
                </a:solidFill>
              </a:rPr>
              <a:t>slam</a:t>
            </a:r>
            <a:r>
              <a:rPr dirty="0" sz="3600" spc="-360">
                <a:solidFill>
                  <a:srgbClr val="252525"/>
                </a:solidFill>
              </a:rPr>
              <a:t> </a:t>
            </a:r>
            <a:r>
              <a:rPr dirty="0" sz="3600" spc="-185">
                <a:solidFill>
                  <a:srgbClr val="252525"/>
                </a:solidFill>
              </a:rPr>
              <a:t>dunk.</a:t>
            </a:r>
            <a:endParaRPr sz="3600"/>
          </a:p>
        </p:txBody>
      </p:sp>
      <p:sp>
        <p:nvSpPr>
          <p:cNvPr id="6" name="object 6"/>
          <p:cNvSpPr/>
          <p:nvPr/>
        </p:nvSpPr>
        <p:spPr>
          <a:xfrm>
            <a:off x="4559" y="5224716"/>
            <a:ext cx="12185015" cy="937894"/>
          </a:xfrm>
          <a:custGeom>
            <a:avLst/>
            <a:gdLst/>
            <a:ahLst/>
            <a:cxnLst/>
            <a:rect l="l" t="t" r="r" b="b"/>
            <a:pathLst>
              <a:path w="12185015" h="937895">
                <a:moveTo>
                  <a:pt x="12184393" y="896378"/>
                </a:moveTo>
                <a:lnTo>
                  <a:pt x="0" y="896378"/>
                </a:lnTo>
                <a:lnTo>
                  <a:pt x="0" y="937653"/>
                </a:lnTo>
                <a:lnTo>
                  <a:pt x="12184393" y="937653"/>
                </a:lnTo>
                <a:lnTo>
                  <a:pt x="12184393" y="896378"/>
                </a:lnTo>
                <a:close/>
              </a:path>
              <a:path w="12185015" h="937895">
                <a:moveTo>
                  <a:pt x="12184393" y="0"/>
                </a:moveTo>
                <a:lnTo>
                  <a:pt x="0" y="0"/>
                </a:lnTo>
                <a:lnTo>
                  <a:pt x="0" y="41275"/>
                </a:lnTo>
                <a:lnTo>
                  <a:pt x="12184393" y="41275"/>
                </a:lnTo>
                <a:lnTo>
                  <a:pt x="1218439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Jennifer R Mandel (jmandel)</dc:creator>
  <dcterms:created xsi:type="dcterms:W3CDTF">2026-07-01T23:15:18Z</dcterms:created>
  <dcterms:modified xsi:type="dcterms:W3CDTF">2026-07-01T23:15:18Z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2026-06-26T00:00:00Z</vt:filetime>
  </property>
  <property fmtid="{D5CDD505-2E9C-101B-9397-08002B2CF9AE}" pid="4" name="LastSaved">
    <vt:filetime>2026-07-01T00:00:00Z</vt:filetime>
  </property>
</Properties>
</file>