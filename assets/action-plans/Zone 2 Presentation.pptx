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3" roundtripDataSignature="AMtx7mgbwNKjadi5XK2Qp3pGo5BzZgZ8v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11" Type="http://schemas.openxmlformats.org/officeDocument/2006/relationships/slide" Target="slides/slide7.xml"/><Relationship Id="rId22" Type="http://schemas.openxmlformats.org/officeDocument/2006/relationships/slide" Target="slides/slide18.xml"/><Relationship Id="rId10" Type="http://schemas.openxmlformats.org/officeDocument/2006/relationships/slide" Target="slides/slide6.xml"/><Relationship Id="rId21" Type="http://schemas.openxmlformats.org/officeDocument/2006/relationships/slide" Target="slides/slide17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23" Type="http://customschemas.google.com/relationships/presentationmetadata" Target="meta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6111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6111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-228600" y="1524000"/>
            <a:ext cx="7315200" cy="4114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11580813"/>
            <a:ext cx="2971800" cy="611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-228600" y="1524000"/>
            <a:ext cx="7315200" cy="4114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[~0:20] Open: East Tennessee — a single connected region running from frontier heritage to the technology frontier. One story: foundation, keystone, frontier.</a:t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:notes"/>
          <p:cNvSpPr/>
          <p:nvPr>
            <p:ph idx="2" type="sldImg"/>
          </p:nvPr>
        </p:nvSpPr>
        <p:spPr>
          <a:xfrm>
            <a:off x="-228600" y="1524000"/>
            <a:ext cx="7315200" cy="4114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" name="Google Shape;27;p2:notes"/>
          <p:cNvSpPr txBox="1"/>
          <p:nvPr>
            <p:ph idx="1" type="body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[~0:25] We'll walk these five beats: value proposition, the clusters, the strategic priority with evidence, execution, and the vision.</a:t>
            </a:r>
            <a:endParaRPr/>
          </a:p>
        </p:txBody>
      </p:sp>
      <p:sp>
        <p:nvSpPr>
          <p:cNvPr id="28" name="Google Shape;28;p2:notes"/>
          <p:cNvSpPr txBox="1"/>
          <p:nvPr>
            <p:ph idx="12" type="sldNum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3:notes"/>
          <p:cNvSpPr/>
          <p:nvPr>
            <p:ph idx="2" type="sldImg"/>
          </p:nvPr>
        </p:nvSpPr>
        <p:spPr>
          <a:xfrm>
            <a:off x="-228600" y="1524000"/>
            <a:ext cx="7315200" cy="4114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" name="Google Shape;58;p3:notes"/>
          <p:cNvSpPr txBox="1"/>
          <p:nvPr>
            <p:ph idx="1" type="body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[~0:55] Three clusters, one system. Tourism funds it, nuclear powers it, AI/quantum is the upside. The overlaps are the strategy — especially AI·Nuclear·Quantum.</a:t>
            </a:r>
            <a:endParaRPr/>
          </a:p>
        </p:txBody>
      </p:sp>
      <p:sp>
        <p:nvSpPr>
          <p:cNvPr id="59" name="Google Shape;59;p3:notes"/>
          <p:cNvSpPr txBox="1"/>
          <p:nvPr>
            <p:ph idx="12" type="sldNum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4:notes"/>
          <p:cNvSpPr/>
          <p:nvPr>
            <p:ph idx="2" type="sldImg"/>
          </p:nvPr>
        </p:nvSpPr>
        <p:spPr>
          <a:xfrm>
            <a:off x="-228600" y="1524000"/>
            <a:ext cx="7315200" cy="4114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" name="Google Shape;67;p4:notes"/>
          <p:cNvSpPr txBox="1"/>
          <p:nvPr>
            <p:ph idx="1" type="body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[~0:55] The differentiator: not just research — commercialization and deployment in one connected region. Davy Crockett with a laptop: frontier grit, modern value capture.</a:t>
            </a:r>
            <a:endParaRPr/>
          </a:p>
        </p:txBody>
      </p:sp>
      <p:sp>
        <p:nvSpPr>
          <p:cNvPr id="68" name="Google Shape;68;p4:notes"/>
          <p:cNvSpPr txBox="1"/>
          <p:nvPr>
            <p:ph idx="12" type="sldNum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5:notes"/>
          <p:cNvSpPr/>
          <p:nvPr>
            <p:ph idx="2" type="sldImg"/>
          </p:nvPr>
        </p:nvSpPr>
        <p:spPr>
          <a:xfrm>
            <a:off x="-228600" y="1524000"/>
            <a:ext cx="7315200" cy="4114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9" name="Google Shape;79;p5:notes"/>
          <p:cNvSpPr txBox="1"/>
          <p:nvPr>
            <p:ph idx="1" type="body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[~0:45] Enrichment (Orano, Centrus, BWXT), fuel fabrication (TRISO-X, Standard Nuclear), reactors (Clinch River SMR, Kairos). Construction is the current dominant activity.</a:t>
            </a:r>
            <a:endParaRPr/>
          </a:p>
        </p:txBody>
      </p:sp>
      <p:sp>
        <p:nvSpPr>
          <p:cNvPr id="80" name="Google Shape;80;p5:notes"/>
          <p:cNvSpPr txBox="1"/>
          <p:nvPr>
            <p:ph idx="12" type="sldNum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6:notes"/>
          <p:cNvSpPr txBox="1"/>
          <p:nvPr>
            <p:ph idx="1" type="body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6:notes"/>
          <p:cNvSpPr/>
          <p:nvPr>
            <p:ph idx="2" type="sldImg"/>
          </p:nvPr>
        </p:nvSpPr>
        <p:spPr>
          <a:xfrm>
            <a:off x="-228600" y="1524000"/>
            <a:ext cx="7315200" cy="4114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7:notes"/>
          <p:cNvSpPr/>
          <p:nvPr>
            <p:ph idx="2" type="sldImg"/>
          </p:nvPr>
        </p:nvSpPr>
        <p:spPr>
          <a:xfrm>
            <a:off x="-228600" y="1524000"/>
            <a:ext cx="7315200" cy="4114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5" name="Google Shape;95;p7:notes"/>
          <p:cNvSpPr txBox="1"/>
          <p:nvPr>
            <p:ph idx="1" type="body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[~1:00] This is the keystone bet. The window is now — advanced nuclear is commercializing, and value flows to whoever owns deployment and supply chain. The poster sets the tone.</a:t>
            </a:r>
            <a:endParaRPr/>
          </a:p>
        </p:txBody>
      </p:sp>
      <p:sp>
        <p:nvSpPr>
          <p:cNvPr id="96" name="Google Shape;96;p7:notes"/>
          <p:cNvSpPr txBox="1"/>
          <p:nvPr>
            <p:ph idx="12" type="sldNum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8:notes"/>
          <p:cNvSpPr/>
          <p:nvPr>
            <p:ph idx="2" type="sldImg"/>
          </p:nvPr>
        </p:nvSpPr>
        <p:spPr>
          <a:xfrm>
            <a:off x="-228600" y="1524000"/>
            <a:ext cx="7315200" cy="4114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7" name="Google Shape;107;p8:notes"/>
          <p:cNvSpPr txBox="1"/>
          <p:nvPr>
            <p:ph idx="1" type="body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Create a structured process for nuclear supply chain companies to test/pilot and connect with customers and partners here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108" name="Google Shape;108;p8:notes"/>
          <p:cNvSpPr txBox="1"/>
          <p:nvPr>
            <p:ph idx="12" type="sldNum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9:notes"/>
          <p:cNvSpPr/>
          <p:nvPr>
            <p:ph idx="2" type="sldImg"/>
          </p:nvPr>
        </p:nvSpPr>
        <p:spPr>
          <a:xfrm>
            <a:off x="-228600" y="1524000"/>
            <a:ext cx="7315200" cy="4114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8" name="Google Shape;118;p9:notes"/>
          <p:cNvSpPr txBox="1"/>
          <p:nvPr>
            <p:ph idx="1" type="body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[~0:50] 90 days to a signed charter, a first-draft cluster map, and visible wins. Targets are external and measurable — visits, hires, pilots, capital, relocations.</a:t>
            </a:r>
            <a:endParaRPr/>
          </a:p>
        </p:txBody>
      </p:sp>
      <p:sp>
        <p:nvSpPr>
          <p:cNvPr id="119" name="Google Shape;119;p9:notes"/>
          <p:cNvSpPr txBox="1"/>
          <p:nvPr>
            <p:ph idx="12" type="sldNum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0:notes"/>
          <p:cNvSpPr txBox="1"/>
          <p:nvPr>
            <p:ph idx="1" type="body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10:notes"/>
          <p:cNvSpPr/>
          <p:nvPr>
            <p:ph idx="2" type="sldImg"/>
          </p:nvPr>
        </p:nvSpPr>
        <p:spPr>
          <a:xfrm>
            <a:off x="-228600" y="1524000"/>
            <a:ext cx="7315200" cy="4114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1:notes"/>
          <p:cNvSpPr txBox="1"/>
          <p:nvPr>
            <p:ph idx="1" type="body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11:notes"/>
          <p:cNvSpPr/>
          <p:nvPr>
            <p:ph idx="2" type="sldImg"/>
          </p:nvPr>
        </p:nvSpPr>
        <p:spPr>
          <a:xfrm>
            <a:off x="-228600" y="1524000"/>
            <a:ext cx="7315200" cy="4114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2:notes"/>
          <p:cNvSpPr/>
          <p:nvPr>
            <p:ph idx="2" type="sldImg"/>
          </p:nvPr>
        </p:nvSpPr>
        <p:spPr>
          <a:xfrm>
            <a:off x="-228600" y="1524000"/>
            <a:ext cx="7315200" cy="4114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4" name="Google Shape;194;p12:notes"/>
          <p:cNvSpPr txBox="1"/>
          <p:nvPr>
            <p:ph idx="1" type="body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[~0:55] Three clusters, one system. Tourism funds it, nuclear powers it, AI/quantum is the upside. The overlaps are the strategy — especially AI·Nuclear·Quantum.</a:t>
            </a:r>
            <a:endParaRPr/>
          </a:p>
        </p:txBody>
      </p:sp>
      <p:sp>
        <p:nvSpPr>
          <p:cNvPr id="195" name="Google Shape;195;p12:notes"/>
          <p:cNvSpPr txBox="1"/>
          <p:nvPr>
            <p:ph idx="12" type="sldNum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3:notes"/>
          <p:cNvSpPr/>
          <p:nvPr>
            <p:ph idx="2" type="sldImg"/>
          </p:nvPr>
        </p:nvSpPr>
        <p:spPr>
          <a:xfrm>
            <a:off x="-228600" y="1524000"/>
            <a:ext cx="7315200" cy="4114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2" name="Google Shape;202;p13:notes"/>
          <p:cNvSpPr txBox="1"/>
          <p:nvPr>
            <p:ph idx="1" type="body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[~0:45] In a no-income-tax state, tourism's sales &amp; occupancy taxes fund the public investment the frontier needs. It's also the livability draw for high-skill talent.</a:t>
            </a:r>
            <a:endParaRPr/>
          </a:p>
        </p:txBody>
      </p:sp>
      <p:sp>
        <p:nvSpPr>
          <p:cNvPr id="203" name="Google Shape;203;p13:notes"/>
          <p:cNvSpPr txBox="1"/>
          <p:nvPr>
            <p:ph idx="12" type="sldNum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4:notes"/>
          <p:cNvSpPr txBox="1"/>
          <p:nvPr>
            <p:ph idx="1" type="body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14:notes"/>
          <p:cNvSpPr/>
          <p:nvPr>
            <p:ph idx="2" type="sldImg"/>
          </p:nvPr>
        </p:nvSpPr>
        <p:spPr>
          <a:xfrm>
            <a:off x="-228600" y="1524000"/>
            <a:ext cx="7315200" cy="4114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5:notes"/>
          <p:cNvSpPr/>
          <p:nvPr>
            <p:ph idx="2" type="sldImg"/>
          </p:nvPr>
        </p:nvSpPr>
        <p:spPr>
          <a:xfrm>
            <a:off x="-228600" y="1524000"/>
            <a:ext cx="7315200" cy="4114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2" name="Google Shape;222;p15:notes"/>
          <p:cNvSpPr txBox="1"/>
          <p:nvPr>
            <p:ph idx="1" type="body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Create a structured process for nuclear supply chain companies to test/pilot and connect with customers and partners here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223" name="Google Shape;223;p15:notes"/>
          <p:cNvSpPr txBox="1"/>
          <p:nvPr>
            <p:ph idx="12" type="sldNum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6:notes"/>
          <p:cNvSpPr/>
          <p:nvPr>
            <p:ph idx="2" type="sldImg"/>
          </p:nvPr>
        </p:nvSpPr>
        <p:spPr>
          <a:xfrm>
            <a:off x="-228600" y="1524000"/>
            <a:ext cx="7315200" cy="4114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3" name="Google Shape;233;p16:notes"/>
          <p:cNvSpPr txBox="1"/>
          <p:nvPr>
            <p:ph idx="1" type="body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[~0:50] 90 days to a signed charter, a first-draft cluster map, and visible wins. Targets are external and measurable — visits, hires, pilots, capital, relocations.</a:t>
            </a:r>
            <a:endParaRPr/>
          </a:p>
        </p:txBody>
      </p:sp>
      <p:sp>
        <p:nvSpPr>
          <p:cNvPr id="234" name="Google Shape;234;p16:notes"/>
          <p:cNvSpPr txBox="1"/>
          <p:nvPr>
            <p:ph idx="12" type="sldNum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7:notes"/>
          <p:cNvSpPr/>
          <p:nvPr>
            <p:ph idx="2" type="sldImg"/>
          </p:nvPr>
        </p:nvSpPr>
        <p:spPr>
          <a:xfrm>
            <a:off x="-228600" y="1524000"/>
            <a:ext cx="7315200" cy="4114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1" name="Google Shape;261;p17:notes"/>
          <p:cNvSpPr txBox="1"/>
          <p:nvPr>
            <p:ph idx="1" type="body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[~0:30] Close on the vision and the maxim. Build the partnerships, pipelines, and infrastructure before the demand fully arrives — that's how the region wins.</a:t>
            </a:r>
            <a:endParaRPr/>
          </a:p>
        </p:txBody>
      </p:sp>
      <p:sp>
        <p:nvSpPr>
          <p:cNvPr id="262" name="Google Shape;262;p17:notes"/>
          <p:cNvSpPr txBox="1"/>
          <p:nvPr>
            <p:ph idx="12" type="sldNum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18:notes"/>
          <p:cNvSpPr/>
          <p:nvPr>
            <p:ph idx="2" type="sldImg"/>
          </p:nvPr>
        </p:nvSpPr>
        <p:spPr>
          <a:xfrm>
            <a:off x="-228600" y="1524000"/>
            <a:ext cx="7315200" cy="4114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6" name="Google Shape;276;p18:notes"/>
          <p:cNvSpPr txBox="1"/>
          <p:nvPr>
            <p:ph idx="1" type="body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[~0:10] Close. Invite questions. Total run time ~8 minutes.</a:t>
            </a:r>
            <a:endParaRPr/>
          </a:p>
        </p:txBody>
      </p:sp>
      <p:sp>
        <p:nvSpPr>
          <p:cNvPr id="277" name="Google Shape;277;p18:notes"/>
          <p:cNvSpPr txBox="1"/>
          <p:nvPr>
            <p:ph idx="12" type="sldNum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6.png"/><Relationship Id="rId4" Type="http://schemas.openxmlformats.org/officeDocument/2006/relationships/image" Target="../media/image1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jpg"/><Relationship Id="rId4" Type="http://schemas.openxmlformats.org/officeDocument/2006/relationships/image" Target="../media/image2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9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5.png"/><Relationship Id="rId4" Type="http://schemas.openxmlformats.org/officeDocument/2006/relationships/image" Target="../media/image1.png"/><Relationship Id="rId5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315E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841248" y="2240280"/>
            <a:ext cx="1060704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600"/>
              <a:buFont typeface="Calibri"/>
              <a:buNone/>
            </a:pPr>
            <a:r>
              <a:rPr b="1" i="0" lang="en-US" sz="4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East Tennessee:</a:t>
            </a:r>
            <a:endParaRPr b="0" i="0" sz="4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600"/>
              <a:buFont typeface="Calibri"/>
              <a:buNone/>
            </a:pPr>
            <a:r>
              <a:rPr b="1" i="0" lang="en-US" sz="4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Foundation to Frontier</a:t>
            </a:r>
            <a:endParaRPr b="0" i="0" sz="4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868680" y="6172200"/>
            <a:ext cx="10424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2C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9FB2CE"/>
                </a:solidFill>
                <a:latin typeface="Calibri"/>
                <a:ea typeface="Calibri"/>
                <a:cs typeface="Calibri"/>
                <a:sym typeface="Calibri"/>
              </a:rPr>
              <a:t>Knoxville–Oak Ridge Region · East Tennessee · 2026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868680" y="4160520"/>
            <a:ext cx="10424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E5F2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DCE5F2"/>
                </a:solidFill>
                <a:latin typeface="Calibri"/>
                <a:ea typeface="Calibri"/>
                <a:cs typeface="Calibri"/>
                <a:sym typeface="Calibri"/>
              </a:rPr>
              <a:t>A Regional Competitiveness Strategy  —  Tourism Cluster · Nuclear Cluster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9" name="Google Shape;19;p1"/>
          <p:cNvGrpSpPr/>
          <p:nvPr/>
        </p:nvGrpSpPr>
        <p:grpSpPr>
          <a:xfrm>
            <a:off x="711636" y="620196"/>
            <a:ext cx="1365649" cy="1365649"/>
            <a:chOff x="711636" y="620196"/>
            <a:chExt cx="1365649" cy="1365649"/>
          </a:xfrm>
        </p:grpSpPr>
        <p:sp>
          <p:nvSpPr>
            <p:cNvPr id="20" name="Google Shape;20;p1"/>
            <p:cNvSpPr/>
            <p:nvPr/>
          </p:nvSpPr>
          <p:spPr>
            <a:xfrm rot="4099172">
              <a:off x="868680" y="777240"/>
              <a:ext cx="1051560" cy="1051560"/>
            </a:xfrm>
            <a:prstGeom prst="ellipse">
              <a:avLst/>
            </a:prstGeom>
            <a:solidFill>
              <a:srgbClr val="C8102E"/>
            </a:solidFill>
            <a:ln>
              <a:noFill/>
            </a:ln>
            <a:effectLst>
              <a:outerShdw blurRad="114300" rotWithShape="0" algn="bl" dir="5400000" dist="38100">
                <a:srgbClr val="0B1F3A">
                  <a:alpha val="16078"/>
                </a:srgbClr>
              </a:outerShdw>
            </a:effectLst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1" name="Google Shape;21;p1"/>
            <p:cNvGrpSpPr/>
            <p:nvPr/>
          </p:nvGrpSpPr>
          <p:grpSpPr>
            <a:xfrm rot="5400000">
              <a:off x="1146318" y="1008583"/>
              <a:ext cx="635984" cy="588874"/>
              <a:chOff x="1076468" y="956005"/>
              <a:chExt cx="635984" cy="588874"/>
            </a:xfrm>
          </p:grpSpPr>
          <p:pic>
            <p:nvPicPr>
              <p:cNvPr descr="preencoded.png" id="22" name="Google Shape;22;p1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1252499" y="956005"/>
                <a:ext cx="283921" cy="283921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preencoded.png" id="23" name="Google Shape;23;p1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1076468" y="1260958"/>
                <a:ext cx="283921" cy="283921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preencoded.png" id="24" name="Google Shape;24;p1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1428531" y="1260958"/>
                <a:ext cx="283921" cy="283921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FFFFFF"/>
        </a:solid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"/>
          <p:cNvSpPr/>
          <p:nvPr/>
        </p:nvSpPr>
        <p:spPr>
          <a:xfrm>
            <a:off x="822960" y="457200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315E"/>
              </a:buClr>
              <a:buSzPts val="3200"/>
              <a:buFont typeface="Calibri"/>
              <a:buNone/>
            </a:pPr>
            <a:r>
              <a:rPr b="1" lang="en-US" sz="3200">
                <a:solidFill>
                  <a:srgbClr val="14315E"/>
                </a:solidFill>
                <a:latin typeface="Calibri"/>
                <a:ea typeface="Calibri"/>
                <a:cs typeface="Calibri"/>
                <a:sym typeface="Calibri"/>
              </a:rPr>
              <a:t>Framework for Presentation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2"/>
          <p:cNvSpPr/>
          <p:nvPr/>
        </p:nvSpPr>
        <p:spPr>
          <a:xfrm>
            <a:off x="841248" y="1078992"/>
            <a:ext cx="10058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How this regional strategy is structured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2" name="Google Shape;32;p2"/>
          <p:cNvGrpSpPr/>
          <p:nvPr/>
        </p:nvGrpSpPr>
        <p:grpSpPr>
          <a:xfrm>
            <a:off x="822960" y="1572768"/>
            <a:ext cx="10515600" cy="841248"/>
            <a:chOff x="822960" y="1572768"/>
            <a:chExt cx="10515600" cy="841248"/>
          </a:xfrm>
        </p:grpSpPr>
        <p:sp>
          <p:nvSpPr>
            <p:cNvPr id="33" name="Google Shape;33;p2"/>
            <p:cNvSpPr/>
            <p:nvPr/>
          </p:nvSpPr>
          <p:spPr>
            <a:xfrm>
              <a:off x="822960" y="1572768"/>
              <a:ext cx="822960" cy="7772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C8102E"/>
                </a:buClr>
                <a:buSzPts val="4000"/>
                <a:buFont typeface="Calibri"/>
                <a:buNone/>
              </a:pPr>
              <a:r>
                <a:rPr b="1" lang="en-US" sz="4000">
                  <a:solidFill>
                    <a:srgbClr val="C8102E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sz="4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1828800" y="1627632"/>
              <a:ext cx="950976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14315E"/>
                </a:buClr>
                <a:buSzPts val="1800"/>
                <a:buFont typeface="Calibri"/>
                <a:buNone/>
              </a:pPr>
              <a:r>
                <a:rPr b="1" lang="en-US" sz="1800">
                  <a:solidFill>
                    <a:srgbClr val="14315E"/>
                  </a:solidFill>
                  <a:latin typeface="Calibri"/>
                  <a:ea typeface="Calibri"/>
                  <a:cs typeface="Calibri"/>
                  <a:sym typeface="Calibri"/>
                </a:rPr>
                <a:t>Region &amp; Value Proposition</a:t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" name="Google Shape;35;p2"/>
            <p:cNvSpPr/>
            <p:nvPr/>
          </p:nvSpPr>
          <p:spPr>
            <a:xfrm>
              <a:off x="1828800" y="2066544"/>
              <a:ext cx="9509760" cy="3474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64748B"/>
                </a:buClr>
                <a:buSzPts val="1350"/>
                <a:buFont typeface="Calibri"/>
                <a:buNone/>
              </a:pPr>
              <a:r>
                <a:rPr lang="en-US" sz="1350">
                  <a:solidFill>
                    <a:srgbClr val="64748B"/>
                  </a:solidFill>
                  <a:latin typeface="Calibri"/>
                  <a:ea typeface="Calibri"/>
                  <a:cs typeface="Calibri"/>
                  <a:sym typeface="Calibri"/>
                </a:rPr>
                <a:t>Unique strengths and differentiation</a:t>
              </a:r>
              <a:endParaRPr sz="1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6" name="Google Shape;36;p2"/>
          <p:cNvGrpSpPr/>
          <p:nvPr/>
        </p:nvGrpSpPr>
        <p:grpSpPr>
          <a:xfrm>
            <a:off x="822960" y="2443178"/>
            <a:ext cx="10515600" cy="841248"/>
            <a:chOff x="822960" y="2505456"/>
            <a:chExt cx="10515600" cy="841248"/>
          </a:xfrm>
        </p:grpSpPr>
        <p:sp>
          <p:nvSpPr>
            <p:cNvPr id="37" name="Google Shape;37;p2"/>
            <p:cNvSpPr/>
            <p:nvPr/>
          </p:nvSpPr>
          <p:spPr>
            <a:xfrm>
              <a:off x="822960" y="2505456"/>
              <a:ext cx="822960" cy="7772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C8102E"/>
                </a:buClr>
                <a:buSzPts val="4000"/>
                <a:buFont typeface="Calibri"/>
                <a:buNone/>
              </a:pPr>
              <a:r>
                <a:rPr b="1" lang="en-US" sz="4000">
                  <a:solidFill>
                    <a:srgbClr val="C8102E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sz="4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" name="Google Shape;38;p2"/>
            <p:cNvSpPr/>
            <p:nvPr/>
          </p:nvSpPr>
          <p:spPr>
            <a:xfrm>
              <a:off x="1828800" y="2560320"/>
              <a:ext cx="950976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14315E"/>
                </a:buClr>
                <a:buSzPts val="1800"/>
                <a:buFont typeface="Calibri"/>
                <a:buNone/>
              </a:pPr>
              <a:r>
                <a:rPr b="1" lang="en-US" sz="1800">
                  <a:solidFill>
                    <a:srgbClr val="14315E"/>
                  </a:solidFill>
                  <a:latin typeface="Calibri"/>
                  <a:ea typeface="Calibri"/>
                  <a:cs typeface="Calibri"/>
                  <a:sym typeface="Calibri"/>
                </a:rPr>
                <a:t>Clusters </a:t>
              </a:r>
              <a:r>
                <a:rPr b="1" lang="en-US" sz="1800">
                  <a:solidFill>
                    <a:srgbClr val="14315E"/>
                  </a:solidFill>
                  <a:latin typeface="Calibri"/>
                  <a:ea typeface="Calibri"/>
                  <a:cs typeface="Calibri"/>
                  <a:sym typeface="Calibri"/>
                </a:rPr>
                <a:t>to </a:t>
              </a:r>
              <a:r>
                <a:rPr b="1" lang="en-US" sz="1800">
                  <a:solidFill>
                    <a:srgbClr val="14315E"/>
                  </a:solidFill>
                  <a:latin typeface="Calibri"/>
                  <a:ea typeface="Calibri"/>
                  <a:cs typeface="Calibri"/>
                  <a:sym typeface="Calibri"/>
                </a:rPr>
                <a:t>Leverage or Strengthen</a:t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" name="Google Shape;39;p2"/>
            <p:cNvSpPr/>
            <p:nvPr/>
          </p:nvSpPr>
          <p:spPr>
            <a:xfrm>
              <a:off x="1828800" y="2999232"/>
              <a:ext cx="9509760" cy="3474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64748B"/>
                </a:buClr>
                <a:buSzPts val="1350"/>
                <a:buFont typeface="Calibri"/>
                <a:buNone/>
              </a:pPr>
              <a:r>
                <a:rPr lang="en-US" sz="1350">
                  <a:solidFill>
                    <a:srgbClr val="64748B"/>
                  </a:solidFill>
                  <a:latin typeface="Calibri"/>
                  <a:ea typeface="Calibri"/>
                  <a:cs typeface="Calibri"/>
                  <a:sym typeface="Calibri"/>
                </a:rPr>
                <a:t>Where the regional opportunity is</a:t>
              </a:r>
              <a:endParaRPr sz="1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0" name="Google Shape;40;p2"/>
          <p:cNvGrpSpPr/>
          <p:nvPr/>
        </p:nvGrpSpPr>
        <p:grpSpPr>
          <a:xfrm>
            <a:off x="822960" y="3313588"/>
            <a:ext cx="10515600" cy="841248"/>
            <a:chOff x="822960" y="3438144"/>
            <a:chExt cx="10515600" cy="841248"/>
          </a:xfrm>
        </p:grpSpPr>
        <p:sp>
          <p:nvSpPr>
            <p:cNvPr id="41" name="Google Shape;41;p2"/>
            <p:cNvSpPr/>
            <p:nvPr/>
          </p:nvSpPr>
          <p:spPr>
            <a:xfrm>
              <a:off x="822960" y="3438144"/>
              <a:ext cx="822960" cy="7772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C8102E"/>
                </a:buClr>
                <a:buSzPts val="4000"/>
                <a:buFont typeface="Calibri"/>
                <a:buNone/>
              </a:pPr>
              <a:r>
                <a:rPr b="1" lang="en-US" sz="4000">
                  <a:solidFill>
                    <a:srgbClr val="C8102E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sz="4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1828800" y="3493008"/>
              <a:ext cx="950976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14315E"/>
                </a:buClr>
                <a:buSzPts val="1800"/>
                <a:buFont typeface="Calibri"/>
                <a:buNone/>
              </a:pPr>
              <a:r>
                <a:rPr b="1" lang="en-US" sz="1800">
                  <a:solidFill>
                    <a:srgbClr val="14315E"/>
                  </a:solidFill>
                  <a:latin typeface="Calibri"/>
                  <a:ea typeface="Calibri"/>
                  <a:cs typeface="Calibri"/>
                  <a:sym typeface="Calibri"/>
                </a:rPr>
                <a:t>Strategic Priority — and Why</a:t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" name="Google Shape;43;p2"/>
            <p:cNvSpPr/>
            <p:nvPr/>
          </p:nvSpPr>
          <p:spPr>
            <a:xfrm>
              <a:off x="1828800" y="3931920"/>
              <a:ext cx="9509760" cy="3474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64748B"/>
                </a:buClr>
                <a:buSzPts val="1350"/>
                <a:buFont typeface="Calibri"/>
                <a:buNone/>
              </a:pPr>
              <a:r>
                <a:rPr lang="en-US" sz="1350">
                  <a:solidFill>
                    <a:srgbClr val="64748B"/>
                  </a:solidFill>
                  <a:latin typeface="Calibri"/>
                  <a:ea typeface="Calibri"/>
                  <a:cs typeface="Calibri"/>
                  <a:sym typeface="Calibri"/>
                </a:rPr>
                <a:t>Supported with evidence and examples</a:t>
              </a:r>
              <a:endParaRPr sz="1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4" name="Google Shape;44;p2"/>
          <p:cNvGrpSpPr/>
          <p:nvPr/>
        </p:nvGrpSpPr>
        <p:grpSpPr>
          <a:xfrm>
            <a:off x="822960" y="4183998"/>
            <a:ext cx="10515600" cy="841248"/>
            <a:chOff x="822960" y="4370832"/>
            <a:chExt cx="10515600" cy="841248"/>
          </a:xfrm>
        </p:grpSpPr>
        <p:sp>
          <p:nvSpPr>
            <p:cNvPr id="45" name="Google Shape;45;p2"/>
            <p:cNvSpPr/>
            <p:nvPr/>
          </p:nvSpPr>
          <p:spPr>
            <a:xfrm>
              <a:off x="822960" y="4370832"/>
              <a:ext cx="822960" cy="7772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C8102E"/>
                </a:buClr>
                <a:buSzPts val="4000"/>
                <a:buFont typeface="Calibri"/>
                <a:buNone/>
              </a:pPr>
              <a:r>
                <a:rPr b="1" lang="en-US" sz="4000">
                  <a:solidFill>
                    <a:srgbClr val="C8102E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sz="4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" name="Google Shape;46;p2"/>
            <p:cNvSpPr/>
            <p:nvPr/>
          </p:nvSpPr>
          <p:spPr>
            <a:xfrm>
              <a:off x="1828800" y="4425696"/>
              <a:ext cx="950976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14315E"/>
                </a:buClr>
                <a:buSzPts val="1800"/>
                <a:buFont typeface="Calibri"/>
                <a:buNone/>
              </a:pPr>
              <a:r>
                <a:rPr b="1" lang="en-US" sz="1800">
                  <a:solidFill>
                    <a:srgbClr val="14315E"/>
                  </a:solidFill>
                  <a:latin typeface="Calibri"/>
                  <a:ea typeface="Calibri"/>
                  <a:cs typeface="Calibri"/>
                  <a:sym typeface="Calibri"/>
                </a:rPr>
                <a:t>Execution</a:t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" name="Google Shape;47;p2"/>
            <p:cNvSpPr/>
            <p:nvPr/>
          </p:nvSpPr>
          <p:spPr>
            <a:xfrm>
              <a:off x="1828800" y="4864608"/>
              <a:ext cx="9509760" cy="3474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64748B"/>
                </a:buClr>
                <a:buSzPts val="1350"/>
                <a:buFont typeface="Calibri"/>
                <a:buNone/>
              </a:pPr>
              <a:r>
                <a:rPr lang="en-US" sz="1350">
                  <a:solidFill>
                    <a:srgbClr val="64748B"/>
                  </a:solidFill>
                  <a:latin typeface="Calibri"/>
                  <a:ea typeface="Calibri"/>
                  <a:cs typeface="Calibri"/>
                  <a:sym typeface="Calibri"/>
                </a:rPr>
                <a:t>12-month plan and 90-day next steps</a:t>
              </a:r>
              <a:endParaRPr sz="1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8" name="Google Shape;48;p2"/>
          <p:cNvGrpSpPr/>
          <p:nvPr/>
        </p:nvGrpSpPr>
        <p:grpSpPr>
          <a:xfrm>
            <a:off x="822960" y="5924818"/>
            <a:ext cx="10515600" cy="841248"/>
            <a:chOff x="822960" y="5924818"/>
            <a:chExt cx="10515600" cy="841248"/>
          </a:xfrm>
        </p:grpSpPr>
        <p:sp>
          <p:nvSpPr>
            <p:cNvPr id="49" name="Google Shape;49;p2"/>
            <p:cNvSpPr/>
            <p:nvPr/>
          </p:nvSpPr>
          <p:spPr>
            <a:xfrm>
              <a:off x="822960" y="5924818"/>
              <a:ext cx="822960" cy="7772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C8102E"/>
                </a:buClr>
                <a:buSzPts val="4000"/>
                <a:buFont typeface="Calibri"/>
                <a:buNone/>
              </a:pPr>
              <a:r>
                <a:rPr b="1" lang="en-US" sz="4000">
                  <a:solidFill>
                    <a:srgbClr val="C8102E"/>
                  </a:solidFill>
                  <a:latin typeface="Calibri"/>
                  <a:ea typeface="Calibri"/>
                  <a:cs typeface="Calibri"/>
                  <a:sym typeface="Calibri"/>
                </a:rPr>
                <a:t>6</a:t>
              </a:r>
              <a:endParaRPr sz="4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" name="Google Shape;50;p2"/>
            <p:cNvSpPr/>
            <p:nvPr/>
          </p:nvSpPr>
          <p:spPr>
            <a:xfrm>
              <a:off x="1828800" y="5979682"/>
              <a:ext cx="950976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14315E"/>
                </a:buClr>
                <a:buSzPts val="1800"/>
                <a:buFont typeface="Calibri"/>
                <a:buNone/>
              </a:pPr>
              <a:r>
                <a:rPr b="1" lang="en-US" sz="1800">
                  <a:solidFill>
                    <a:srgbClr val="14315E"/>
                  </a:solidFill>
                  <a:latin typeface="Calibri"/>
                  <a:ea typeface="Calibri"/>
                  <a:cs typeface="Calibri"/>
                  <a:sym typeface="Calibri"/>
                </a:rPr>
                <a:t>Visualization</a:t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" name="Google Shape;51;p2"/>
            <p:cNvSpPr/>
            <p:nvPr/>
          </p:nvSpPr>
          <p:spPr>
            <a:xfrm>
              <a:off x="1828800" y="6418594"/>
              <a:ext cx="9509760" cy="3474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64748B"/>
                </a:buClr>
                <a:buSzPts val="1350"/>
                <a:buFont typeface="Calibri"/>
                <a:buNone/>
              </a:pPr>
              <a:r>
                <a:rPr lang="en-US" sz="1350">
                  <a:solidFill>
                    <a:srgbClr val="64748B"/>
                  </a:solidFill>
                  <a:latin typeface="Calibri"/>
                  <a:ea typeface="Calibri"/>
                  <a:cs typeface="Calibri"/>
                  <a:sym typeface="Calibri"/>
                </a:rPr>
                <a:t>The future of the region if we succeed</a:t>
              </a:r>
              <a:endParaRPr sz="1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2" name="Google Shape;52;p2"/>
          <p:cNvGrpSpPr/>
          <p:nvPr/>
        </p:nvGrpSpPr>
        <p:grpSpPr>
          <a:xfrm>
            <a:off x="822960" y="5054408"/>
            <a:ext cx="10515600" cy="841248"/>
            <a:chOff x="822960" y="5120393"/>
            <a:chExt cx="10515600" cy="841248"/>
          </a:xfrm>
        </p:grpSpPr>
        <p:sp>
          <p:nvSpPr>
            <p:cNvPr id="53" name="Google Shape;53;p2"/>
            <p:cNvSpPr/>
            <p:nvPr/>
          </p:nvSpPr>
          <p:spPr>
            <a:xfrm>
              <a:off x="822960" y="5120393"/>
              <a:ext cx="822960" cy="7772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C8102E"/>
                </a:buClr>
                <a:buSzPts val="4000"/>
                <a:buFont typeface="Calibri"/>
                <a:buNone/>
              </a:pPr>
              <a:r>
                <a:rPr b="1" lang="en-US" sz="4000">
                  <a:solidFill>
                    <a:srgbClr val="C8102E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 sz="4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" name="Google Shape;54;p2"/>
            <p:cNvSpPr/>
            <p:nvPr/>
          </p:nvSpPr>
          <p:spPr>
            <a:xfrm>
              <a:off x="1828800" y="5175257"/>
              <a:ext cx="950976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14315E"/>
                </a:buClr>
                <a:buSzPts val="1800"/>
                <a:buFont typeface="Calibri"/>
                <a:buNone/>
              </a:pPr>
              <a:r>
                <a:rPr b="1" lang="en-US" sz="1800">
                  <a:solidFill>
                    <a:srgbClr val="14315E"/>
                  </a:solidFill>
                  <a:latin typeface="Calibri"/>
                  <a:ea typeface="Calibri"/>
                  <a:cs typeface="Calibri"/>
                  <a:sym typeface="Calibri"/>
                </a:rPr>
                <a:t>Accountability</a:t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" name="Google Shape;55;p2"/>
            <p:cNvSpPr/>
            <p:nvPr/>
          </p:nvSpPr>
          <p:spPr>
            <a:xfrm>
              <a:off x="1828800" y="5614169"/>
              <a:ext cx="9509760" cy="3474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64748B"/>
                </a:buClr>
                <a:buSzPts val="1350"/>
                <a:buFont typeface="Calibri"/>
                <a:buNone/>
              </a:pPr>
              <a:r>
                <a:rPr lang="en-US" sz="1350">
                  <a:solidFill>
                    <a:srgbClr val="64748B"/>
                  </a:solidFill>
                  <a:latin typeface="Calibri"/>
                  <a:ea typeface="Calibri"/>
                  <a:cs typeface="Calibri"/>
                  <a:sym typeface="Calibri"/>
                </a:rPr>
                <a:t>How me measure success</a:t>
              </a:r>
              <a:endParaRPr sz="1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3"/>
          <p:cNvSpPr/>
          <p:nvPr/>
        </p:nvSpPr>
        <p:spPr>
          <a:xfrm rot="-5400000">
            <a:off x="-3017521" y="3017519"/>
            <a:ext cx="6858002" cy="822959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Calibri"/>
              <a:buNone/>
            </a:pPr>
            <a:r>
              <a:rPr b="1" lang="en-US" sz="27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New Nuclear Cluster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Calibri"/>
              <a:buNone/>
            </a:pPr>
            <a:r>
              <a:t/>
            </a:r>
            <a:endParaRPr sz="27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3"/>
          <p:cNvSpPr/>
          <p:nvPr/>
        </p:nvSpPr>
        <p:spPr>
          <a:xfrm rot="-5400000">
            <a:off x="-4660819" y="262504"/>
            <a:ext cx="10515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50"/>
              <a:buFont typeface="Calibri"/>
              <a:buNone/>
            </a:pPr>
            <a:r>
              <a:rPr lang="en-US" sz="13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Foundation → Keystone → Frontier  and where they converge</a:t>
            </a:r>
            <a:endParaRPr sz="135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cmap_hi.png" id="63" name="Google Shape;63;p3"/>
          <p:cNvPicPr preferRelativeResize="0"/>
          <p:nvPr/>
        </p:nvPicPr>
        <p:blipFill rotWithShape="1">
          <a:blip r:embed="rId3">
            <a:alphaModFix/>
          </a:blip>
          <a:srcRect b="13998" l="0" r="0" t="20104"/>
          <a:stretch/>
        </p:blipFill>
        <p:spPr>
          <a:xfrm>
            <a:off x="891396" y="-3"/>
            <a:ext cx="11300603" cy="6618803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3"/>
          <p:cNvSpPr/>
          <p:nvPr/>
        </p:nvSpPr>
        <p:spPr>
          <a:xfrm>
            <a:off x="785004" y="6565392"/>
            <a:ext cx="10515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400"/>
              <a:buFont typeface="Calibri"/>
              <a:buNone/>
            </a:pPr>
            <a:r>
              <a:rPr b="1" i="1" lang="en-US" sz="14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Tourism is the fiscal foundation · New Nuclear the keystone · AI &amp; Quantum the frontier — linked by the energy-to-compute core.</a:t>
            </a:r>
            <a:endParaRPr b="1"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4"/>
          <p:cNvSpPr/>
          <p:nvPr/>
        </p:nvSpPr>
        <p:spPr>
          <a:xfrm>
            <a:off x="640080" y="804672"/>
            <a:ext cx="60350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15E"/>
              </a:buClr>
              <a:buSzPts val="2600"/>
              <a:buFont typeface="Calibri"/>
              <a:buNone/>
            </a:pPr>
            <a:r>
              <a:rPr b="1" lang="en-US" sz="2600">
                <a:solidFill>
                  <a:srgbClr val="14315E"/>
                </a:solidFill>
                <a:latin typeface="Calibri"/>
                <a:ea typeface="Calibri"/>
                <a:cs typeface="Calibri"/>
                <a:sym typeface="Calibri"/>
              </a:rPr>
              <a:t>Frontier heritage, modern commercialization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4"/>
          <p:cNvSpPr/>
          <p:nvPr/>
        </p:nvSpPr>
        <p:spPr>
          <a:xfrm>
            <a:off x="640080" y="1783080"/>
            <a:ext cx="5539339" cy="1234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F2A3A"/>
              </a:buClr>
              <a:buSzPts val="1600"/>
              <a:buFont typeface="Calibri"/>
              <a:buNone/>
            </a:pPr>
            <a:r>
              <a:rPr lang="en-US" sz="1600">
                <a:solidFill>
                  <a:srgbClr val="1F2A3A"/>
                </a:solidFill>
                <a:latin typeface="Calibri"/>
                <a:ea typeface="Calibri"/>
                <a:cs typeface="Calibri"/>
                <a:sym typeface="Calibri"/>
              </a:rPr>
              <a:t>East Tennessee is America's nuclear commercialization corridor — where next-generation nuclear moves from discovery to deployment — and East Tennessee's most accessible mountains-city-water destination.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4"/>
          <p:cNvSpPr/>
          <p:nvPr/>
        </p:nvSpPr>
        <p:spPr>
          <a:xfrm>
            <a:off x="640080" y="3154680"/>
            <a:ext cx="5943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C8102E"/>
                </a:solidFill>
                <a:latin typeface="Calibri"/>
                <a:ea typeface="Calibri"/>
                <a:cs typeface="Calibri"/>
                <a:sym typeface="Calibri"/>
              </a:rPr>
              <a:t>Unique strengths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4"/>
          <p:cNvSpPr/>
          <p:nvPr/>
        </p:nvSpPr>
        <p:spPr>
          <a:xfrm>
            <a:off x="640080" y="3474720"/>
            <a:ext cx="598932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F2A3A"/>
              </a:buClr>
              <a:buSzPts val="1600"/>
              <a:buFont typeface="Calibri"/>
              <a:buChar char="•"/>
            </a:pPr>
            <a:r>
              <a:rPr lang="en-US" sz="1600">
                <a:solidFill>
                  <a:srgbClr val="1F2A3A"/>
                </a:solidFill>
                <a:latin typeface="Calibri"/>
                <a:ea typeface="Calibri"/>
                <a:cs typeface="Calibri"/>
                <a:sym typeface="Calibri"/>
              </a:rPr>
              <a:t>Advanced energy innovation + real-world power (TVA)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700"/>
              </a:spcBef>
              <a:spcAft>
                <a:spcPts val="0"/>
              </a:spcAft>
              <a:buClr>
                <a:srgbClr val="1F2A3A"/>
              </a:buClr>
              <a:buSzPts val="1600"/>
              <a:buFont typeface="Calibri"/>
              <a:buChar char="•"/>
            </a:pPr>
            <a:r>
              <a:rPr lang="en-US" sz="1600">
                <a:solidFill>
                  <a:srgbClr val="1F2A3A"/>
                </a:solidFill>
                <a:latin typeface="Calibri"/>
                <a:ea typeface="Calibri"/>
                <a:cs typeface="Calibri"/>
                <a:sym typeface="Calibri"/>
              </a:rPr>
              <a:t>World-class R&amp;D and talent — ORNL, University of Tennessee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700"/>
              </a:spcBef>
              <a:spcAft>
                <a:spcPts val="0"/>
              </a:spcAft>
              <a:buClr>
                <a:srgbClr val="1F2A3A"/>
              </a:buClr>
              <a:buSzPts val="1600"/>
              <a:buFont typeface="Calibri"/>
              <a:buChar char="•"/>
            </a:pPr>
            <a:r>
              <a:rPr lang="en-US" sz="1600">
                <a:solidFill>
                  <a:srgbClr val="1F2A3A"/>
                </a:solidFill>
                <a:latin typeface="Calibri"/>
                <a:ea typeface="Calibri"/>
                <a:cs typeface="Calibri"/>
                <a:sym typeface="Calibri"/>
              </a:rPr>
              <a:t>Deep supplier capability + live deployment sites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700"/>
              </a:spcBef>
              <a:spcAft>
                <a:spcPts val="0"/>
              </a:spcAft>
              <a:buClr>
                <a:srgbClr val="1F2A3A"/>
              </a:buClr>
              <a:buSzPts val="1600"/>
              <a:buFont typeface="Calibri"/>
              <a:buChar char="•"/>
            </a:pPr>
            <a:r>
              <a:rPr lang="en-US" sz="1600">
                <a:solidFill>
                  <a:srgbClr val="1F2A3A"/>
                </a:solidFill>
                <a:latin typeface="Calibri"/>
                <a:ea typeface="Calibri"/>
                <a:cs typeface="Calibri"/>
                <a:sym typeface="Calibri"/>
              </a:rPr>
              <a:t>Iconic visitor economy and exceptional quality of place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4"/>
          <p:cNvSpPr/>
          <p:nvPr/>
        </p:nvSpPr>
        <p:spPr>
          <a:xfrm>
            <a:off x="640080" y="5532120"/>
            <a:ext cx="59893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315E"/>
              </a:buClr>
              <a:buSzPts val="1400"/>
              <a:buFont typeface="Calibri"/>
              <a:buNone/>
            </a:pPr>
            <a:r>
              <a:rPr b="1" i="1" lang="en-US" sz="1400">
                <a:solidFill>
                  <a:srgbClr val="14315E"/>
                </a:solidFill>
                <a:latin typeface="Calibri"/>
                <a:ea typeface="Calibri"/>
                <a:cs typeface="Calibri"/>
                <a:sym typeface="Calibri"/>
              </a:rPr>
              <a:t>“Companies come here to build, test, validate, commercialize, and scale.”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5" name="Google Shape;75;p4"/>
          <p:cNvPicPr preferRelativeResize="0"/>
          <p:nvPr/>
        </p:nvPicPr>
        <p:blipFill rotWithShape="1">
          <a:blip r:embed="rId3">
            <a:alphaModFix/>
          </a:blip>
          <a:srcRect b="12324" l="15291" r="15547" t="13423"/>
          <a:stretch/>
        </p:blipFill>
        <p:spPr>
          <a:xfrm>
            <a:off x="6583680" y="3712808"/>
            <a:ext cx="5608415" cy="31451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NRC Dockets Construction Permit Application for TVA Small Modular ..." id="76" name="Google Shape;76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83585" y="-1"/>
            <a:ext cx="5608415" cy="37128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5"/>
          <p:cNvSpPr/>
          <p:nvPr/>
        </p:nvSpPr>
        <p:spPr>
          <a:xfrm rot="-5400000">
            <a:off x="-2985212" y="2943740"/>
            <a:ext cx="6858001" cy="952228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Calibri"/>
              <a:buNone/>
            </a:pPr>
            <a:r>
              <a:rPr b="1" lang="en-US" sz="27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New Nuclear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Calibri"/>
              <a:buNone/>
            </a:pPr>
            <a:r>
              <a:t/>
            </a:r>
            <a:endParaRPr sz="27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5"/>
          <p:cNvSpPr/>
          <p:nvPr/>
        </p:nvSpPr>
        <p:spPr>
          <a:xfrm rot="-5400000">
            <a:off x="-4594860" y="1376172"/>
            <a:ext cx="10515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50"/>
              <a:buFont typeface="Calibri"/>
              <a:buNone/>
            </a:pPr>
            <a:r>
              <a:rPr lang="en-US" sz="13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The full fuel cycle and supply chain, plus the construction phase that precedes every new entrant</a:t>
            </a:r>
            <a:endParaRPr sz="135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nuc_hi.png" id="84" name="Google Shape;84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5417" y="302785"/>
            <a:ext cx="11112500" cy="6126822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5"/>
          <p:cNvSpPr/>
          <p:nvPr/>
        </p:nvSpPr>
        <p:spPr>
          <a:xfrm>
            <a:off x="822960" y="6501384"/>
            <a:ext cx="10515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400"/>
              <a:buFont typeface="Calibri"/>
              <a:buNone/>
            </a:pPr>
            <a:r>
              <a:rPr b="1" i="1" lang="en-US" sz="14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Build-first reality: nearly every new entrant constructs before it goes nuclear.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51423" y="181155"/>
            <a:ext cx="10786303" cy="6737230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6"/>
          <p:cNvSpPr/>
          <p:nvPr/>
        </p:nvSpPr>
        <p:spPr>
          <a:xfrm rot="-5400000">
            <a:off x="-2985212" y="2943740"/>
            <a:ext cx="6858001" cy="952228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alibri"/>
              <a:buNone/>
            </a:pPr>
            <a:r>
              <a:rPr b="1" lang="en-U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Tennessee Nuclear Cluster – Oak Ridge Epicenter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6"/>
          <p:cNvSpPr/>
          <p:nvPr/>
        </p:nvSpPr>
        <p:spPr>
          <a:xfrm rot="-5400000">
            <a:off x="-2516346" y="3420373"/>
            <a:ext cx="6280029" cy="25016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50"/>
              <a:buFont typeface="Calibri"/>
              <a:buNone/>
            </a:pPr>
            <a:r>
              <a:rPr lang="en-US" sz="13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Collaboration, partnerships, and impacts reach beyond the Knoxville-Oak Ridge region</a:t>
            </a:r>
            <a:endParaRPr sz="135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7"/>
          <p:cNvSpPr/>
          <p:nvPr/>
        </p:nvSpPr>
        <p:spPr>
          <a:xfrm>
            <a:off x="640080" y="713232"/>
            <a:ext cx="108813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315E"/>
              </a:buClr>
              <a:buSzPts val="2500"/>
              <a:buFont typeface="Calibri"/>
              <a:buNone/>
            </a:pPr>
            <a:r>
              <a:rPr b="1" lang="en-US" sz="2500">
                <a:solidFill>
                  <a:srgbClr val="14315E"/>
                </a:solidFill>
                <a:latin typeface="Calibri"/>
                <a:ea typeface="Calibri"/>
                <a:cs typeface="Calibri"/>
                <a:sym typeface="Calibri"/>
              </a:rPr>
              <a:t>Make East Tennessee the new nuclear commercialization hub</a:t>
            </a:r>
            <a:endParaRPr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7"/>
          <p:cNvSpPr/>
          <p:nvPr/>
        </p:nvSpPr>
        <p:spPr>
          <a:xfrm>
            <a:off x="640080" y="1371600"/>
            <a:ext cx="10908792" cy="841248"/>
          </a:xfrm>
          <a:prstGeom prst="roundRect">
            <a:avLst>
              <a:gd fmla="val 7609" name="adj"/>
            </a:avLst>
          </a:prstGeom>
          <a:solidFill>
            <a:srgbClr val="F1F5FA"/>
          </a:solidFill>
          <a:ln cap="flat" cmpd="sng" w="12700">
            <a:solidFill>
              <a:srgbClr val="DCE6F1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25400">
              <a:srgbClr val="0B1F3A">
                <a:alpha val="12157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7"/>
          <p:cNvSpPr/>
          <p:nvPr/>
        </p:nvSpPr>
        <p:spPr>
          <a:xfrm>
            <a:off x="868680" y="1444752"/>
            <a:ext cx="10424160" cy="694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315E"/>
              </a:buClr>
              <a:buSzPts val="1800"/>
              <a:buFont typeface="Calibri"/>
              <a:buNone/>
            </a:pPr>
            <a:r>
              <a:rPr b="1" lang="en-US" sz="1800">
                <a:solidFill>
                  <a:srgbClr val="14315E"/>
                </a:solidFill>
                <a:latin typeface="Calibri"/>
                <a:ea typeface="Calibri"/>
                <a:cs typeface="Calibri"/>
                <a:sym typeface="Calibri"/>
              </a:rPr>
              <a:t>Establish East Tennessee as the leading integrated hub for nuclear commercialization, supply-chain development, and real-world deployment.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7"/>
          <p:cNvSpPr/>
          <p:nvPr/>
        </p:nvSpPr>
        <p:spPr>
          <a:xfrm>
            <a:off x="640080" y="2468880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C8102E"/>
                </a:solidFill>
                <a:latin typeface="Calibri"/>
                <a:ea typeface="Calibri"/>
                <a:cs typeface="Calibri"/>
                <a:sym typeface="Calibri"/>
              </a:rPr>
              <a:t>Why this priority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7"/>
          <p:cNvSpPr/>
          <p:nvPr/>
        </p:nvSpPr>
        <p:spPr>
          <a:xfrm>
            <a:off x="690033" y="2788920"/>
            <a:ext cx="4482253" cy="3566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F2A3A"/>
              </a:buClr>
              <a:buSzPts val="1400"/>
              <a:buFont typeface="Calibri"/>
              <a:buChar char="•"/>
            </a:pPr>
            <a:r>
              <a:rPr lang="en-US" sz="1400">
                <a:solidFill>
                  <a:srgbClr val="1F2A3A"/>
                </a:solidFill>
                <a:latin typeface="Calibri"/>
                <a:ea typeface="Calibri"/>
                <a:cs typeface="Calibri"/>
                <a:sym typeface="Calibri"/>
              </a:rPr>
              <a:t>Unique concentration across R&amp;D, utility operations, manufacturing, workforce &amp; deployment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900"/>
              </a:spcBef>
              <a:spcAft>
                <a:spcPts val="0"/>
              </a:spcAft>
              <a:buClr>
                <a:srgbClr val="1F2A3A"/>
              </a:buClr>
              <a:buSzPts val="1400"/>
              <a:buFont typeface="Calibri"/>
              <a:buChar char="•"/>
            </a:pPr>
            <a:r>
              <a:rPr lang="en-US" sz="1400">
                <a:solidFill>
                  <a:srgbClr val="1F2A3A"/>
                </a:solidFill>
                <a:latin typeface="Calibri"/>
                <a:ea typeface="Calibri"/>
                <a:cs typeface="Calibri"/>
                <a:sym typeface="Calibri"/>
              </a:rPr>
              <a:t>Compute demand for AI &amp; quantum is growing exponentially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900"/>
              </a:spcBef>
              <a:spcAft>
                <a:spcPts val="0"/>
              </a:spcAft>
              <a:buClr>
                <a:srgbClr val="1F2A3A"/>
              </a:buClr>
              <a:buSzPts val="1400"/>
              <a:buFont typeface="Calibri"/>
              <a:buChar char="•"/>
            </a:pPr>
            <a:r>
              <a:rPr lang="en-US" sz="1400">
                <a:solidFill>
                  <a:srgbClr val="1F2A3A"/>
                </a:solidFill>
                <a:latin typeface="Calibri"/>
                <a:ea typeface="Calibri"/>
                <a:cs typeface="Calibri"/>
                <a:sym typeface="Calibri"/>
              </a:rPr>
              <a:t>Advanced nuclear is moving from research to commercialization — a time-limited window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900"/>
              </a:spcBef>
              <a:spcAft>
                <a:spcPts val="0"/>
              </a:spcAft>
              <a:buClr>
                <a:srgbClr val="1F2A3A"/>
              </a:buClr>
              <a:buSzPts val="1400"/>
              <a:buFont typeface="Calibri"/>
              <a:buChar char="•"/>
            </a:pPr>
            <a:r>
              <a:rPr lang="en-US" sz="1400">
                <a:solidFill>
                  <a:srgbClr val="1F2A3A"/>
                </a:solidFill>
                <a:latin typeface="Calibri"/>
                <a:ea typeface="Calibri"/>
                <a:cs typeface="Calibri"/>
                <a:sym typeface="Calibri"/>
              </a:rPr>
              <a:t>Value accrues to places that control commercialization, manufacturing &amp; deployment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900"/>
              </a:spcBef>
              <a:spcAft>
                <a:spcPts val="0"/>
              </a:spcAft>
              <a:buClr>
                <a:srgbClr val="1F2A3A"/>
              </a:buClr>
              <a:buSzPts val="1400"/>
              <a:buFont typeface="Calibri"/>
              <a:buChar char="•"/>
            </a:pPr>
            <a:r>
              <a:rPr lang="en-US" sz="1400">
                <a:solidFill>
                  <a:srgbClr val="1F2A3A"/>
                </a:solidFill>
                <a:latin typeface="Calibri"/>
                <a:ea typeface="Calibri"/>
                <a:cs typeface="Calibri"/>
                <a:sym typeface="Calibri"/>
              </a:rPr>
              <a:t>Creates high-wage jobs, export industries, talent attraction &amp; cross-sector spillovers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mnt/user-data/uploads/IMG_0158.png" id="103" name="Google Shape;103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58042" y="2574290"/>
            <a:ext cx="5743925" cy="3127248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7"/>
          <p:cNvSpPr/>
          <p:nvPr/>
        </p:nvSpPr>
        <p:spPr>
          <a:xfrm>
            <a:off x="5960853" y="5607515"/>
            <a:ext cx="5215243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400"/>
              <a:buFont typeface="Calibri"/>
              <a:buNone/>
            </a:pPr>
            <a:r>
              <a:rPr b="1" i="1" lang="en-US" sz="14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Confident, deployment-first ambition — “looking for a bigger target.”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8"/>
          <p:cNvSpPr/>
          <p:nvPr/>
        </p:nvSpPr>
        <p:spPr>
          <a:xfrm>
            <a:off x="822960" y="457200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315E"/>
              </a:buClr>
              <a:buSzPts val="2800"/>
              <a:buFont typeface="Calibri"/>
              <a:buNone/>
            </a:pPr>
            <a:r>
              <a:rPr b="1" lang="en-US" sz="2800">
                <a:solidFill>
                  <a:srgbClr val="14315E"/>
                </a:solidFill>
                <a:latin typeface="Calibri"/>
                <a:ea typeface="Calibri"/>
                <a:cs typeface="Calibri"/>
                <a:sym typeface="Calibri"/>
              </a:rPr>
              <a:t>Nuclear Commercialization Execution — 12-Month Plan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8"/>
          <p:cNvSpPr/>
          <p:nvPr/>
        </p:nvSpPr>
        <p:spPr>
          <a:xfrm>
            <a:off x="841248" y="1078992"/>
            <a:ext cx="10058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600"/>
              <a:buFont typeface="Calibri"/>
              <a:buNone/>
            </a:pPr>
            <a:r>
              <a:rPr lang="en-US" sz="16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Regional effort with statewide partnership and impact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8"/>
          <p:cNvSpPr/>
          <p:nvPr/>
        </p:nvSpPr>
        <p:spPr>
          <a:xfrm>
            <a:off x="640079" y="1554480"/>
            <a:ext cx="9806509" cy="3328071"/>
          </a:xfrm>
          <a:prstGeom prst="roundRect">
            <a:avLst>
              <a:gd fmla="val 1524" name="adj"/>
            </a:avLst>
          </a:prstGeom>
          <a:solidFill>
            <a:srgbClr val="F1F5FA"/>
          </a:solidFill>
          <a:ln cap="flat" cmpd="sng" w="12700">
            <a:solidFill>
              <a:srgbClr val="DCE6F1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B1F3A">
                <a:alpha val="12941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13" name="Google Shape;113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2688" y="1810512"/>
            <a:ext cx="384048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8"/>
          <p:cNvSpPr/>
          <p:nvPr/>
        </p:nvSpPr>
        <p:spPr>
          <a:xfrm>
            <a:off x="1481328" y="1810512"/>
            <a:ext cx="43891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315E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14315E"/>
                </a:solidFill>
                <a:latin typeface="Calibri"/>
                <a:ea typeface="Calibri"/>
                <a:cs typeface="Calibri"/>
                <a:sym typeface="Calibri"/>
              </a:rPr>
              <a:t>Nuclear Commercialization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8"/>
          <p:cNvSpPr/>
          <p:nvPr/>
        </p:nvSpPr>
        <p:spPr>
          <a:xfrm>
            <a:off x="969263" y="2395728"/>
            <a:ext cx="7804319" cy="3749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F2A3A"/>
              </a:buClr>
              <a:buSzPts val="1800"/>
              <a:buFont typeface="Calibri"/>
              <a:buAutoNum type="arabicPeriod"/>
            </a:pPr>
            <a:r>
              <a:rPr lang="en-US" sz="1800">
                <a:solidFill>
                  <a:srgbClr val="1F2A3A"/>
                </a:solidFill>
                <a:latin typeface="Calibri"/>
                <a:ea typeface="Calibri"/>
                <a:cs typeface="Calibri"/>
                <a:sym typeface="Calibri"/>
              </a:rPr>
              <a:t>Launch a Nuclear Supply Chain Working Group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100"/>
              </a:spcBef>
              <a:spcAft>
                <a:spcPts val="0"/>
              </a:spcAft>
              <a:buClr>
                <a:srgbClr val="1F2A3A"/>
              </a:buClr>
              <a:buSzPts val="1800"/>
              <a:buFont typeface="Calibri"/>
              <a:buAutoNum type="arabicPeriod"/>
            </a:pPr>
            <a:r>
              <a:rPr lang="en-US" sz="1800">
                <a:solidFill>
                  <a:srgbClr val="1F2A3A"/>
                </a:solidFill>
                <a:latin typeface="Calibri"/>
                <a:ea typeface="Calibri"/>
                <a:cs typeface="Calibri"/>
                <a:sym typeface="Calibri"/>
              </a:rPr>
              <a:t>Establish a Nuclear Pilot &amp; Deployment Program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100"/>
              </a:spcBef>
              <a:spcAft>
                <a:spcPts val="0"/>
              </a:spcAft>
              <a:buClr>
                <a:srgbClr val="1F2A3A"/>
              </a:buClr>
              <a:buSzPts val="1800"/>
              <a:buFont typeface="Calibri"/>
              <a:buAutoNum type="arabicPeriod"/>
            </a:pPr>
            <a:r>
              <a:rPr lang="en-US" sz="1800">
                <a:solidFill>
                  <a:srgbClr val="1F2A3A"/>
                </a:solidFill>
                <a:latin typeface="Calibri"/>
                <a:ea typeface="Calibri"/>
                <a:cs typeface="Calibri"/>
                <a:sym typeface="Calibri"/>
              </a:rPr>
              <a:t>Continue executing targeted company recruitment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100"/>
              </a:spcBef>
              <a:spcAft>
                <a:spcPts val="0"/>
              </a:spcAft>
              <a:buClr>
                <a:srgbClr val="1F2A3A"/>
              </a:buClr>
              <a:buSzPts val="1800"/>
              <a:buFont typeface="Calibri"/>
              <a:buAutoNum type="arabicPeriod"/>
            </a:pPr>
            <a:r>
              <a:rPr lang="en-US" sz="1800">
                <a:solidFill>
                  <a:srgbClr val="1F2A3A"/>
                </a:solidFill>
                <a:latin typeface="Calibri"/>
                <a:ea typeface="Calibri"/>
                <a:cs typeface="Calibri"/>
                <a:sym typeface="Calibri"/>
              </a:rPr>
              <a:t>Launch Founder &amp; Supplier Development to enable the supply chain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315E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9"/>
          <p:cNvSpPr/>
          <p:nvPr/>
        </p:nvSpPr>
        <p:spPr>
          <a:xfrm>
            <a:off x="822960" y="457200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Calibri"/>
              <a:buNone/>
            </a:pPr>
            <a:r>
              <a:rPr b="1" i="0" lang="en-US" sz="2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Nuclear Commercialization - 90-Day Activation &amp; First-Year Targets</a:t>
            </a:r>
            <a:endParaRPr b="0" i="0" sz="27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9"/>
          <p:cNvSpPr/>
          <p:nvPr/>
        </p:nvSpPr>
        <p:spPr>
          <a:xfrm>
            <a:off x="640080" y="1325880"/>
            <a:ext cx="3502152" cy="2148840"/>
          </a:xfrm>
          <a:prstGeom prst="roundRect">
            <a:avLst>
              <a:gd fmla="val 3404" name="adj"/>
            </a:avLst>
          </a:prstGeom>
          <a:solidFill>
            <a:srgbClr val="1C3B66"/>
          </a:solidFill>
          <a:ln>
            <a:noFill/>
          </a:ln>
          <a:effectLst>
            <a:outerShdw blurRad="127000" rotWithShape="0" algn="bl" dir="5400000" dist="38100">
              <a:srgbClr val="0B1F3A">
                <a:alpha val="21961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9"/>
          <p:cNvSpPr/>
          <p:nvPr/>
        </p:nvSpPr>
        <p:spPr>
          <a:xfrm>
            <a:off x="896112" y="1508760"/>
            <a:ext cx="3017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8E2F3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D8E2F3"/>
                </a:solidFill>
                <a:latin typeface="Calibri"/>
                <a:ea typeface="Calibri"/>
                <a:cs typeface="Calibri"/>
                <a:sym typeface="Calibri"/>
              </a:rPr>
              <a:t>Days 1–30</a:t>
            </a:r>
            <a:endParaRPr b="0" i="0" sz="1700" u="none" cap="none" strike="noStrike">
              <a:solidFill>
                <a:srgbClr val="D8E2F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9"/>
          <p:cNvSpPr/>
          <p:nvPr/>
        </p:nvSpPr>
        <p:spPr>
          <a:xfrm>
            <a:off x="896112" y="1938528"/>
            <a:ext cx="30175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Convene leadership; adopt the regional ambition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9"/>
          <p:cNvSpPr/>
          <p:nvPr/>
        </p:nvSpPr>
        <p:spPr>
          <a:xfrm>
            <a:off x="896112" y="2743200"/>
            <a:ext cx="30175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CE5F2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DCE5F2"/>
                </a:solidFill>
                <a:latin typeface="Calibri"/>
                <a:ea typeface="Calibri"/>
                <a:cs typeface="Calibri"/>
                <a:sym typeface="Calibri"/>
              </a:rPr>
              <a:t>Deliverable: signed charter</a:t>
            </a:r>
            <a:endParaRPr b="0" i="0" sz="11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9"/>
          <p:cNvSpPr/>
          <p:nvPr/>
        </p:nvSpPr>
        <p:spPr>
          <a:xfrm>
            <a:off x="4389120" y="1325880"/>
            <a:ext cx="3502152" cy="2148840"/>
          </a:xfrm>
          <a:prstGeom prst="roundRect">
            <a:avLst>
              <a:gd fmla="val 3404" name="adj"/>
            </a:avLst>
          </a:prstGeom>
          <a:solidFill>
            <a:srgbClr val="1C3B66"/>
          </a:solidFill>
          <a:ln>
            <a:noFill/>
          </a:ln>
          <a:effectLst>
            <a:outerShdw blurRad="127000" rotWithShape="0" algn="bl" dir="5400000" dist="38100">
              <a:srgbClr val="0B1F3A">
                <a:alpha val="21961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9"/>
          <p:cNvSpPr/>
          <p:nvPr/>
        </p:nvSpPr>
        <p:spPr>
          <a:xfrm>
            <a:off x="4645152" y="1508760"/>
            <a:ext cx="3017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8E2F3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D8E2F3"/>
                </a:solidFill>
                <a:latin typeface="Calibri"/>
                <a:ea typeface="Calibri"/>
                <a:cs typeface="Calibri"/>
                <a:sym typeface="Calibri"/>
              </a:rPr>
              <a:t>Days 31–60</a:t>
            </a:r>
            <a:endParaRPr b="0" i="0" sz="1700" u="none" cap="none" strike="noStrike">
              <a:solidFill>
                <a:srgbClr val="D8E2F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9"/>
          <p:cNvSpPr/>
          <p:nvPr/>
        </p:nvSpPr>
        <p:spPr>
          <a:xfrm>
            <a:off x="4645152" y="1938528"/>
            <a:ext cx="30175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Draft the regional cluster map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9"/>
          <p:cNvSpPr/>
          <p:nvPr/>
        </p:nvSpPr>
        <p:spPr>
          <a:xfrm>
            <a:off x="4645152" y="2743200"/>
            <a:ext cx="30175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CE5F2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DCE5F2"/>
                </a:solidFill>
                <a:latin typeface="Calibri"/>
                <a:ea typeface="Calibri"/>
                <a:cs typeface="Calibri"/>
                <a:sym typeface="Calibri"/>
              </a:rPr>
              <a:t>Inventory, capability gaps, recruitment targets</a:t>
            </a:r>
            <a:endParaRPr b="0" i="0" sz="11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9"/>
          <p:cNvSpPr/>
          <p:nvPr/>
        </p:nvSpPr>
        <p:spPr>
          <a:xfrm>
            <a:off x="8138160" y="1325880"/>
            <a:ext cx="3502152" cy="2148840"/>
          </a:xfrm>
          <a:prstGeom prst="roundRect">
            <a:avLst>
              <a:gd fmla="val 3404" name="adj"/>
            </a:avLst>
          </a:prstGeom>
          <a:solidFill>
            <a:srgbClr val="1C3B66"/>
          </a:solidFill>
          <a:ln>
            <a:noFill/>
          </a:ln>
          <a:effectLst>
            <a:outerShdw blurRad="127000" rotWithShape="0" algn="bl" dir="5400000" dist="38100">
              <a:srgbClr val="0B1F3A">
                <a:alpha val="21961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9"/>
          <p:cNvSpPr/>
          <p:nvPr/>
        </p:nvSpPr>
        <p:spPr>
          <a:xfrm>
            <a:off x="8394192" y="1508760"/>
            <a:ext cx="3017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8E2F3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D8E2F3"/>
                </a:solidFill>
                <a:latin typeface="Calibri"/>
                <a:ea typeface="Calibri"/>
                <a:cs typeface="Calibri"/>
                <a:sym typeface="Calibri"/>
              </a:rPr>
              <a:t>Days 61–90</a:t>
            </a:r>
            <a:endParaRPr b="0" i="0" sz="1700" u="none" cap="none" strike="noStrike">
              <a:solidFill>
                <a:srgbClr val="D8E2F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9"/>
          <p:cNvSpPr/>
          <p:nvPr/>
        </p:nvSpPr>
        <p:spPr>
          <a:xfrm>
            <a:off x="8394192" y="1938528"/>
            <a:ext cx="30175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Launch first visible initiatives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9"/>
          <p:cNvSpPr/>
          <p:nvPr/>
        </p:nvSpPr>
        <p:spPr>
          <a:xfrm>
            <a:off x="8394192" y="2743200"/>
            <a:ext cx="30175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CE5F2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DCE5F2"/>
                </a:solidFill>
                <a:latin typeface="Calibri"/>
                <a:ea typeface="Calibri"/>
                <a:cs typeface="Calibri"/>
                <a:sym typeface="Calibri"/>
              </a:rPr>
              <a:t>Pilot · venture fund · recruitment mission · supplier initiative</a:t>
            </a:r>
            <a:endParaRPr b="0" i="0" sz="11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9"/>
          <p:cNvSpPr/>
          <p:nvPr/>
        </p:nvSpPr>
        <p:spPr>
          <a:xfrm>
            <a:off x="640080" y="3657600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FB2C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9FB2CE"/>
                </a:solidFill>
                <a:latin typeface="Calibri"/>
                <a:ea typeface="Calibri"/>
                <a:cs typeface="Calibri"/>
                <a:sym typeface="Calibri"/>
              </a:rPr>
              <a:t>First-year targets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9"/>
          <p:cNvSpPr/>
          <p:nvPr/>
        </p:nvSpPr>
        <p:spPr>
          <a:xfrm>
            <a:off x="640080" y="4023360"/>
            <a:ext cx="3502152" cy="1051560"/>
          </a:xfrm>
          <a:prstGeom prst="roundRect">
            <a:avLst>
              <a:gd fmla="val 6087" name="adj"/>
            </a:avLst>
          </a:prstGeom>
          <a:solidFill>
            <a:srgbClr val="1C3B6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9"/>
          <p:cNvSpPr/>
          <p:nvPr/>
        </p:nvSpPr>
        <p:spPr>
          <a:xfrm>
            <a:off x="896112" y="4151376"/>
            <a:ext cx="30175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10+</a:t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9"/>
          <p:cNvSpPr/>
          <p:nvPr/>
        </p:nvSpPr>
        <p:spPr>
          <a:xfrm>
            <a:off x="914400" y="4663440"/>
            <a:ext cx="3017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CE5F2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DCE5F2"/>
                </a:solidFill>
                <a:latin typeface="Calibri"/>
                <a:ea typeface="Calibri"/>
                <a:cs typeface="Calibri"/>
                <a:sym typeface="Calibri"/>
              </a:rPr>
              <a:t>company recruitment opportunities</a:t>
            </a:r>
            <a:endParaRPr b="0" i="0" sz="11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9"/>
          <p:cNvSpPr/>
          <p:nvPr/>
        </p:nvSpPr>
        <p:spPr>
          <a:xfrm>
            <a:off x="4389120" y="4023360"/>
            <a:ext cx="3502152" cy="1051560"/>
          </a:xfrm>
          <a:prstGeom prst="roundRect">
            <a:avLst>
              <a:gd fmla="val 6087" name="adj"/>
            </a:avLst>
          </a:prstGeom>
          <a:solidFill>
            <a:srgbClr val="1C3B6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9"/>
          <p:cNvSpPr/>
          <p:nvPr/>
        </p:nvSpPr>
        <p:spPr>
          <a:xfrm>
            <a:off x="4645152" y="4151376"/>
            <a:ext cx="30175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3+</a:t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9"/>
          <p:cNvSpPr/>
          <p:nvPr/>
        </p:nvSpPr>
        <p:spPr>
          <a:xfrm>
            <a:off x="4663440" y="4663440"/>
            <a:ext cx="3017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CE5F2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DCE5F2"/>
                </a:solidFill>
                <a:latin typeface="Calibri"/>
                <a:ea typeface="Calibri"/>
                <a:cs typeface="Calibri"/>
                <a:sym typeface="Calibri"/>
              </a:rPr>
              <a:t>pilots launched</a:t>
            </a:r>
            <a:endParaRPr b="0" i="0" sz="11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9"/>
          <p:cNvSpPr/>
          <p:nvPr/>
        </p:nvSpPr>
        <p:spPr>
          <a:xfrm>
            <a:off x="8138160" y="4023360"/>
            <a:ext cx="3502152" cy="1051560"/>
          </a:xfrm>
          <a:prstGeom prst="roundRect">
            <a:avLst>
              <a:gd fmla="val 6087" name="adj"/>
            </a:avLst>
          </a:prstGeom>
          <a:solidFill>
            <a:srgbClr val="1C3B6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9"/>
          <p:cNvSpPr/>
          <p:nvPr/>
        </p:nvSpPr>
        <p:spPr>
          <a:xfrm>
            <a:off x="8394192" y="4151376"/>
            <a:ext cx="30175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15+</a:t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9"/>
          <p:cNvSpPr/>
          <p:nvPr/>
        </p:nvSpPr>
        <p:spPr>
          <a:xfrm>
            <a:off x="8412480" y="4663440"/>
            <a:ext cx="3017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CE5F2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DCE5F2"/>
                </a:solidFill>
                <a:latin typeface="Calibri"/>
                <a:ea typeface="Calibri"/>
                <a:cs typeface="Calibri"/>
                <a:sym typeface="Calibri"/>
              </a:rPr>
              <a:t>new nuclear firms engaged</a:t>
            </a:r>
            <a:endParaRPr b="0" i="0" sz="11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9"/>
          <p:cNvSpPr/>
          <p:nvPr/>
        </p:nvSpPr>
        <p:spPr>
          <a:xfrm>
            <a:off x="1873657" y="5288510"/>
            <a:ext cx="3502152" cy="1051560"/>
          </a:xfrm>
          <a:prstGeom prst="roundRect">
            <a:avLst>
              <a:gd fmla="val 6087" name="adj"/>
            </a:avLst>
          </a:prstGeom>
          <a:solidFill>
            <a:srgbClr val="1C3B6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9"/>
          <p:cNvSpPr/>
          <p:nvPr/>
        </p:nvSpPr>
        <p:spPr>
          <a:xfrm>
            <a:off x="2129689" y="5416526"/>
            <a:ext cx="30175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$25M+</a:t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9"/>
          <p:cNvSpPr/>
          <p:nvPr/>
        </p:nvSpPr>
        <p:spPr>
          <a:xfrm>
            <a:off x="2147977" y="5928590"/>
            <a:ext cx="3017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CE5F2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DCE5F2"/>
                </a:solidFill>
                <a:latin typeface="Calibri"/>
                <a:ea typeface="Calibri"/>
                <a:cs typeface="Calibri"/>
                <a:sym typeface="Calibri"/>
              </a:rPr>
              <a:t>private capital committed</a:t>
            </a:r>
            <a:endParaRPr b="0" i="0" sz="11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9"/>
          <p:cNvSpPr/>
          <p:nvPr/>
        </p:nvSpPr>
        <p:spPr>
          <a:xfrm>
            <a:off x="5631841" y="5288510"/>
            <a:ext cx="3502152" cy="1051560"/>
          </a:xfrm>
          <a:prstGeom prst="roundRect">
            <a:avLst>
              <a:gd fmla="val 6087" name="adj"/>
            </a:avLst>
          </a:prstGeom>
          <a:solidFill>
            <a:srgbClr val="1C3B6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9"/>
          <p:cNvSpPr/>
          <p:nvPr/>
        </p:nvSpPr>
        <p:spPr>
          <a:xfrm>
            <a:off x="5887873" y="5416526"/>
            <a:ext cx="30175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250+</a:t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9"/>
          <p:cNvSpPr/>
          <p:nvPr/>
        </p:nvSpPr>
        <p:spPr>
          <a:xfrm>
            <a:off x="5906161" y="5928590"/>
            <a:ext cx="3017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CE5F2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DCE5F2"/>
                </a:solidFill>
                <a:latin typeface="Calibri"/>
                <a:ea typeface="Calibri"/>
                <a:cs typeface="Calibri"/>
                <a:sym typeface="Calibri"/>
              </a:rPr>
              <a:t>students &amp; workers connected</a:t>
            </a:r>
            <a:endParaRPr b="0" i="0" sz="11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0"/>
          <p:cNvSpPr/>
          <p:nvPr/>
        </p:nvSpPr>
        <p:spPr>
          <a:xfrm>
            <a:off x="640080" y="804672"/>
            <a:ext cx="60350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15E"/>
              </a:buClr>
              <a:buSzPts val="2600"/>
              <a:buFont typeface="Calibri"/>
              <a:buNone/>
            </a:pPr>
            <a:r>
              <a:rPr b="1" lang="en-US" sz="2600">
                <a:solidFill>
                  <a:srgbClr val="14315E"/>
                </a:solidFill>
                <a:latin typeface="Calibri"/>
                <a:ea typeface="Calibri"/>
                <a:cs typeface="Calibri"/>
                <a:sym typeface="Calibri"/>
              </a:rPr>
              <a:t>Frontier heritage, traditional tourism, modern amenities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0"/>
          <p:cNvSpPr/>
          <p:nvPr/>
        </p:nvSpPr>
        <p:spPr>
          <a:xfrm>
            <a:off x="640080" y="1783080"/>
            <a:ext cx="598932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F2A3A"/>
              </a:buClr>
              <a:buSzPts val="1600"/>
              <a:buFont typeface="Calibri"/>
              <a:buNone/>
            </a:pPr>
            <a:r>
              <a:rPr lang="en-US" sz="1600">
                <a:solidFill>
                  <a:srgbClr val="1F2A3A"/>
                </a:solidFill>
                <a:latin typeface="Calibri"/>
                <a:ea typeface="Calibri"/>
                <a:cs typeface="Calibri"/>
                <a:sym typeface="Calibri"/>
              </a:rPr>
              <a:t>East Tennessee’s natural resources provide a variety of opportunities from traditional offerings to adventurous outings for all. 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0"/>
          <p:cNvSpPr/>
          <p:nvPr/>
        </p:nvSpPr>
        <p:spPr>
          <a:xfrm>
            <a:off x="640080" y="3154680"/>
            <a:ext cx="5943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C8102E"/>
                </a:solidFill>
                <a:latin typeface="Calibri"/>
                <a:ea typeface="Calibri"/>
                <a:cs typeface="Calibri"/>
                <a:sym typeface="Calibri"/>
              </a:rPr>
              <a:t>Unique strengths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0"/>
          <p:cNvSpPr/>
          <p:nvPr/>
        </p:nvSpPr>
        <p:spPr>
          <a:xfrm>
            <a:off x="640080" y="3474720"/>
            <a:ext cx="5989320" cy="20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F2A3A"/>
              </a:buClr>
              <a:buSzPts val="1600"/>
              <a:buFont typeface="Calibri"/>
              <a:buChar char="•"/>
            </a:pPr>
            <a:r>
              <a:rPr lang="en-US" sz="1600">
                <a:solidFill>
                  <a:srgbClr val="1F2A3A"/>
                </a:solidFill>
                <a:latin typeface="Calibri"/>
                <a:ea typeface="Calibri"/>
                <a:cs typeface="Calibri"/>
                <a:sym typeface="Calibri"/>
              </a:rPr>
              <a:t>A day’s drive from 75% of the Nations’s population</a:t>
            </a:r>
            <a:endParaRPr/>
          </a:p>
          <a:p>
            <a:pPr indent="-342900" lvl="0" marL="342900" marR="0" rtl="0" algn="l">
              <a:spcBef>
                <a:spcPts val="700"/>
              </a:spcBef>
              <a:spcAft>
                <a:spcPts val="0"/>
              </a:spcAft>
              <a:buClr>
                <a:srgbClr val="1F2A3A"/>
              </a:buClr>
              <a:buSzPts val="1600"/>
              <a:buFont typeface="Calibri"/>
              <a:buChar char="•"/>
            </a:pPr>
            <a:r>
              <a:rPr lang="en-US" sz="1600">
                <a:solidFill>
                  <a:srgbClr val="1F2A3A"/>
                </a:solidFill>
                <a:latin typeface="Calibri"/>
                <a:ea typeface="Calibri"/>
                <a:cs typeface="Calibri"/>
                <a:sym typeface="Calibri"/>
              </a:rPr>
              <a:t>Great Smoky Mountain’s National Park  is the most visited park in the Nation</a:t>
            </a:r>
            <a:endParaRPr/>
          </a:p>
          <a:p>
            <a:pPr indent="-342900" lvl="0" marL="342900" marR="0" rtl="0" algn="l">
              <a:spcBef>
                <a:spcPts val="700"/>
              </a:spcBef>
              <a:spcAft>
                <a:spcPts val="0"/>
              </a:spcAft>
              <a:buClr>
                <a:srgbClr val="1F2A3A"/>
              </a:buClr>
              <a:buSzPts val="1600"/>
              <a:buFont typeface="Calibri"/>
              <a:buChar char="•"/>
            </a:pPr>
            <a:r>
              <a:rPr lang="en-US" sz="1600">
                <a:solidFill>
                  <a:srgbClr val="1F2A3A"/>
                </a:solidFill>
                <a:latin typeface="Calibri"/>
                <a:ea typeface="Calibri"/>
                <a:cs typeface="Calibri"/>
                <a:sym typeface="Calibri"/>
              </a:rPr>
              <a:t>A hub for adventure tourism (rafting, hiking, biking)</a:t>
            </a:r>
            <a:endParaRPr/>
          </a:p>
          <a:p>
            <a:pPr indent="-342900" lvl="0" marL="342900" marR="0" rtl="0" algn="l">
              <a:spcBef>
                <a:spcPts val="700"/>
              </a:spcBef>
              <a:spcAft>
                <a:spcPts val="0"/>
              </a:spcAft>
              <a:buClr>
                <a:srgbClr val="1F2A3A"/>
              </a:buClr>
              <a:buSzPts val="1600"/>
              <a:buFont typeface="Calibri"/>
              <a:buChar char="•"/>
            </a:pPr>
            <a:r>
              <a:rPr lang="en-US" sz="1600">
                <a:solidFill>
                  <a:srgbClr val="1F2A3A"/>
                </a:solidFill>
                <a:latin typeface="Calibri"/>
                <a:ea typeface="Calibri"/>
                <a:cs typeface="Calibri"/>
                <a:sym typeface="Calibri"/>
              </a:rPr>
              <a:t>2 of the top 4 counties for visitation are in East Tennessee (Knox, Sevier – with all 16 counties in the top third for the state of Tennessee)</a:t>
            </a:r>
            <a:endParaRPr/>
          </a:p>
        </p:txBody>
      </p:sp>
      <p:sp>
        <p:nvSpPr>
          <p:cNvPr id="158" name="Google Shape;158;p10"/>
          <p:cNvSpPr/>
          <p:nvPr/>
        </p:nvSpPr>
        <p:spPr>
          <a:xfrm>
            <a:off x="617220" y="5852160"/>
            <a:ext cx="59893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315E"/>
              </a:buClr>
              <a:buSzPts val="1400"/>
              <a:buFont typeface="Calibri"/>
              <a:buNone/>
            </a:pPr>
            <a:r>
              <a:rPr b="1" i="1" lang="en-US" sz="1400">
                <a:solidFill>
                  <a:srgbClr val="14315E"/>
                </a:solidFill>
                <a:latin typeface="Calibri"/>
                <a:ea typeface="Calibri"/>
                <a:cs typeface="Calibri"/>
                <a:sym typeface="Calibri"/>
              </a:rPr>
              <a:t>“The Smokies always call me home”.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Remembering Roosevelt: Residents reflect on president's historical ..." id="159" name="Google Shape;159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22140" y="0"/>
            <a:ext cx="5351680" cy="3429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22140" y="3429000"/>
            <a:ext cx="5351681" cy="3429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315E"/>
        </a:solid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1"/>
          <p:cNvSpPr/>
          <p:nvPr/>
        </p:nvSpPr>
        <p:spPr>
          <a:xfrm>
            <a:off x="822960" y="457200"/>
            <a:ext cx="10515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b="1" lang="en-US" sz="3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East Tennessee Tourism, by the Numbers</a:t>
            </a:r>
            <a:endParaRPr/>
          </a:p>
        </p:txBody>
      </p:sp>
      <p:sp>
        <p:nvSpPr>
          <p:cNvPr id="166" name="Google Shape;166;p11"/>
          <p:cNvSpPr/>
          <p:nvPr/>
        </p:nvSpPr>
        <p:spPr>
          <a:xfrm>
            <a:off x="841248" y="1115568"/>
            <a:ext cx="10607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E5F2"/>
              </a:buClr>
              <a:buSzPts val="1500"/>
              <a:buFont typeface="Calibri"/>
              <a:buNone/>
            </a:pPr>
            <a:r>
              <a:rPr b="0" lang="en-US" sz="1500">
                <a:solidFill>
                  <a:srgbClr val="DCE5F2"/>
                </a:solidFill>
                <a:latin typeface="Calibri"/>
                <a:ea typeface="Calibri"/>
                <a:cs typeface="Calibri"/>
                <a:sym typeface="Calibri"/>
              </a:rPr>
              <a:t>The region’s visitor economy across the East Tennessee grand division — 2024</a:t>
            </a:r>
            <a:endParaRPr/>
          </a:p>
        </p:txBody>
      </p:sp>
      <p:sp>
        <p:nvSpPr>
          <p:cNvPr id="167" name="Google Shape;167;p11"/>
          <p:cNvSpPr/>
          <p:nvPr/>
        </p:nvSpPr>
        <p:spPr>
          <a:xfrm>
            <a:off x="640080" y="1810512"/>
            <a:ext cx="3362249" cy="1847088"/>
          </a:xfrm>
          <a:prstGeom prst="roundRect">
            <a:avLst>
              <a:gd fmla="val 7000" name="adj"/>
            </a:avLst>
          </a:prstGeom>
          <a:solidFill>
            <a:srgbClr val="1C3B66"/>
          </a:solidFill>
          <a:ln>
            <a:noFill/>
          </a:ln>
          <a:effectLst>
            <a:outerShdw blurRad="100000" rotWithShape="0" dir="5400000" dist="32000">
              <a:srgbClr val="0B1F3A">
                <a:alpha val="2392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1"/>
          <p:cNvSpPr/>
          <p:nvPr/>
        </p:nvSpPr>
        <p:spPr>
          <a:xfrm>
            <a:off x="2174900" y="1993392"/>
            <a:ext cx="292608" cy="292608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rgbClr val="C8102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1"/>
          <p:cNvSpPr/>
          <p:nvPr/>
        </p:nvSpPr>
        <p:spPr>
          <a:xfrm>
            <a:off x="777240" y="2377440"/>
            <a:ext cx="3087929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</a:pPr>
            <a:r>
              <a:rPr b="1" lang="en-US" sz="3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$9.4B+</a:t>
            </a:r>
            <a:endParaRPr/>
          </a:p>
        </p:txBody>
      </p:sp>
      <p:sp>
        <p:nvSpPr>
          <p:cNvPr id="170" name="Google Shape;170;p11"/>
          <p:cNvSpPr/>
          <p:nvPr/>
        </p:nvSpPr>
        <p:spPr>
          <a:xfrm>
            <a:off x="877824" y="3090672"/>
            <a:ext cx="2886761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CE5F2"/>
              </a:buClr>
              <a:buSzPts val="1200"/>
              <a:buFont typeface="Calibri"/>
              <a:buNone/>
            </a:pPr>
            <a:r>
              <a:rPr b="0" lang="en-US" sz="1200">
                <a:solidFill>
                  <a:srgbClr val="DCE5F2"/>
                </a:solidFill>
                <a:latin typeface="Calibri"/>
                <a:ea typeface="Calibri"/>
                <a:cs typeface="Calibri"/>
                <a:sym typeface="Calibri"/>
              </a:rPr>
              <a:t>combined visitor spending — East TN</a:t>
            </a:r>
            <a:endParaRPr/>
          </a:p>
        </p:txBody>
      </p:sp>
      <p:sp>
        <p:nvSpPr>
          <p:cNvPr id="171" name="Google Shape;171;p11"/>
          <p:cNvSpPr/>
          <p:nvPr/>
        </p:nvSpPr>
        <p:spPr>
          <a:xfrm>
            <a:off x="4413809" y="1810512"/>
            <a:ext cx="3362249" cy="1847088"/>
          </a:xfrm>
          <a:prstGeom prst="roundRect">
            <a:avLst>
              <a:gd fmla="val 7000" name="adj"/>
            </a:avLst>
          </a:prstGeom>
          <a:solidFill>
            <a:srgbClr val="1C3B66"/>
          </a:solidFill>
          <a:ln>
            <a:noFill/>
          </a:ln>
          <a:effectLst>
            <a:outerShdw blurRad="100000" rotWithShape="0" dir="5400000" dist="32000">
              <a:srgbClr val="0B1F3A">
                <a:alpha val="2392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1"/>
          <p:cNvSpPr/>
          <p:nvPr/>
        </p:nvSpPr>
        <p:spPr>
          <a:xfrm>
            <a:off x="5948629" y="1993392"/>
            <a:ext cx="292608" cy="292608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rgbClr val="C8102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1"/>
          <p:cNvSpPr/>
          <p:nvPr/>
        </p:nvSpPr>
        <p:spPr>
          <a:xfrm>
            <a:off x="4550969" y="2377440"/>
            <a:ext cx="3087929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</a:pPr>
            <a:r>
              <a:rPr b="1" lang="en-US" sz="3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12.2M</a:t>
            </a:r>
            <a:endParaRPr/>
          </a:p>
        </p:txBody>
      </p:sp>
      <p:sp>
        <p:nvSpPr>
          <p:cNvPr id="174" name="Google Shape;174;p11"/>
          <p:cNvSpPr/>
          <p:nvPr/>
        </p:nvSpPr>
        <p:spPr>
          <a:xfrm>
            <a:off x="4651553" y="3090672"/>
            <a:ext cx="2886761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CE5F2"/>
              </a:buClr>
              <a:buSzPts val="1200"/>
              <a:buFont typeface="Calibri"/>
              <a:buNone/>
            </a:pPr>
            <a:r>
              <a:rPr b="0" lang="en-US" sz="1200">
                <a:solidFill>
                  <a:srgbClr val="DCE5F2"/>
                </a:solidFill>
                <a:latin typeface="Calibri"/>
                <a:ea typeface="Calibri"/>
                <a:cs typeface="Calibri"/>
                <a:sym typeface="Calibri"/>
              </a:rPr>
              <a:t>Great Smoky Mountains visits — the most-visited U.S. national park</a:t>
            </a:r>
            <a:endParaRPr/>
          </a:p>
        </p:txBody>
      </p:sp>
      <p:sp>
        <p:nvSpPr>
          <p:cNvPr id="175" name="Google Shape;175;p11"/>
          <p:cNvSpPr/>
          <p:nvPr/>
        </p:nvSpPr>
        <p:spPr>
          <a:xfrm>
            <a:off x="8187538" y="1810512"/>
            <a:ext cx="3362249" cy="1847088"/>
          </a:xfrm>
          <a:prstGeom prst="roundRect">
            <a:avLst>
              <a:gd fmla="val 7000" name="adj"/>
            </a:avLst>
          </a:prstGeom>
          <a:solidFill>
            <a:srgbClr val="1C3B66"/>
          </a:solidFill>
          <a:ln>
            <a:noFill/>
          </a:ln>
          <a:effectLst>
            <a:outerShdw blurRad="100000" rotWithShape="0" dir="5400000" dist="32000">
              <a:srgbClr val="0B1F3A">
                <a:alpha val="2392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1"/>
          <p:cNvSpPr/>
          <p:nvPr/>
        </p:nvSpPr>
        <p:spPr>
          <a:xfrm>
            <a:off x="9722358" y="1993392"/>
            <a:ext cx="292608" cy="292608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rgbClr val="C8102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1"/>
          <p:cNvSpPr/>
          <p:nvPr/>
        </p:nvSpPr>
        <p:spPr>
          <a:xfrm>
            <a:off x="8324698" y="2377440"/>
            <a:ext cx="3087929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</a:pPr>
            <a:r>
              <a:rPr b="1" lang="en-US" sz="3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$3.93B</a:t>
            </a:r>
            <a:endParaRPr/>
          </a:p>
        </p:txBody>
      </p:sp>
      <p:sp>
        <p:nvSpPr>
          <p:cNvPr id="178" name="Google Shape;178;p11"/>
          <p:cNvSpPr/>
          <p:nvPr/>
        </p:nvSpPr>
        <p:spPr>
          <a:xfrm>
            <a:off x="8425282" y="3090672"/>
            <a:ext cx="2886761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CE5F2"/>
              </a:buClr>
              <a:buSzPts val="1200"/>
              <a:buFont typeface="Calibri"/>
              <a:buNone/>
            </a:pPr>
            <a:r>
              <a:rPr b="0" lang="en-US" sz="1200">
                <a:solidFill>
                  <a:srgbClr val="DCE5F2"/>
                </a:solidFill>
                <a:latin typeface="Calibri"/>
                <a:ea typeface="Calibri"/>
                <a:cs typeface="Calibri"/>
                <a:sym typeface="Calibri"/>
              </a:rPr>
              <a:t>Sevier County (Gatlinburg · Pigeon Forge) — 3rd of 95 TN counties</a:t>
            </a:r>
            <a:endParaRPr/>
          </a:p>
        </p:txBody>
      </p:sp>
      <p:sp>
        <p:nvSpPr>
          <p:cNvPr id="179" name="Google Shape;179;p11"/>
          <p:cNvSpPr/>
          <p:nvPr/>
        </p:nvSpPr>
        <p:spPr>
          <a:xfrm>
            <a:off x="640080" y="4023360"/>
            <a:ext cx="3362249" cy="1847088"/>
          </a:xfrm>
          <a:prstGeom prst="roundRect">
            <a:avLst>
              <a:gd fmla="val 7000" name="adj"/>
            </a:avLst>
          </a:prstGeom>
          <a:solidFill>
            <a:srgbClr val="1C3B66"/>
          </a:solidFill>
          <a:ln>
            <a:noFill/>
          </a:ln>
          <a:effectLst>
            <a:outerShdw blurRad="100000" rotWithShape="0" dir="5400000" dist="32000">
              <a:srgbClr val="0B1F3A">
                <a:alpha val="2392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1"/>
          <p:cNvSpPr/>
          <p:nvPr/>
        </p:nvSpPr>
        <p:spPr>
          <a:xfrm>
            <a:off x="2174900" y="4206240"/>
            <a:ext cx="292608" cy="292608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rgbClr val="C8102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1"/>
          <p:cNvSpPr/>
          <p:nvPr/>
        </p:nvSpPr>
        <p:spPr>
          <a:xfrm>
            <a:off x="777240" y="4590288"/>
            <a:ext cx="3087929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</a:pPr>
            <a:r>
              <a:rPr b="1" lang="en-US" sz="3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 of 5</a:t>
            </a:r>
            <a:endParaRPr/>
          </a:p>
        </p:txBody>
      </p:sp>
      <p:sp>
        <p:nvSpPr>
          <p:cNvPr id="182" name="Google Shape;182;p11"/>
          <p:cNvSpPr/>
          <p:nvPr/>
        </p:nvSpPr>
        <p:spPr>
          <a:xfrm>
            <a:off x="877824" y="5303520"/>
            <a:ext cx="2886761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CE5F2"/>
              </a:buClr>
              <a:buSzPts val="1200"/>
              <a:buFont typeface="Calibri"/>
              <a:buNone/>
            </a:pPr>
            <a:r>
              <a:rPr b="0" lang="en-US" sz="1200">
                <a:solidFill>
                  <a:srgbClr val="DCE5F2"/>
                </a:solidFill>
                <a:latin typeface="Calibri"/>
                <a:ea typeface="Calibri"/>
                <a:cs typeface="Calibri"/>
                <a:sym typeface="Calibri"/>
              </a:rPr>
              <a:t>of Tennessee’s top visitor-spending counties are in East Tennessee</a:t>
            </a:r>
            <a:endParaRPr/>
          </a:p>
        </p:txBody>
      </p:sp>
      <p:sp>
        <p:nvSpPr>
          <p:cNvPr id="183" name="Google Shape;183;p11"/>
          <p:cNvSpPr/>
          <p:nvPr/>
        </p:nvSpPr>
        <p:spPr>
          <a:xfrm>
            <a:off x="4413809" y="4023360"/>
            <a:ext cx="3362249" cy="1847088"/>
          </a:xfrm>
          <a:prstGeom prst="roundRect">
            <a:avLst>
              <a:gd fmla="val 7000" name="adj"/>
            </a:avLst>
          </a:prstGeom>
          <a:solidFill>
            <a:srgbClr val="1C3B66"/>
          </a:solidFill>
          <a:ln>
            <a:noFill/>
          </a:ln>
          <a:effectLst>
            <a:outerShdw blurRad="100000" rotWithShape="0" dir="5400000" dist="32000">
              <a:srgbClr val="0B1F3A">
                <a:alpha val="2392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1"/>
          <p:cNvSpPr/>
          <p:nvPr/>
        </p:nvSpPr>
        <p:spPr>
          <a:xfrm>
            <a:off x="5948629" y="4206240"/>
            <a:ext cx="292608" cy="292608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rgbClr val="C8102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1"/>
          <p:cNvSpPr/>
          <p:nvPr/>
        </p:nvSpPr>
        <p:spPr>
          <a:xfrm>
            <a:off x="4550969" y="4590288"/>
            <a:ext cx="3087929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</a:pPr>
            <a:r>
              <a:rPr b="1" lang="en-US" sz="3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$2.8B</a:t>
            </a:r>
            <a:endParaRPr/>
          </a:p>
        </p:txBody>
      </p:sp>
      <p:sp>
        <p:nvSpPr>
          <p:cNvPr id="186" name="Google Shape;186;p11"/>
          <p:cNvSpPr/>
          <p:nvPr/>
        </p:nvSpPr>
        <p:spPr>
          <a:xfrm>
            <a:off x="4651553" y="5303520"/>
            <a:ext cx="2886761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CE5F2"/>
              </a:buClr>
              <a:buSzPts val="1200"/>
              <a:buFont typeface="Calibri"/>
              <a:buNone/>
            </a:pPr>
            <a:r>
              <a:rPr b="0" lang="en-US" sz="1200">
                <a:solidFill>
                  <a:srgbClr val="DCE5F2"/>
                </a:solidFill>
                <a:latin typeface="Calibri"/>
                <a:ea typeface="Calibri"/>
                <a:cs typeface="Calibri"/>
                <a:sym typeface="Calibri"/>
              </a:rPr>
              <a:t>the Smokies’ benefit to gateway communities — highest of any national park</a:t>
            </a:r>
            <a:endParaRPr/>
          </a:p>
        </p:txBody>
      </p:sp>
      <p:sp>
        <p:nvSpPr>
          <p:cNvPr id="187" name="Google Shape;187;p11"/>
          <p:cNvSpPr/>
          <p:nvPr/>
        </p:nvSpPr>
        <p:spPr>
          <a:xfrm>
            <a:off x="8187538" y="4023360"/>
            <a:ext cx="3362249" cy="1847088"/>
          </a:xfrm>
          <a:prstGeom prst="roundRect">
            <a:avLst>
              <a:gd fmla="val 7000" name="adj"/>
            </a:avLst>
          </a:prstGeom>
          <a:solidFill>
            <a:srgbClr val="1C3B66"/>
          </a:solidFill>
          <a:ln>
            <a:noFill/>
          </a:ln>
          <a:effectLst>
            <a:outerShdw blurRad="100000" rotWithShape="0" dir="5400000" dist="32000">
              <a:srgbClr val="0B1F3A">
                <a:alpha val="2392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1"/>
          <p:cNvSpPr/>
          <p:nvPr/>
        </p:nvSpPr>
        <p:spPr>
          <a:xfrm>
            <a:off x="9722358" y="4206240"/>
            <a:ext cx="292608" cy="292608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rgbClr val="C8102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1"/>
          <p:cNvSpPr/>
          <p:nvPr/>
        </p:nvSpPr>
        <p:spPr>
          <a:xfrm>
            <a:off x="8324698" y="4590288"/>
            <a:ext cx="3087929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</a:pPr>
            <a:r>
              <a:rPr b="1" lang="en-US" sz="3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3.14M</a:t>
            </a:r>
            <a:endParaRPr/>
          </a:p>
        </p:txBody>
      </p:sp>
      <p:sp>
        <p:nvSpPr>
          <p:cNvPr id="190" name="Google Shape;190;p11"/>
          <p:cNvSpPr/>
          <p:nvPr/>
        </p:nvSpPr>
        <p:spPr>
          <a:xfrm>
            <a:off x="8425282" y="5303520"/>
            <a:ext cx="2886761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CE5F2"/>
              </a:buClr>
              <a:buSzPts val="1200"/>
              <a:buFont typeface="Calibri"/>
              <a:buNone/>
            </a:pPr>
            <a:r>
              <a:rPr b="0" lang="en-US" sz="1200">
                <a:solidFill>
                  <a:srgbClr val="DCE5F2"/>
                </a:solidFill>
                <a:latin typeface="Calibri"/>
                <a:ea typeface="Calibri"/>
                <a:cs typeface="Calibri"/>
                <a:sym typeface="Calibri"/>
              </a:rPr>
              <a:t>Dollywood guests — a top-20 North American theme park</a:t>
            </a:r>
            <a:endParaRPr/>
          </a:p>
        </p:txBody>
      </p:sp>
      <p:sp>
        <p:nvSpPr>
          <p:cNvPr id="191" name="Google Shape;191;p11"/>
          <p:cNvSpPr/>
          <p:nvPr/>
        </p:nvSpPr>
        <p:spPr>
          <a:xfrm>
            <a:off x="822960" y="6163056"/>
            <a:ext cx="10607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2CE"/>
              </a:buClr>
              <a:buSzPts val="1050"/>
              <a:buFont typeface="Calibri"/>
              <a:buNone/>
            </a:pPr>
            <a:r>
              <a:rPr b="0" lang="en-US" sz="1050">
                <a:solidFill>
                  <a:srgbClr val="9FB2CE"/>
                </a:solidFill>
                <a:latin typeface="Calibri"/>
                <a:ea typeface="Calibri"/>
                <a:cs typeface="Calibri"/>
                <a:sym typeface="Calibri"/>
              </a:rPr>
              <a:t>Within Tennessee’s record $31.7B visitor economy (147M visits, $3.3B state &amp; local tax).  Sources: TDTD / Tourism Economics 2024; NPS; TEA.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2"/>
          <p:cNvSpPr/>
          <p:nvPr/>
        </p:nvSpPr>
        <p:spPr>
          <a:xfrm rot="-5400000">
            <a:off x="-3017521" y="3017519"/>
            <a:ext cx="6858002" cy="822959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Calibri"/>
              <a:buNone/>
            </a:pPr>
            <a:r>
              <a:rPr b="1" lang="en-US" sz="27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Tourism Cluster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Calibri"/>
              <a:buNone/>
            </a:pPr>
            <a:r>
              <a:t/>
            </a:r>
            <a:endParaRPr sz="27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2"/>
          <p:cNvSpPr/>
          <p:nvPr/>
        </p:nvSpPr>
        <p:spPr>
          <a:xfrm rot="-5400000">
            <a:off x="-4660819" y="262504"/>
            <a:ext cx="10515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50"/>
              <a:buFont typeface="Calibri"/>
              <a:buNone/>
            </a:pPr>
            <a:r>
              <a:rPr lang="en-US" sz="13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Components and adjacent clusters of the visitor economy</a:t>
            </a:r>
            <a:endParaRPr sz="135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cmap_hi.png" id="199" name="Google Shape;199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4420" y="-3"/>
            <a:ext cx="11100169" cy="66188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3"/>
          <p:cNvSpPr/>
          <p:nvPr/>
        </p:nvSpPr>
        <p:spPr>
          <a:xfrm rot="-5400000">
            <a:off x="-3005820" y="2998741"/>
            <a:ext cx="6865079" cy="8534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Calibri"/>
              <a:buNone/>
            </a:pPr>
            <a:r>
              <a:rPr b="1" lang="en-US" sz="27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Tourism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Calibri"/>
              <a:buNone/>
            </a:pPr>
            <a:r>
              <a:t/>
            </a:r>
            <a:endParaRPr sz="27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3"/>
          <p:cNvSpPr/>
          <p:nvPr/>
        </p:nvSpPr>
        <p:spPr>
          <a:xfrm rot="-5400000">
            <a:off x="-4594860" y="1083564"/>
            <a:ext cx="10515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50"/>
              <a:buFont typeface="Calibri"/>
              <a:buNone/>
            </a:pPr>
            <a:r>
              <a:rPr lang="en-US" sz="13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$31.7B statewide visitor spending  ·  12.2M Smokies visits  ·  $3.3B state &amp; local tax</a:t>
            </a:r>
            <a:endParaRPr sz="135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tour_hi.png" id="207" name="Google Shape;207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3440" y="-7077"/>
            <a:ext cx="11338560" cy="6865077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13"/>
          <p:cNvSpPr/>
          <p:nvPr/>
        </p:nvSpPr>
        <p:spPr>
          <a:xfrm>
            <a:off x="822960" y="6501384"/>
            <a:ext cx="10515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50"/>
              <a:buFont typeface="Calibri"/>
              <a:buNone/>
            </a:pPr>
            <a:r>
              <a:rPr i="1" lang="en-US" sz="115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The visitor economy that funds the build-out — and the talent magnet that helps retain it.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FFFFFF"/>
        </a:solidFill>
      </p:bgPr>
    </p:bg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4"/>
          <p:cNvSpPr/>
          <p:nvPr/>
        </p:nvSpPr>
        <p:spPr>
          <a:xfrm>
            <a:off x="640080" y="713232"/>
            <a:ext cx="108813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315E"/>
              </a:buClr>
              <a:buSzPts val="2500"/>
              <a:buFont typeface="Calibri"/>
              <a:buNone/>
            </a:pPr>
            <a:r>
              <a:rPr b="1" lang="en-US" sz="2500">
                <a:solidFill>
                  <a:srgbClr val="14315E"/>
                </a:solidFill>
                <a:latin typeface="Calibri"/>
                <a:ea typeface="Calibri"/>
                <a:cs typeface="Calibri"/>
                <a:sym typeface="Calibri"/>
              </a:rPr>
              <a:t>Make East Tennessee the destination of choice</a:t>
            </a:r>
            <a:endParaRPr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4"/>
          <p:cNvSpPr/>
          <p:nvPr/>
        </p:nvSpPr>
        <p:spPr>
          <a:xfrm>
            <a:off x="640080" y="1371600"/>
            <a:ext cx="10908792" cy="841248"/>
          </a:xfrm>
          <a:prstGeom prst="roundRect">
            <a:avLst>
              <a:gd fmla="val 7609" name="adj"/>
            </a:avLst>
          </a:prstGeom>
          <a:solidFill>
            <a:srgbClr val="F1F5FA"/>
          </a:solidFill>
          <a:ln cap="flat" cmpd="sng" w="12700">
            <a:solidFill>
              <a:srgbClr val="DCE6F1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25400">
              <a:srgbClr val="0B1F3A">
                <a:alpha val="12157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4"/>
          <p:cNvSpPr/>
          <p:nvPr/>
        </p:nvSpPr>
        <p:spPr>
          <a:xfrm>
            <a:off x="868680" y="1444752"/>
            <a:ext cx="10424160" cy="694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315E"/>
              </a:buClr>
              <a:buSzPts val="1800"/>
              <a:buFont typeface="Calibri"/>
              <a:buNone/>
            </a:pPr>
            <a:r>
              <a:rPr b="1" lang="en-US" sz="1800">
                <a:solidFill>
                  <a:srgbClr val="14315E"/>
                </a:solidFill>
                <a:latin typeface="Calibri"/>
                <a:ea typeface="Calibri"/>
                <a:cs typeface="Calibri"/>
                <a:sym typeface="Calibri"/>
              </a:rPr>
              <a:t>Leverage East Tennessee’s natural resources, outdoor adventures and volunteer spirit to attract visitors from around the globe.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4"/>
          <p:cNvSpPr/>
          <p:nvPr/>
        </p:nvSpPr>
        <p:spPr>
          <a:xfrm>
            <a:off x="640080" y="2468880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C8102E"/>
                </a:solidFill>
                <a:latin typeface="Calibri"/>
                <a:ea typeface="Calibri"/>
                <a:cs typeface="Calibri"/>
                <a:sym typeface="Calibri"/>
              </a:rPr>
              <a:t>Why this priority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4"/>
          <p:cNvSpPr/>
          <p:nvPr/>
        </p:nvSpPr>
        <p:spPr>
          <a:xfrm>
            <a:off x="690033" y="2788920"/>
            <a:ext cx="5175068" cy="3566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F2A3A"/>
              </a:buClr>
              <a:buSzPts val="1400"/>
              <a:buFont typeface="Calibri"/>
              <a:buChar char="•"/>
            </a:pPr>
            <a:r>
              <a:rPr lang="en-US" sz="1400">
                <a:solidFill>
                  <a:srgbClr val="1F2A3A"/>
                </a:solidFill>
                <a:latin typeface="Calibri"/>
                <a:ea typeface="Calibri"/>
                <a:cs typeface="Calibri"/>
                <a:sym typeface="Calibri"/>
              </a:rPr>
              <a:t>Level of economic impact across multiple regions</a:t>
            </a:r>
            <a:endParaRPr/>
          </a:p>
          <a:p>
            <a:pPr indent="-342900" lvl="0" marL="342900" marR="0" rtl="0" algn="l">
              <a:spcBef>
                <a:spcPts val="900"/>
              </a:spcBef>
              <a:spcAft>
                <a:spcPts val="0"/>
              </a:spcAft>
              <a:buClr>
                <a:srgbClr val="1F2A3A"/>
              </a:buClr>
              <a:buSzPts val="1400"/>
              <a:buFont typeface="Calibri"/>
              <a:buChar char="•"/>
            </a:pPr>
            <a:r>
              <a:rPr lang="en-US" sz="1400">
                <a:solidFill>
                  <a:srgbClr val="1F2A3A"/>
                </a:solidFill>
                <a:latin typeface="Calibri"/>
                <a:ea typeface="Calibri"/>
                <a:cs typeface="Calibri"/>
                <a:sym typeface="Calibri"/>
              </a:rPr>
              <a:t>Leverage Tennessee’s natural beauty and resources</a:t>
            </a:r>
            <a:endParaRPr/>
          </a:p>
          <a:p>
            <a:pPr indent="-342900" lvl="0" marL="342900" marR="0" rtl="0" algn="l">
              <a:spcBef>
                <a:spcPts val="900"/>
              </a:spcBef>
              <a:spcAft>
                <a:spcPts val="0"/>
              </a:spcAft>
              <a:buClr>
                <a:srgbClr val="1F2A3A"/>
              </a:buClr>
              <a:buSzPts val="1400"/>
              <a:buFont typeface="Calibri"/>
              <a:buChar char="•"/>
            </a:pPr>
            <a:r>
              <a:rPr lang="en-US" sz="1400">
                <a:solidFill>
                  <a:srgbClr val="1F2A3A"/>
                </a:solidFill>
                <a:latin typeface="Calibri"/>
                <a:ea typeface="Calibri"/>
                <a:cs typeface="Calibri"/>
                <a:sym typeface="Calibri"/>
              </a:rPr>
              <a:t>Creates jobs and cross-sector impacts </a:t>
            </a:r>
            <a:endParaRPr/>
          </a:p>
          <a:p>
            <a:pPr indent="-342900" lvl="0" marL="342900" marR="0" rtl="0" algn="l">
              <a:spcBef>
                <a:spcPts val="900"/>
              </a:spcBef>
              <a:spcAft>
                <a:spcPts val="0"/>
              </a:spcAft>
              <a:buClr>
                <a:srgbClr val="1F2A3A"/>
              </a:buClr>
              <a:buSzPts val="1400"/>
              <a:buFont typeface="Calibri"/>
              <a:buChar char="•"/>
            </a:pPr>
            <a:r>
              <a:rPr lang="en-US" sz="1400">
                <a:solidFill>
                  <a:srgbClr val="1F2A3A"/>
                </a:solidFill>
                <a:latin typeface="Calibri"/>
                <a:ea typeface="Calibri"/>
                <a:cs typeface="Calibri"/>
                <a:sym typeface="Calibri"/>
              </a:rPr>
              <a:t>East Region tourist spend annually is $7.6B (up 42% from 2018)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1F2A3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540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sz="1400">
              <a:solidFill>
                <a:srgbClr val="1F2A3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540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sz="1400">
              <a:solidFill>
                <a:srgbClr val="1F2A3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540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sz="1400">
              <a:solidFill>
                <a:srgbClr val="1F2A3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540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sz="1400">
              <a:solidFill>
                <a:srgbClr val="1F2A3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4"/>
          <p:cNvSpPr/>
          <p:nvPr/>
        </p:nvSpPr>
        <p:spPr>
          <a:xfrm>
            <a:off x="6512943" y="5596128"/>
            <a:ext cx="5215243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400"/>
              <a:buFont typeface="Calibri"/>
              <a:buNone/>
            </a:pPr>
            <a:r>
              <a:rPr b="1" i="1" lang="en-US" sz="14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Direct visitor spending is $31.66B annually for Tennessee</a:t>
            </a:r>
            <a:endParaRPr/>
          </a:p>
        </p:txBody>
      </p:sp>
      <p:pic>
        <p:nvPicPr>
          <p:cNvPr descr="7 Unforgettable Tennessee White Water Rafting Adventures" id="219" name="Google Shape;219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26900" y="2502910"/>
            <a:ext cx="5221972" cy="31551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5"/>
          <p:cNvSpPr/>
          <p:nvPr/>
        </p:nvSpPr>
        <p:spPr>
          <a:xfrm>
            <a:off x="822960" y="457200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315E"/>
              </a:buClr>
              <a:buSzPts val="2800"/>
              <a:buFont typeface="Calibri"/>
              <a:buNone/>
            </a:pPr>
            <a:r>
              <a:rPr b="1" lang="en-US" sz="2800">
                <a:solidFill>
                  <a:srgbClr val="14315E"/>
                </a:solidFill>
                <a:latin typeface="Calibri"/>
                <a:ea typeface="Calibri"/>
                <a:cs typeface="Calibri"/>
                <a:sym typeface="Calibri"/>
              </a:rPr>
              <a:t>Execution — 12-Month Plan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5"/>
          <p:cNvSpPr/>
          <p:nvPr/>
        </p:nvSpPr>
        <p:spPr>
          <a:xfrm>
            <a:off x="841248" y="1078992"/>
            <a:ext cx="10058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Regional effort with statewide partnership and impact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5"/>
          <p:cNvSpPr/>
          <p:nvPr/>
        </p:nvSpPr>
        <p:spPr>
          <a:xfrm>
            <a:off x="822959" y="1554480"/>
            <a:ext cx="10169092" cy="4800600"/>
          </a:xfrm>
          <a:prstGeom prst="roundRect">
            <a:avLst>
              <a:gd fmla="val 1524" name="adj"/>
            </a:avLst>
          </a:prstGeom>
          <a:solidFill>
            <a:srgbClr val="F1F5FA"/>
          </a:solidFill>
          <a:ln cap="flat" cmpd="sng" w="12700">
            <a:solidFill>
              <a:srgbClr val="DCE6F1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B1F3A">
                <a:alpha val="12941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28" name="Google Shape;228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5567" y="1810512"/>
            <a:ext cx="460503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15"/>
          <p:cNvSpPr/>
          <p:nvPr/>
        </p:nvSpPr>
        <p:spPr>
          <a:xfrm>
            <a:off x="1664207" y="1810512"/>
            <a:ext cx="8231305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315E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14315E"/>
                </a:solidFill>
                <a:latin typeface="Calibri"/>
                <a:ea typeface="Calibri"/>
                <a:cs typeface="Calibri"/>
                <a:sym typeface="Calibri"/>
              </a:rPr>
              <a:t>Tourism Competitiveness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5"/>
          <p:cNvSpPr/>
          <p:nvPr/>
        </p:nvSpPr>
        <p:spPr>
          <a:xfrm>
            <a:off x="1152143" y="2395728"/>
            <a:ext cx="9002991" cy="3749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F2A3A"/>
              </a:buClr>
              <a:buSzPts val="1800"/>
              <a:buFont typeface="Calibri"/>
              <a:buAutoNum type="arabicPeriod"/>
            </a:pPr>
            <a:r>
              <a:rPr lang="en-US" sz="1800">
                <a:solidFill>
                  <a:srgbClr val="1F2A3A"/>
                </a:solidFill>
                <a:latin typeface="Calibri"/>
                <a:ea typeface="Calibri"/>
                <a:cs typeface="Calibri"/>
                <a:sym typeface="Calibri"/>
              </a:rPr>
              <a:t>Develop micro-clusters (Mountain biking, moonshine)</a:t>
            </a:r>
            <a:endParaRPr/>
          </a:p>
          <a:p>
            <a:pPr indent="-342900" lvl="0" marL="342900" marR="0" rtl="0" algn="l">
              <a:spcBef>
                <a:spcPts val="1100"/>
              </a:spcBef>
              <a:spcAft>
                <a:spcPts val="0"/>
              </a:spcAft>
              <a:buClr>
                <a:srgbClr val="1F2A3A"/>
              </a:buClr>
              <a:buSzPts val="1800"/>
              <a:buFont typeface="Calibri"/>
              <a:buAutoNum type="arabicPeriod"/>
            </a:pPr>
            <a:r>
              <a:rPr lang="en-US" sz="1800">
                <a:solidFill>
                  <a:srgbClr val="1F2A3A"/>
                </a:solidFill>
                <a:latin typeface="Calibri"/>
                <a:ea typeface="Calibri"/>
                <a:cs typeface="Calibri"/>
                <a:sym typeface="Calibri"/>
              </a:rPr>
              <a:t>Build upon our foundation endowments (natural resources, Smokies, Tennessee River)</a:t>
            </a:r>
            <a:endParaRPr/>
          </a:p>
          <a:p>
            <a:pPr indent="-342900" lvl="0" marL="342900" marR="0" rtl="0" algn="l">
              <a:spcBef>
                <a:spcPts val="1100"/>
              </a:spcBef>
              <a:spcAft>
                <a:spcPts val="0"/>
              </a:spcAft>
              <a:buClr>
                <a:srgbClr val="1F2A3A"/>
              </a:buClr>
              <a:buSzPts val="1800"/>
              <a:buFont typeface="Calibri"/>
              <a:buAutoNum type="arabicPeriod"/>
            </a:pPr>
            <a:r>
              <a:rPr lang="en-US" sz="1800">
                <a:solidFill>
                  <a:srgbClr val="1F2A3A"/>
                </a:solidFill>
                <a:latin typeface="Calibri"/>
                <a:ea typeface="Calibri"/>
                <a:cs typeface="Calibri"/>
                <a:sym typeface="Calibri"/>
              </a:rPr>
              <a:t>Grow revenues in adjoining counties </a:t>
            </a:r>
            <a:endParaRPr/>
          </a:p>
          <a:p>
            <a:pPr indent="-342900" lvl="0" marL="342900" marR="0" rtl="0" algn="l">
              <a:spcBef>
                <a:spcPts val="1100"/>
              </a:spcBef>
              <a:spcAft>
                <a:spcPts val="0"/>
              </a:spcAft>
              <a:buClr>
                <a:srgbClr val="1F2A3A"/>
              </a:buClr>
              <a:buSzPts val="1800"/>
              <a:buFont typeface="Calibri"/>
              <a:buAutoNum type="arabicPeriod"/>
            </a:pPr>
            <a:r>
              <a:rPr lang="en-US" sz="1800">
                <a:solidFill>
                  <a:srgbClr val="1F2A3A"/>
                </a:solidFill>
                <a:latin typeface="Calibri"/>
                <a:ea typeface="Calibri"/>
                <a:cs typeface="Calibri"/>
                <a:sym typeface="Calibri"/>
              </a:rPr>
              <a:t>Develop more attractions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14315E"/>
        </a:solidFill>
      </p:bgPr>
    </p:bg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6"/>
          <p:cNvSpPr/>
          <p:nvPr/>
        </p:nvSpPr>
        <p:spPr>
          <a:xfrm>
            <a:off x="822960" y="457200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Calibri"/>
              <a:buNone/>
            </a:pPr>
            <a:r>
              <a:rPr b="1" lang="en-US" sz="27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90-Day Activation &amp; First-Year Targets</a:t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6"/>
          <p:cNvSpPr/>
          <p:nvPr/>
        </p:nvSpPr>
        <p:spPr>
          <a:xfrm>
            <a:off x="640080" y="1325880"/>
            <a:ext cx="3502152" cy="2148840"/>
          </a:xfrm>
          <a:prstGeom prst="roundRect">
            <a:avLst>
              <a:gd fmla="val 3404" name="adj"/>
            </a:avLst>
          </a:prstGeom>
          <a:solidFill>
            <a:srgbClr val="1C3B66"/>
          </a:solidFill>
          <a:ln>
            <a:noFill/>
          </a:ln>
          <a:effectLst>
            <a:outerShdw blurRad="127000" rotWithShape="0" algn="bl" dir="5400000" dist="38100">
              <a:srgbClr val="0B1F3A">
                <a:alpha val="21961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6"/>
          <p:cNvSpPr/>
          <p:nvPr/>
        </p:nvSpPr>
        <p:spPr>
          <a:xfrm>
            <a:off x="896112" y="1508760"/>
            <a:ext cx="3017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8E2F3"/>
              </a:buClr>
              <a:buSzPts val="1700"/>
              <a:buFont typeface="Calibri"/>
              <a:buNone/>
            </a:pPr>
            <a:r>
              <a:rPr b="1" lang="en-US" sz="1700">
                <a:solidFill>
                  <a:srgbClr val="D8E2F3"/>
                </a:solidFill>
                <a:latin typeface="Calibri"/>
                <a:ea typeface="Calibri"/>
                <a:cs typeface="Calibri"/>
                <a:sym typeface="Calibri"/>
              </a:rPr>
              <a:t>Days 1–30</a:t>
            </a:r>
            <a:endParaRPr sz="1700">
              <a:solidFill>
                <a:srgbClr val="D8E2F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6"/>
          <p:cNvSpPr/>
          <p:nvPr/>
        </p:nvSpPr>
        <p:spPr>
          <a:xfrm>
            <a:off x="896112" y="1938528"/>
            <a:ext cx="30175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Convene leadership; adopt the regional ambition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6"/>
          <p:cNvSpPr/>
          <p:nvPr/>
        </p:nvSpPr>
        <p:spPr>
          <a:xfrm>
            <a:off x="896112" y="2743200"/>
            <a:ext cx="30175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E5F2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DCE5F2"/>
                </a:solidFill>
                <a:latin typeface="Calibri"/>
                <a:ea typeface="Calibri"/>
                <a:cs typeface="Calibri"/>
                <a:sym typeface="Calibri"/>
              </a:rPr>
              <a:t>Deliverable: signed charter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6"/>
          <p:cNvSpPr/>
          <p:nvPr/>
        </p:nvSpPr>
        <p:spPr>
          <a:xfrm>
            <a:off x="4389120" y="1325880"/>
            <a:ext cx="3502152" cy="2148840"/>
          </a:xfrm>
          <a:prstGeom prst="roundRect">
            <a:avLst>
              <a:gd fmla="val 3404" name="adj"/>
            </a:avLst>
          </a:prstGeom>
          <a:solidFill>
            <a:srgbClr val="1C3B66"/>
          </a:solidFill>
          <a:ln>
            <a:noFill/>
          </a:ln>
          <a:effectLst>
            <a:outerShdw blurRad="127000" rotWithShape="0" algn="bl" dir="5400000" dist="38100">
              <a:srgbClr val="0B1F3A">
                <a:alpha val="21961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6"/>
          <p:cNvSpPr/>
          <p:nvPr/>
        </p:nvSpPr>
        <p:spPr>
          <a:xfrm>
            <a:off x="4645152" y="1508760"/>
            <a:ext cx="3017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8E2F3"/>
              </a:buClr>
              <a:buSzPts val="1700"/>
              <a:buFont typeface="Calibri"/>
              <a:buNone/>
            </a:pPr>
            <a:r>
              <a:rPr b="1" lang="en-US" sz="1700">
                <a:solidFill>
                  <a:srgbClr val="D8E2F3"/>
                </a:solidFill>
                <a:latin typeface="Calibri"/>
                <a:ea typeface="Calibri"/>
                <a:cs typeface="Calibri"/>
                <a:sym typeface="Calibri"/>
              </a:rPr>
              <a:t>Days 31–60</a:t>
            </a:r>
            <a:endParaRPr sz="1700">
              <a:solidFill>
                <a:srgbClr val="D8E2F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6"/>
          <p:cNvSpPr/>
          <p:nvPr/>
        </p:nvSpPr>
        <p:spPr>
          <a:xfrm>
            <a:off x="4645152" y="1938528"/>
            <a:ext cx="30175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Draft the regional cluster map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6"/>
          <p:cNvSpPr/>
          <p:nvPr/>
        </p:nvSpPr>
        <p:spPr>
          <a:xfrm>
            <a:off x="4645152" y="2743200"/>
            <a:ext cx="30175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E5F2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DCE5F2"/>
                </a:solidFill>
                <a:latin typeface="Calibri"/>
                <a:ea typeface="Calibri"/>
                <a:cs typeface="Calibri"/>
                <a:sym typeface="Calibri"/>
              </a:rPr>
              <a:t>Inventory, capability gaps, recruitment targets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6"/>
          <p:cNvSpPr/>
          <p:nvPr/>
        </p:nvSpPr>
        <p:spPr>
          <a:xfrm>
            <a:off x="8138160" y="1325880"/>
            <a:ext cx="3502152" cy="2148840"/>
          </a:xfrm>
          <a:prstGeom prst="roundRect">
            <a:avLst>
              <a:gd fmla="val 3404" name="adj"/>
            </a:avLst>
          </a:prstGeom>
          <a:solidFill>
            <a:srgbClr val="1C3B66"/>
          </a:solidFill>
          <a:ln>
            <a:noFill/>
          </a:ln>
          <a:effectLst>
            <a:outerShdw blurRad="127000" rotWithShape="0" algn="bl" dir="5400000" dist="38100">
              <a:srgbClr val="0B1F3A">
                <a:alpha val="21961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6"/>
          <p:cNvSpPr/>
          <p:nvPr/>
        </p:nvSpPr>
        <p:spPr>
          <a:xfrm>
            <a:off x="8394192" y="1508760"/>
            <a:ext cx="3017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8E2F3"/>
              </a:buClr>
              <a:buSzPts val="1700"/>
              <a:buFont typeface="Calibri"/>
              <a:buNone/>
            </a:pPr>
            <a:r>
              <a:rPr b="1" lang="en-US" sz="1700">
                <a:solidFill>
                  <a:srgbClr val="D8E2F3"/>
                </a:solidFill>
                <a:latin typeface="Calibri"/>
                <a:ea typeface="Calibri"/>
                <a:cs typeface="Calibri"/>
                <a:sym typeface="Calibri"/>
              </a:rPr>
              <a:t>Days 61–90</a:t>
            </a:r>
            <a:endParaRPr sz="1700">
              <a:solidFill>
                <a:srgbClr val="D8E2F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6"/>
          <p:cNvSpPr/>
          <p:nvPr/>
        </p:nvSpPr>
        <p:spPr>
          <a:xfrm>
            <a:off x="8394192" y="1938528"/>
            <a:ext cx="30175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Launch first visible initiatives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6"/>
          <p:cNvSpPr/>
          <p:nvPr/>
        </p:nvSpPr>
        <p:spPr>
          <a:xfrm>
            <a:off x="8394192" y="2743200"/>
            <a:ext cx="30175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E5F2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DCE5F2"/>
                </a:solidFill>
                <a:latin typeface="Calibri"/>
                <a:ea typeface="Calibri"/>
                <a:cs typeface="Calibri"/>
                <a:sym typeface="Calibri"/>
              </a:rPr>
              <a:t>Pilot · venture fund · recruitment mission · supplier initiative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6"/>
          <p:cNvSpPr/>
          <p:nvPr/>
        </p:nvSpPr>
        <p:spPr>
          <a:xfrm>
            <a:off x="640080" y="4260664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2CE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9FB2CE"/>
                </a:solidFill>
                <a:latin typeface="Calibri"/>
                <a:ea typeface="Calibri"/>
                <a:cs typeface="Calibri"/>
                <a:sym typeface="Calibri"/>
              </a:rPr>
              <a:t>First-year targets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6"/>
          <p:cNvSpPr/>
          <p:nvPr/>
        </p:nvSpPr>
        <p:spPr>
          <a:xfrm>
            <a:off x="595884" y="4716901"/>
            <a:ext cx="3502152" cy="1051560"/>
          </a:xfrm>
          <a:prstGeom prst="roundRect">
            <a:avLst>
              <a:gd fmla="val 6087" name="adj"/>
            </a:avLst>
          </a:prstGeom>
          <a:solidFill>
            <a:srgbClr val="1C3B6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6"/>
          <p:cNvSpPr/>
          <p:nvPr/>
        </p:nvSpPr>
        <p:spPr>
          <a:xfrm>
            <a:off x="851916" y="4844917"/>
            <a:ext cx="30175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1" lang="en-US" sz="2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25%+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6"/>
          <p:cNvSpPr/>
          <p:nvPr/>
        </p:nvSpPr>
        <p:spPr>
          <a:xfrm>
            <a:off x="870204" y="5356981"/>
            <a:ext cx="3017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E5F2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DCE5F2"/>
                </a:solidFill>
                <a:latin typeface="Calibri"/>
                <a:ea typeface="Calibri"/>
                <a:cs typeface="Calibri"/>
                <a:sym typeface="Calibri"/>
              </a:rPr>
              <a:t>Increase in travel related expenditure for the region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6"/>
          <p:cNvSpPr/>
          <p:nvPr/>
        </p:nvSpPr>
        <p:spPr>
          <a:xfrm>
            <a:off x="4344924" y="4716901"/>
            <a:ext cx="3502152" cy="1051560"/>
          </a:xfrm>
          <a:prstGeom prst="roundRect">
            <a:avLst>
              <a:gd fmla="val 6087" name="adj"/>
            </a:avLst>
          </a:prstGeom>
          <a:solidFill>
            <a:srgbClr val="1C3B6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6"/>
          <p:cNvSpPr/>
          <p:nvPr/>
        </p:nvSpPr>
        <p:spPr>
          <a:xfrm>
            <a:off x="4600956" y="4844917"/>
            <a:ext cx="30175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1" lang="en-US" sz="2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6"/>
          <p:cNvSpPr/>
          <p:nvPr/>
        </p:nvSpPr>
        <p:spPr>
          <a:xfrm>
            <a:off x="4619244" y="5356981"/>
            <a:ext cx="3017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E5F2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DCE5F2"/>
                </a:solidFill>
                <a:latin typeface="Calibri"/>
                <a:ea typeface="Calibri"/>
                <a:cs typeface="Calibri"/>
                <a:sym typeface="Calibri"/>
              </a:rPr>
              <a:t>Remove all counties in East Tennessee from the distressed county classification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6"/>
          <p:cNvSpPr/>
          <p:nvPr/>
        </p:nvSpPr>
        <p:spPr>
          <a:xfrm>
            <a:off x="8093964" y="4716901"/>
            <a:ext cx="3502152" cy="1051560"/>
          </a:xfrm>
          <a:prstGeom prst="roundRect">
            <a:avLst>
              <a:gd fmla="val 6087" name="adj"/>
            </a:avLst>
          </a:prstGeom>
          <a:solidFill>
            <a:srgbClr val="1C3B6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6"/>
          <p:cNvSpPr/>
          <p:nvPr/>
        </p:nvSpPr>
        <p:spPr>
          <a:xfrm>
            <a:off x="8349996" y="4844917"/>
            <a:ext cx="30175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1" lang="en-US" sz="2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15%+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6"/>
          <p:cNvSpPr/>
          <p:nvPr/>
        </p:nvSpPr>
        <p:spPr>
          <a:xfrm>
            <a:off x="8368284" y="5356981"/>
            <a:ext cx="3017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E5F2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DCE5F2"/>
                </a:solidFill>
                <a:latin typeface="Calibri"/>
                <a:ea typeface="Calibri"/>
                <a:cs typeface="Calibri"/>
                <a:sym typeface="Calibri"/>
              </a:rPr>
              <a:t>Increase number of multiple night stays throughout the region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315E"/>
        </a:solidFill>
      </p:bgPr>
    </p:bg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17"/>
          <p:cNvSpPr/>
          <p:nvPr/>
        </p:nvSpPr>
        <p:spPr>
          <a:xfrm>
            <a:off x="822960" y="749808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b="1" lang="en-US" sz="3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When we succeed — East Tennessee, 2036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7"/>
          <p:cNvSpPr/>
          <p:nvPr/>
        </p:nvSpPr>
        <p:spPr>
          <a:xfrm>
            <a:off x="841248" y="1691640"/>
            <a:ext cx="6492240" cy="3291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DCE5F2"/>
              </a:buClr>
              <a:buSzPts val="1550"/>
              <a:buFont typeface="Calibri"/>
              <a:buChar char="•"/>
            </a:pPr>
            <a:r>
              <a:rPr lang="en-US" sz="1550">
                <a:solidFill>
                  <a:srgbClr val="DCE5F2"/>
                </a:solidFill>
                <a:latin typeface="Calibri"/>
                <a:ea typeface="Calibri"/>
                <a:cs typeface="Calibri"/>
                <a:sym typeface="Calibri"/>
              </a:rPr>
              <a:t>The nation’s new nuclear commercialization capital — build, test &amp; scale here</a:t>
            </a:r>
            <a:endParaRPr sz="15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100"/>
              </a:spcBef>
              <a:spcAft>
                <a:spcPts val="0"/>
              </a:spcAft>
              <a:buClr>
                <a:srgbClr val="DCE5F2"/>
              </a:buClr>
              <a:buSzPts val="1550"/>
              <a:buFont typeface="Calibri"/>
              <a:buChar char="•"/>
            </a:pPr>
            <a:r>
              <a:rPr lang="en-US" sz="1550">
                <a:solidFill>
                  <a:srgbClr val="DCE5F2"/>
                </a:solidFill>
                <a:latin typeface="Calibri"/>
                <a:ea typeface="Calibri"/>
                <a:cs typeface="Calibri"/>
                <a:sym typeface="Calibri"/>
              </a:rPr>
              <a:t>An energy-to-compute flywheel powering AI &amp; quantum on clean, firm nuclear power</a:t>
            </a:r>
            <a:endParaRPr sz="15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100"/>
              </a:spcBef>
              <a:spcAft>
                <a:spcPts val="0"/>
              </a:spcAft>
              <a:buClr>
                <a:srgbClr val="DCE5F2"/>
              </a:buClr>
              <a:buSzPts val="1550"/>
              <a:buFont typeface="Calibri"/>
              <a:buChar char="•"/>
            </a:pPr>
            <a:r>
              <a:rPr lang="en-US" sz="1550">
                <a:solidFill>
                  <a:srgbClr val="DCE5F2"/>
                </a:solidFill>
                <a:latin typeface="Calibri"/>
                <a:ea typeface="Calibri"/>
                <a:cs typeface="Calibri"/>
                <a:sym typeface="Calibri"/>
              </a:rPr>
              <a:t>A visitor economy that brings benefits and keeps talent throughout the 16-county region and beyond</a:t>
            </a:r>
            <a:endParaRPr sz="15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100"/>
              </a:spcBef>
              <a:spcAft>
                <a:spcPts val="0"/>
              </a:spcAft>
              <a:buClr>
                <a:srgbClr val="DCE5F2"/>
              </a:buClr>
              <a:buSzPts val="1550"/>
              <a:buFont typeface="Calibri"/>
              <a:buChar char="•"/>
            </a:pPr>
            <a:r>
              <a:rPr lang="en-US" sz="1550">
                <a:solidFill>
                  <a:srgbClr val="DCE5F2"/>
                </a:solidFill>
                <a:latin typeface="Calibri"/>
                <a:ea typeface="Calibri"/>
                <a:cs typeface="Calibri"/>
                <a:sym typeface="Calibri"/>
              </a:rPr>
              <a:t>High-wage jobs, export industries, and a magnet for people and capital</a:t>
            </a:r>
            <a:endParaRPr sz="15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7"/>
          <p:cNvSpPr/>
          <p:nvPr/>
        </p:nvSpPr>
        <p:spPr>
          <a:xfrm>
            <a:off x="7635240" y="1691640"/>
            <a:ext cx="3913632" cy="4114800"/>
          </a:xfrm>
          <a:prstGeom prst="roundRect">
            <a:avLst>
              <a:gd fmla="val 2336" name="adj"/>
            </a:avLst>
          </a:prstGeom>
          <a:solidFill>
            <a:srgbClr val="1C3B66"/>
          </a:solidFill>
          <a:ln>
            <a:noFill/>
          </a:ln>
          <a:effectLst>
            <a:outerShdw blurRad="152400" rotWithShape="0" algn="bl" dir="5400000" dist="38100">
              <a:srgbClr val="0B1F3A">
                <a:alpha val="2509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7"/>
          <p:cNvSpPr/>
          <p:nvPr/>
        </p:nvSpPr>
        <p:spPr>
          <a:xfrm>
            <a:off x="7863840" y="2743200"/>
            <a:ext cx="347472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Calibri"/>
              <a:buNone/>
            </a:pPr>
            <a:r>
              <a:rPr b="1" lang="en-US" sz="2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Partnerships are built before you need them.</a:t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68" name="Google Shape;268;p17"/>
          <p:cNvGrpSpPr/>
          <p:nvPr/>
        </p:nvGrpSpPr>
        <p:grpSpPr>
          <a:xfrm>
            <a:off x="8918376" y="1828801"/>
            <a:ext cx="1365649" cy="1365649"/>
            <a:chOff x="711636" y="620196"/>
            <a:chExt cx="1365649" cy="1365649"/>
          </a:xfrm>
        </p:grpSpPr>
        <p:sp>
          <p:nvSpPr>
            <p:cNvPr id="269" name="Google Shape;269;p17"/>
            <p:cNvSpPr/>
            <p:nvPr/>
          </p:nvSpPr>
          <p:spPr>
            <a:xfrm rot="4099172">
              <a:off x="868680" y="777240"/>
              <a:ext cx="1051560" cy="1051560"/>
            </a:xfrm>
            <a:prstGeom prst="ellipse">
              <a:avLst/>
            </a:prstGeom>
            <a:solidFill>
              <a:srgbClr val="C8102E"/>
            </a:solidFill>
            <a:ln>
              <a:noFill/>
            </a:ln>
            <a:effectLst>
              <a:outerShdw blurRad="114300" rotWithShape="0" algn="bl" dir="5400000" dist="38100">
                <a:srgbClr val="0B1F3A">
                  <a:alpha val="16078"/>
                </a:srgbClr>
              </a:outerShdw>
            </a:effectLst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70" name="Google Shape;270;p17"/>
            <p:cNvGrpSpPr/>
            <p:nvPr/>
          </p:nvGrpSpPr>
          <p:grpSpPr>
            <a:xfrm rot="5400000">
              <a:off x="1146318" y="1008583"/>
              <a:ext cx="635984" cy="588874"/>
              <a:chOff x="1076468" y="956005"/>
              <a:chExt cx="635984" cy="588874"/>
            </a:xfrm>
          </p:grpSpPr>
          <p:pic>
            <p:nvPicPr>
              <p:cNvPr descr="preencoded.png" id="271" name="Google Shape;271;p17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1252499" y="956005"/>
                <a:ext cx="283921" cy="283921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preencoded.png" id="272" name="Google Shape;272;p17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1076468" y="1260958"/>
                <a:ext cx="283921" cy="283921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preencoded.png" id="273" name="Google Shape;273;p17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1428531" y="1260958"/>
                <a:ext cx="283921" cy="283921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315E"/>
        </a:solidFill>
      </p:bgPr>
    </p:bg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18"/>
          <p:cNvSpPr/>
          <p:nvPr/>
        </p:nvSpPr>
        <p:spPr>
          <a:xfrm>
            <a:off x="868680" y="2651760"/>
            <a:ext cx="100584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600"/>
              <a:buFont typeface="Calibri"/>
              <a:buNone/>
            </a:pPr>
            <a:r>
              <a:rPr b="1" lang="en-US" sz="4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Thank you</a:t>
            </a:r>
            <a:endParaRPr sz="4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8"/>
          <p:cNvSpPr/>
          <p:nvPr/>
        </p:nvSpPr>
        <p:spPr>
          <a:xfrm>
            <a:off x="886968" y="3657600"/>
            <a:ext cx="10058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E5F2"/>
              </a:buClr>
              <a:buSzPts val="2000"/>
              <a:buFont typeface="Calibri"/>
              <a:buNone/>
            </a:pPr>
            <a:r>
              <a:rPr lang="en-US" sz="2000">
                <a:solidFill>
                  <a:srgbClr val="DCE5F2"/>
                </a:solidFill>
                <a:latin typeface="Calibri"/>
                <a:ea typeface="Calibri"/>
                <a:cs typeface="Calibri"/>
                <a:sym typeface="Calibri"/>
              </a:rPr>
              <a:t>East Tennessee — Foundation to Frontier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8"/>
          <p:cNvSpPr/>
          <p:nvPr/>
        </p:nvSpPr>
        <p:spPr>
          <a:xfrm>
            <a:off x="886968" y="6126480"/>
            <a:ext cx="10424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2CE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9FB2CE"/>
                </a:solidFill>
                <a:latin typeface="Calibri"/>
                <a:ea typeface="Calibri"/>
                <a:cs typeface="Calibri"/>
                <a:sym typeface="Calibri"/>
              </a:rPr>
              <a:t>Knoxville–Oak Ridge Region   ·   Questions &amp; discussion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2" name="Google Shape;282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28800" y="0"/>
            <a:ext cx="64632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p18"/>
          <p:cNvSpPr txBox="1"/>
          <p:nvPr/>
        </p:nvSpPr>
        <p:spPr>
          <a:xfrm>
            <a:off x="267418" y="6495691"/>
            <a:ext cx="372661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84" name="Google Shape;284;p18"/>
          <p:cNvGrpSpPr/>
          <p:nvPr/>
        </p:nvGrpSpPr>
        <p:grpSpPr>
          <a:xfrm>
            <a:off x="711636" y="620196"/>
            <a:ext cx="1365649" cy="1365649"/>
            <a:chOff x="711636" y="620196"/>
            <a:chExt cx="1365649" cy="1365649"/>
          </a:xfrm>
        </p:grpSpPr>
        <p:sp>
          <p:nvSpPr>
            <p:cNvPr id="285" name="Google Shape;285;p18"/>
            <p:cNvSpPr/>
            <p:nvPr/>
          </p:nvSpPr>
          <p:spPr>
            <a:xfrm rot="4099172">
              <a:off x="868680" y="777240"/>
              <a:ext cx="1051560" cy="1051560"/>
            </a:xfrm>
            <a:prstGeom prst="ellipse">
              <a:avLst/>
            </a:prstGeom>
            <a:solidFill>
              <a:srgbClr val="C8102E"/>
            </a:solidFill>
            <a:ln>
              <a:noFill/>
            </a:ln>
            <a:effectLst>
              <a:outerShdw blurRad="114300" rotWithShape="0" algn="bl" dir="5400000" dist="38100">
                <a:srgbClr val="0B1F3A">
                  <a:alpha val="16078"/>
                </a:srgbClr>
              </a:outerShdw>
            </a:effectLst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86" name="Google Shape;286;p18"/>
            <p:cNvGrpSpPr/>
            <p:nvPr/>
          </p:nvGrpSpPr>
          <p:grpSpPr>
            <a:xfrm rot="5400000">
              <a:off x="1146318" y="1008583"/>
              <a:ext cx="635984" cy="588874"/>
              <a:chOff x="1076468" y="956005"/>
              <a:chExt cx="635984" cy="588874"/>
            </a:xfrm>
          </p:grpSpPr>
          <p:pic>
            <p:nvPicPr>
              <p:cNvPr descr="preencoded.png" id="287" name="Google Shape;287;p18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1252499" y="956005"/>
                <a:ext cx="283921" cy="283921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preencoded.png" id="288" name="Google Shape;288;p18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1076468" y="1260958"/>
                <a:ext cx="283921" cy="283921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preencoded.png" id="289" name="Google Shape;289;p18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1428531" y="1260958"/>
                <a:ext cx="283921" cy="283921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pic>
        <p:nvPicPr>
          <p:cNvPr id="290" name="Google Shape;290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rot="-353595">
            <a:off x="6428163" y="965015"/>
            <a:ext cx="715392" cy="536544"/>
          </a:xfrm>
          <a:prstGeom prst="rect">
            <a:avLst/>
          </a:prstGeom>
          <a:noFill/>
          <a:ln cap="flat" cmpd="sng" w="76200">
            <a:solidFill>
              <a:srgbClr val="3A3838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2026-06-25T14:35:26Z</dcterms:created>
  <dc:creator>Regional Strategy</dc:creator>
</cp:coreProperties>
</file>